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70" r:id="rId10"/>
    <p:sldId id="271" r:id="rId11"/>
    <p:sldId id="273" r:id="rId12"/>
    <p:sldId id="263" r:id="rId13"/>
    <p:sldId id="264" r:id="rId14"/>
    <p:sldId id="265" r:id="rId15"/>
    <p:sldId id="266" r:id="rId16"/>
    <p:sldId id="267" r:id="rId17"/>
    <p:sldId id="268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2315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80427-E0A8-432F-80B8-7C8C952FEDAF}" v="73" dt="2026-09-21T17:29:03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856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73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6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26" Type="http://schemas.openxmlformats.org/officeDocument/2006/relationships/image" Target="../media/image130.png"/><Relationship Id="rId39" Type="http://schemas.openxmlformats.org/officeDocument/2006/relationships/image" Target="../media/image143.png"/><Relationship Id="rId21" Type="http://schemas.openxmlformats.org/officeDocument/2006/relationships/image" Target="../media/image125.png"/><Relationship Id="rId34" Type="http://schemas.openxmlformats.org/officeDocument/2006/relationships/image" Target="../media/image138.png"/><Relationship Id="rId42" Type="http://schemas.openxmlformats.org/officeDocument/2006/relationships/image" Target="../media/image146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29" Type="http://schemas.openxmlformats.org/officeDocument/2006/relationships/image" Target="../media/image133.png"/><Relationship Id="rId41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24" Type="http://schemas.openxmlformats.org/officeDocument/2006/relationships/image" Target="../media/image128.png"/><Relationship Id="rId32" Type="http://schemas.openxmlformats.org/officeDocument/2006/relationships/image" Target="../media/image136.png"/><Relationship Id="rId37" Type="http://schemas.openxmlformats.org/officeDocument/2006/relationships/image" Target="../media/image141.png"/><Relationship Id="rId40" Type="http://schemas.openxmlformats.org/officeDocument/2006/relationships/image" Target="../media/image144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23" Type="http://schemas.openxmlformats.org/officeDocument/2006/relationships/image" Target="../media/image127.png"/><Relationship Id="rId28" Type="http://schemas.openxmlformats.org/officeDocument/2006/relationships/image" Target="../media/image132.png"/><Relationship Id="rId36" Type="http://schemas.openxmlformats.org/officeDocument/2006/relationships/image" Target="../media/image140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31" Type="http://schemas.openxmlformats.org/officeDocument/2006/relationships/image" Target="../media/image135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26.png"/><Relationship Id="rId27" Type="http://schemas.openxmlformats.org/officeDocument/2006/relationships/image" Target="../media/image131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5" Type="http://schemas.openxmlformats.org/officeDocument/2006/relationships/image" Target="../media/image129.png"/><Relationship Id="rId33" Type="http://schemas.openxmlformats.org/officeDocument/2006/relationships/image" Target="../media/image137.png"/><Relationship Id="rId38" Type="http://schemas.openxmlformats.org/officeDocument/2006/relationships/image" Target="../media/image1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18" Type="http://schemas.openxmlformats.org/officeDocument/2006/relationships/image" Target="../media/image16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0.png"/><Relationship Id="rId20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19" Type="http://schemas.openxmlformats.org/officeDocument/2006/relationships/image" Target="../media/image163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18" Type="http://schemas.openxmlformats.org/officeDocument/2006/relationships/image" Target="../media/image180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17" Type="http://schemas.openxmlformats.org/officeDocument/2006/relationships/image" Target="../media/image17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8.png"/><Relationship Id="rId20" Type="http://schemas.openxmlformats.org/officeDocument/2006/relationships/image" Target="../media/image1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19" Type="http://schemas.openxmlformats.org/officeDocument/2006/relationships/image" Target="../media/image181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18" Type="http://schemas.openxmlformats.org/officeDocument/2006/relationships/image" Target="../media/image198.png"/><Relationship Id="rId3" Type="http://schemas.openxmlformats.org/officeDocument/2006/relationships/image" Target="../media/image183.png"/><Relationship Id="rId21" Type="http://schemas.openxmlformats.org/officeDocument/2006/relationships/image" Target="../media/image201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17" Type="http://schemas.openxmlformats.org/officeDocument/2006/relationships/image" Target="../media/image19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96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185.png"/><Relationship Id="rId15" Type="http://schemas.openxmlformats.org/officeDocument/2006/relationships/image" Target="../media/image195.png"/><Relationship Id="rId10" Type="http://schemas.openxmlformats.org/officeDocument/2006/relationships/image" Target="../media/image190.png"/><Relationship Id="rId19" Type="http://schemas.openxmlformats.org/officeDocument/2006/relationships/image" Target="../media/image199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Relationship Id="rId22" Type="http://schemas.openxmlformats.org/officeDocument/2006/relationships/image" Target="../media/image20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6.png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0" Type="http://schemas.openxmlformats.org/officeDocument/2006/relationships/image" Target="../media/image210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1775" cy="6858000"/>
          </a:xfrm>
          <a:prstGeom prst="rect">
            <a:avLst/>
          </a:prstGeom>
          <a:solidFill>
            <a:srgbClr val="3D1E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 txBox="1"/>
          <p:nvPr/>
        </p:nvSpPr>
        <p:spPr>
          <a:xfrm>
            <a:off x="0" y="0"/>
            <a:ext cx="6583566" cy="6858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581775" y="18472"/>
            <a:ext cx="5610225" cy="6858000"/>
          </a:xfrm>
          <a:prstGeom prst="rect">
            <a:avLst/>
          </a:prstGeom>
          <a:solidFill>
            <a:srgbClr val="FFF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10896452" y="457200"/>
            <a:ext cx="838200" cy="838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116961" y="1296442"/>
            <a:ext cx="454149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135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• #MRUCHACIRCLE • SKINCARE-INFUSED MAKEUP</a:t>
            </a:r>
            <a:endParaRPr lang="en-US" sz="825" dirty="0"/>
          </a:p>
        </p:txBody>
      </p:sp>
      <p:sp>
        <p:nvSpPr>
          <p:cNvPr id="8" name="Text 5"/>
          <p:cNvSpPr txBox="1"/>
          <p:nvPr/>
        </p:nvSpPr>
        <p:spPr>
          <a:xfrm>
            <a:off x="7116961" y="1615529"/>
            <a:ext cx="4541490" cy="13028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5700" b="1" kern="0" spc="-114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</a:t>
            </a:r>
            <a:endParaRPr lang="en-US" sz="5700" dirty="0"/>
          </a:p>
          <a:p>
            <a:pPr marL="0" indent="0" algn="l">
              <a:lnSpc>
                <a:spcPts val="5700"/>
              </a:lnSpc>
              <a:spcAft>
                <a:spcPts val="900"/>
              </a:spcAft>
              <a:buNone/>
            </a:pPr>
            <a:r>
              <a:rPr lang="en-US" sz="5700" b="1" kern="0" spc="-114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</a:t>
            </a:r>
            <a:endParaRPr lang="en-US" sz="5700" dirty="0"/>
          </a:p>
        </p:txBody>
      </p:sp>
      <p:sp>
        <p:nvSpPr>
          <p:cNvPr id="9" name="Text 6"/>
          <p:cNvSpPr txBox="1"/>
          <p:nvPr/>
        </p:nvSpPr>
        <p:spPr>
          <a:xfrm>
            <a:off x="7116961" y="3051721"/>
            <a:ext cx="4541490" cy="4381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cruelty-free D2C for diverse Indian skin tones</a:t>
            </a:r>
            <a:endParaRPr lang="en-US" sz="1200" dirty="0"/>
          </a:p>
          <a:p>
            <a:pPr marL="0" indent="0" algn="l">
              <a:lnSpc>
                <a:spcPts val="1800"/>
              </a:lnSpc>
              <a:spcAft>
                <a:spcPts val="2100"/>
              </a:spcAft>
              <a:buNone/>
            </a:pPr>
            <a:r>
              <a:rPr lang="en-US" sz="12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Shade, Your Story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15175" y="3752850"/>
            <a:ext cx="457200" cy="28575"/>
          </a:xfrm>
          <a:prstGeom prst="roundRect">
            <a:avLst>
              <a:gd name="adj" fmla="val 66667"/>
            </a:avLst>
          </a:prstGeom>
          <a:solidFill>
            <a:srgbClr val="D18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116961" y="4061371"/>
            <a:ext cx="21754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kern="0" spc="10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7116961" y="4242346"/>
            <a:ext cx="2175421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Raheen Pathan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482882" y="4061371"/>
            <a:ext cx="21755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kern="0" spc="10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9482882" y="4242346"/>
            <a:ext cx="217557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 2026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116961" y="4585246"/>
            <a:ext cx="21754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kern="0" spc="10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7116961" y="4766221"/>
            <a:ext cx="2175421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20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Mr. Sanchit Khandelwal</a:t>
            </a:r>
            <a:endParaRPr lang="en-US" sz="1200" b="1" dirty="0"/>
          </a:p>
        </p:txBody>
      </p:sp>
      <p:sp>
        <p:nvSpPr>
          <p:cNvPr id="17" name="Text 14"/>
          <p:cNvSpPr txBox="1"/>
          <p:nvPr/>
        </p:nvSpPr>
        <p:spPr>
          <a:xfrm>
            <a:off x="9482882" y="4585246"/>
            <a:ext cx="21755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kern="0" spc="10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9482882" y="4766221"/>
            <a:ext cx="217557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mrucha.com</a:t>
            </a:r>
            <a:endParaRPr lang="en-US" sz="10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961" y="5194846"/>
            <a:ext cx="4541490" cy="37623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500342" y="5299621"/>
            <a:ext cx="4005709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1950"/>
              </a:spcBef>
              <a:buNone/>
            </a:pPr>
            <a:r>
              <a:rPr lang="en-US" sz="975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https://mrucha.com</a:t>
            </a:r>
            <a:endParaRPr lang="en-US" sz="975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361" y="5321052"/>
            <a:ext cx="154781" cy="1238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6D5EF03-B4F0-36A1-1F34-8B847CEBD5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462" y="1295400"/>
            <a:ext cx="5137604" cy="41494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328014-4F28-E09E-975C-ADA7B8A5A1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1524" y="1282"/>
            <a:ext cx="12191980" cy="685671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1FBC190-E048-F803-C85E-DA9F9E6403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4400" y="2794958"/>
            <a:ext cx="2434682" cy="15185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45F627-D174-0DA0-FD11-B93B57623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600" y="103517"/>
            <a:ext cx="2413600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445392-938E-D2DF-EEFC-44922E9C9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5782" y="1"/>
            <a:ext cx="1535502" cy="20789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D5CE2E-4E40-FB2C-C935-D5D75C649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8922" y="1802922"/>
            <a:ext cx="4321834" cy="345056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B2EEB4-91DB-DCDB-8FCA-283A9E090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200" y="2197966"/>
            <a:ext cx="3190875" cy="2037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474D15-B735-256C-1358-F8F7C5481D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5" y="1651959"/>
            <a:ext cx="1832576" cy="17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76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876300"/>
            <a:ext cx="61341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90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138238"/>
            <a:ext cx="6134100" cy="9325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72"/>
              </a:lnSpc>
              <a:spcAft>
                <a:spcPts val="1500"/>
              </a:spcAft>
              <a:buNone/>
            </a:pPr>
            <a:r>
              <a:rPr lang="en-US" sz="3600" b="1" kern="0" spc="-72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 Case Study About?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2280345"/>
            <a:ext cx="6134100" cy="4533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spcAft>
                <a:spcPts val="1050"/>
              </a:spcAft>
              <a:buNone/>
            </a:pPr>
            <a:r>
              <a:rPr lang="en-US" sz="11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 case study </a:t>
            </a:r>
            <a:r>
              <a:rPr lang="en-US" sz="1163" b="1" dirty="0">
                <a:solidFill>
                  <a:srgbClr val="4A2315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Beauty</a:t>
            </a:r>
            <a:r>
              <a:rPr lang="en-US" sz="11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 baare mein hai — ek naya Indian makeup brand jo famous creator </a:t>
            </a:r>
            <a:r>
              <a:rPr lang="en-US" sz="1163" b="1" dirty="0">
                <a:solidFill>
                  <a:srgbClr val="4A2315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Panchal (Mrunu)</a:t>
            </a:r>
            <a:r>
              <a:rPr lang="en-US" sz="11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 launch kiya hai.</a:t>
            </a:r>
            <a:endParaRPr lang="en-US" sz="1163" dirty="0"/>
          </a:p>
        </p:txBody>
      </p:sp>
      <p:sp>
        <p:nvSpPr>
          <p:cNvPr id="5" name="Text 3"/>
          <p:cNvSpPr txBox="1"/>
          <p:nvPr/>
        </p:nvSpPr>
        <p:spPr>
          <a:xfrm>
            <a:off x="533400" y="2886075"/>
            <a:ext cx="6134100" cy="4533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spcAft>
                <a:spcPts val="1050"/>
              </a:spcAft>
              <a:buNone/>
            </a:pPr>
            <a:r>
              <a:rPr lang="en-US" sz="11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Creator-led D2C brand kaise 5 mahine me ₹2 Cr sell karta hai — uski community strategy, gaps aur growth playbook.</a:t>
            </a:r>
            <a:endParaRPr lang="en-US" sz="1163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3243"/>
            <a:ext cx="5753100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900" b="1" dirty="0">
                <a:solidFill>
                  <a:srgbClr val="FFFBF7"/>
                </a:solidFill>
                <a:highlight>
                  <a:srgbClr val="4A231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1050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kya hai + kaise shuru hua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68331"/>
            <a:ext cx="5753100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900" b="1" dirty="0">
                <a:solidFill>
                  <a:srgbClr val="FFFBF7"/>
                </a:solidFill>
                <a:highlight>
                  <a:srgbClr val="4A231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sz="1050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Problem &amp; Gaps kya hai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87143"/>
            <a:ext cx="5753100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900" b="1" dirty="0">
                <a:solidFill>
                  <a:srgbClr val="FFFBF7"/>
                </a:solidFill>
                <a:highlight>
                  <a:srgbClr val="4A231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sz="1050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Customer, Competitors kaun hain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49093"/>
            <a:ext cx="5753100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900" b="1" dirty="0">
                <a:solidFill>
                  <a:srgbClr val="FFFBF7"/>
                </a:solidFill>
                <a:highlight>
                  <a:srgbClr val="4A231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1050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 marketing + Learning</a:t>
            </a: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23875"/>
            <a:ext cx="5067300" cy="23050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62825" y="108585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550" y="1171575"/>
            <a:ext cx="171450" cy="17145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9906" y="1140619"/>
            <a:ext cx="740569" cy="2333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75156" y="1188244"/>
            <a:ext cx="55006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825" dirty="0"/>
          </a:p>
        </p:txBody>
      </p:sp>
      <p:sp>
        <p:nvSpPr>
          <p:cNvPr id="15" name="Text 10"/>
          <p:cNvSpPr txBox="1"/>
          <p:nvPr/>
        </p:nvSpPr>
        <p:spPr>
          <a:xfrm>
            <a:off x="7362825" y="1543050"/>
            <a:ext cx="4057650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 Cr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7362825" y="1895475"/>
            <a:ext cx="40576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kern="0" spc="66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IN 5 MONTHS</a:t>
            </a:r>
            <a:endParaRPr lang="en-US" sz="825" dirty="0"/>
          </a:p>
        </p:txBody>
      </p:sp>
      <p:sp>
        <p:nvSpPr>
          <p:cNvPr id="17" name="Text 12"/>
          <p:cNvSpPr txBox="1"/>
          <p:nvPr/>
        </p:nvSpPr>
        <p:spPr>
          <a:xfrm>
            <a:off x="7362825" y="2109788"/>
            <a:ext cx="40576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 2024 launch se Feb 2025 tak organic growth</a:t>
            </a:r>
            <a:endParaRPr lang="en-US" sz="938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276475"/>
            <a:ext cx="5067300" cy="230505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362825" y="283845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9266" y="2924175"/>
            <a:ext cx="150019" cy="171450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7876" y="2893219"/>
            <a:ext cx="552599" cy="23336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63126" y="2940844"/>
            <a:ext cx="36209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7362825" y="3295650"/>
            <a:ext cx="4057650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2400" dirty="0"/>
          </a:p>
        </p:txBody>
      </p:sp>
      <p:sp>
        <p:nvSpPr>
          <p:cNvPr id="24" name="Text 16"/>
          <p:cNvSpPr txBox="1"/>
          <p:nvPr/>
        </p:nvSpPr>
        <p:spPr>
          <a:xfrm>
            <a:off x="7362825" y="3648075"/>
            <a:ext cx="40576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kern="0" spc="66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FOLLOWERS • @MRUNU</a:t>
            </a:r>
            <a:endParaRPr lang="en-US" sz="825" dirty="0"/>
          </a:p>
        </p:txBody>
      </p:sp>
      <p:sp>
        <p:nvSpPr>
          <p:cNvPr id="25" name="Text 17"/>
          <p:cNvSpPr txBox="1"/>
          <p:nvPr/>
        </p:nvSpPr>
        <p:spPr>
          <a:xfrm>
            <a:off x="7362825" y="3862387"/>
            <a:ext cx="40576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focus group &amp; distribution channel</a:t>
            </a:r>
            <a:endParaRPr lang="en-US" sz="938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029075"/>
            <a:ext cx="5067300" cy="230505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362825" y="459105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8550" y="4676775"/>
            <a:ext cx="171450" cy="171450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2151" y="4645819"/>
            <a:ext cx="638324" cy="233362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10877401" y="4693444"/>
            <a:ext cx="44782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825" dirty="0"/>
          </a:p>
        </p:txBody>
      </p:sp>
      <p:sp>
        <p:nvSpPr>
          <p:cNvPr id="31" name="Text 20"/>
          <p:cNvSpPr txBox="1"/>
          <p:nvPr/>
        </p:nvSpPr>
        <p:spPr>
          <a:xfrm>
            <a:off x="7362825" y="5048250"/>
            <a:ext cx="4057650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 2024</a:t>
            </a:r>
            <a:endParaRPr lang="en-US" sz="2400" dirty="0"/>
          </a:p>
        </p:txBody>
      </p:sp>
      <p:sp>
        <p:nvSpPr>
          <p:cNvPr id="32" name="Text 21"/>
          <p:cNvSpPr txBox="1"/>
          <p:nvPr/>
        </p:nvSpPr>
        <p:spPr>
          <a:xfrm>
            <a:off x="7362825" y="5400675"/>
            <a:ext cx="40576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kern="0" spc="66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OFFICIALLY LAUNCHED • JAN 2024 INC.</a:t>
            </a:r>
            <a:endParaRPr lang="en-US" sz="825" dirty="0"/>
          </a:p>
        </p:txBody>
      </p:sp>
      <p:sp>
        <p:nvSpPr>
          <p:cNvPr id="33" name="Text 22"/>
          <p:cNvSpPr txBox="1"/>
          <p:nvPr/>
        </p:nvSpPr>
        <p:spPr>
          <a:xfrm>
            <a:off x="7362825" y="5614988"/>
            <a:ext cx="40576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D2C via mrucha.com • Clean &amp; cruelty-free</a:t>
            </a:r>
            <a:endParaRPr lang="en-US" sz="9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449735"/>
            <a:ext cx="769173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STORY — SIMPLE WORDS MEIN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673572"/>
            <a:ext cx="7691735" cy="4199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 + Makeup, Indian Skin Ke Liye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9967466" y="1773585"/>
            <a:ext cx="1691134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 + Cha = Mrucha</a:t>
            </a:r>
            <a:endParaRPr lang="en-US" sz="900" dirty="0"/>
          </a:p>
          <a:p>
            <a:pPr marL="0" indent="0" algn="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231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Panchal 26yr • 5.5M IG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998315"/>
            <a:ext cx="6505575" cy="37623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575" y="260032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981075" y="27908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304925" y="2617440"/>
            <a:ext cx="4943475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Beauty kya hai?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304925" y="2846040"/>
            <a:ext cx="49434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Makeup jo skincare ingredients ke saath — lipstick sirf color nahi, nourish bhi karta hai. Peptides, Hyaluronic, Shea &amp; Kokum Butter.</a:t>
            </a:r>
            <a:endParaRPr lang="en-US" sz="97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925" y="3303240"/>
            <a:ext cx="672108" cy="29051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9225" y="3379440"/>
            <a:ext cx="44350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Peptides</a:t>
            </a:r>
            <a:endParaRPr lang="en-US" sz="825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233" y="3303240"/>
            <a:ext cx="775841" cy="29051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167533" y="3379440"/>
            <a:ext cx="54724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Hyaluronic</a:t>
            </a:r>
            <a:endParaRPr lang="en-US" sz="825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5274" y="3303240"/>
            <a:ext cx="819448" cy="29051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019574" y="3379440"/>
            <a:ext cx="59084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Shea Butter</a:t>
            </a:r>
            <a:endParaRPr lang="en-US" sz="825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0921" y="3303240"/>
            <a:ext cx="580132" cy="29051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915221" y="3379440"/>
            <a:ext cx="35153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Kokum</a:t>
            </a:r>
            <a:endParaRPr lang="en-US" sz="825" dirty="0"/>
          </a:p>
        </p:txBody>
      </p:sp>
      <p:sp>
        <p:nvSpPr>
          <p:cNvPr id="18" name="Shape 11"/>
          <p:cNvSpPr/>
          <p:nvPr/>
        </p:nvSpPr>
        <p:spPr>
          <a:xfrm>
            <a:off x="790575" y="376237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879503"/>
            <a:ext cx="133350" cy="152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304925" y="3784253"/>
            <a:ext cx="4943475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Kab launch hua?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1304925" y="4012853"/>
            <a:ext cx="49434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Jan 2024 registered • Products Nov 2024 launched — 5 mahine me ₹2Cr sales, Hurun ranking.</a:t>
            </a:r>
            <a:endParaRPr lang="en-US" sz="975" dirty="0"/>
          </a:p>
        </p:txBody>
      </p:sp>
      <p:sp>
        <p:nvSpPr>
          <p:cNvPr id="22" name="Shape 14"/>
          <p:cNvSpPr/>
          <p:nvPr/>
        </p:nvSpPr>
        <p:spPr>
          <a:xfrm>
            <a:off x="790575" y="454342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825" y="4660553"/>
            <a:ext cx="190500" cy="1524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304925" y="4565303"/>
            <a:ext cx="4943475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Kaun banaya?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1304925" y="4793903"/>
            <a:ext cx="49434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Panchal (Mrunu)</a:t>
            </a: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26yr creator, 5.5M IG, Hurun Top Founder 2025 + </a:t>
            </a:r>
            <a:r>
              <a:rPr lang="en-US" sz="975" b="1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Anirudh Sharma</a:t>
            </a: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Co-founder.</a:t>
            </a:r>
            <a:endParaRPr lang="en-US" sz="975" dirty="0"/>
          </a:p>
        </p:txBody>
      </p:sp>
      <p:sp>
        <p:nvSpPr>
          <p:cNvPr id="26" name="Shape 17"/>
          <p:cNvSpPr/>
          <p:nvPr/>
        </p:nvSpPr>
        <p:spPr>
          <a:xfrm>
            <a:off x="6772275" y="2343150"/>
            <a:ext cx="4886325" cy="2124075"/>
          </a:xfrm>
          <a:prstGeom prst="roundRect">
            <a:avLst>
              <a:gd name="adj" fmla="val 9865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8"/>
          <p:cNvSpPr txBox="1"/>
          <p:nvPr/>
        </p:nvSpPr>
        <p:spPr>
          <a:xfrm>
            <a:off x="7019925" y="2598390"/>
            <a:ext cx="439102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Kya Special Hai (USP)?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7305675" y="2953196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Indian skin tones ke liye banaya</a:t>
            </a:r>
            <a:endParaRPr lang="en-US" sz="975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9925" y="2941290"/>
            <a:ext cx="190500" cy="1905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305675" y="3229421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Skincare + Makeup ek saath</a:t>
            </a:r>
            <a:endParaRPr lang="en-US" sz="975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9925" y="3217515"/>
            <a:ext cx="190500" cy="1905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305675" y="3505646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Cruelty-free, Clean beauty</a:t>
            </a:r>
            <a:endParaRPr lang="en-US" sz="975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9925" y="3493740"/>
            <a:ext cx="190500" cy="1905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305675" y="3781871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Price ₹389-₹1,649 Affordable Luxury</a:t>
            </a:r>
            <a:endParaRPr lang="en-US" sz="975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9925" y="3769965"/>
            <a:ext cx="190500" cy="1905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7305675" y="4058096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Creator-led authenticity</a:t>
            </a:r>
            <a:endParaRPr lang="en-US" sz="975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9925" y="4046190"/>
            <a:ext cx="190500" cy="190500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2275" y="4598640"/>
            <a:ext cx="4886325" cy="819150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6972300" y="4817715"/>
            <a:ext cx="726877" cy="419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₹2Cr</a:t>
            </a:r>
            <a:endParaRPr lang="en-US" sz="2400" dirty="0"/>
          </a:p>
        </p:txBody>
      </p:sp>
      <p:sp>
        <p:nvSpPr>
          <p:cNvPr id="40" name="Text 25"/>
          <p:cNvSpPr txBox="1"/>
          <p:nvPr/>
        </p:nvSpPr>
        <p:spPr>
          <a:xfrm>
            <a:off x="7832527" y="4851053"/>
            <a:ext cx="2248793" cy="3238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mahine me sales</a:t>
            </a:r>
            <a:endParaRPr lang="en-US" sz="938" dirty="0"/>
          </a:p>
          <a:p>
            <a:pPr marL="0" indent="0" algn="l">
              <a:lnSpc>
                <a:spcPts val="1313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PMF proof • Loyal Mrucha Circle</a:t>
            </a:r>
            <a:endParaRPr lang="en-US" sz="93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286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AUDIT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52463"/>
            <a:ext cx="11125200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spcAft>
                <a:spcPts val="1650"/>
              </a:spcAft>
              <a:buNone/>
            </a:pPr>
            <a:r>
              <a:rPr lang="en-US" sz="33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Kya Hai? 4 Key Gaps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33400" y="1304925"/>
            <a:ext cx="5486400" cy="2495550"/>
          </a:xfrm>
          <a:prstGeom prst="roundRect">
            <a:avLst>
              <a:gd name="adj" fmla="val 7634"/>
            </a:avLst>
          </a:prstGeom>
          <a:solidFill>
            <a:srgbClr val="4A2315"/>
          </a:solidFill>
          <a:ln/>
          <a:effectLst>
            <a:outerShdw blurRad="228600" dist="76200" dir="5400000" algn="bl" rotWithShape="0">
              <a:srgbClr val="4A2315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56742"/>
            <a:ext cx="926306" cy="2524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250" y="1613892"/>
            <a:ext cx="73580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01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5448300" y="151447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242" y="1611511"/>
            <a:ext cx="125016" cy="1428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2000" y="1968698"/>
            <a:ext cx="502920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Dependency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762000" y="2248644"/>
            <a:ext cx="50292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>
                    <a:alpha val="6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Sirf Mrunal ke naam pe chal raha hai. Content = product marketing, single point of failure. Brand ko apni alag pehchaan banana hogi.</a:t>
            </a:r>
            <a:endParaRPr lang="en-US" sz="97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997148"/>
            <a:ext cx="5943600" cy="3101876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566267"/>
            <a:ext cx="946845" cy="252413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05575" y="1623417"/>
            <a:ext cx="75634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66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02</a:t>
            </a:r>
            <a:endParaRPr lang="en-US" sz="825" dirty="0"/>
          </a:p>
        </p:txBody>
      </p:sp>
      <p:sp>
        <p:nvSpPr>
          <p:cNvPr id="14" name="Shape 8"/>
          <p:cNvSpPr/>
          <p:nvPr/>
        </p:nvSpPr>
        <p:spPr>
          <a:xfrm>
            <a:off x="11077575" y="1524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9"/>
          <p:cNvSpPr txBox="1"/>
          <p:nvPr/>
        </p:nvSpPr>
        <p:spPr>
          <a:xfrm>
            <a:off x="11249025" y="16954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 txBox="1"/>
          <p:nvPr/>
        </p:nvSpPr>
        <p:spPr>
          <a:xfrm>
            <a:off x="6410325" y="1978223"/>
            <a:ext cx="501015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Funding vs Giants</a:t>
            </a:r>
            <a:endParaRPr lang="en-US" sz="1275" dirty="0"/>
          </a:p>
        </p:txBody>
      </p:sp>
      <p:sp>
        <p:nvSpPr>
          <p:cNvPr id="17" name="Text 11"/>
          <p:cNvSpPr txBox="1"/>
          <p:nvPr/>
        </p:nvSpPr>
        <p:spPr>
          <a:xfrm>
            <a:off x="6410325" y="2258169"/>
            <a:ext cx="501015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Mamaearth $89M, Pilgrim $50M, MCaffeine $50M — Mrucha unfunded. 4,325 competitors me lean organic growth hi raasta.</a:t>
            </a:r>
            <a:endParaRPr lang="en-US" sz="975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641824"/>
            <a:ext cx="5943600" cy="3101876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210943"/>
            <a:ext cx="948928" cy="25241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66775" y="4268093"/>
            <a:ext cx="75842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66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03</a:t>
            </a:r>
            <a:endParaRPr lang="en-US" sz="825" dirty="0"/>
          </a:p>
        </p:txBody>
      </p:sp>
      <p:sp>
        <p:nvSpPr>
          <p:cNvPr id="21" name="Shape 13"/>
          <p:cNvSpPr/>
          <p:nvPr/>
        </p:nvSpPr>
        <p:spPr>
          <a:xfrm>
            <a:off x="5438775" y="416242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9E8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9858" y="4265712"/>
            <a:ext cx="160734" cy="14287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71525" y="4622899"/>
            <a:ext cx="501015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Reviews</a:t>
            </a:r>
            <a:endParaRPr lang="en-US" sz="1275" dirty="0"/>
          </a:p>
        </p:txBody>
      </p:sp>
      <p:sp>
        <p:nvSpPr>
          <p:cNvPr id="24" name="Text 15"/>
          <p:cNvSpPr txBox="1"/>
          <p:nvPr/>
        </p:nvSpPr>
        <p:spPr>
          <a:xfrm>
            <a:off x="771525" y="4902845"/>
            <a:ext cx="501015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/ IG pe mixed — “Toastie &amp; Whimsical didn't work”. Shade issues ko publicly handle karna zaroori, perception critical.</a:t>
            </a:r>
            <a:endParaRPr lang="en-US" sz="975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3641824"/>
            <a:ext cx="5943600" cy="3101876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4210943"/>
            <a:ext cx="952202" cy="252413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505575" y="4268093"/>
            <a:ext cx="76170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66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04</a:t>
            </a:r>
            <a:endParaRPr lang="en-US" sz="825" dirty="0"/>
          </a:p>
        </p:txBody>
      </p:sp>
      <p:sp>
        <p:nvSpPr>
          <p:cNvPr id="28" name="Shape 17"/>
          <p:cNvSpPr/>
          <p:nvPr/>
        </p:nvSpPr>
        <p:spPr>
          <a:xfrm>
            <a:off x="11077575" y="416242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59728" y="4265712"/>
            <a:ext cx="178594" cy="14287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410325" y="4622899"/>
            <a:ext cx="501015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Online — No Omnichannel</a:t>
            </a:r>
            <a:endParaRPr lang="en-US" sz="1275" dirty="0"/>
          </a:p>
        </p:txBody>
      </p:sp>
      <p:sp>
        <p:nvSpPr>
          <p:cNvPr id="31" name="Text 19"/>
          <p:cNvSpPr txBox="1"/>
          <p:nvPr/>
        </p:nvSpPr>
        <p:spPr>
          <a:xfrm>
            <a:off x="6410325" y="4902845"/>
            <a:ext cx="501015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D2C only via own site. No offline, no Amazon/Flipkart. Discovery limited, non-digital-native tak reach mushkil.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366391"/>
            <a:ext cx="405050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AUDIENCE + BUYER PERSONA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590229"/>
            <a:ext cx="4050506" cy="4199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Kaun Hai?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8193584" y="1848296"/>
            <a:ext cx="346501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core 18-30 • Tier 1 &amp; 2 • Aspirational but value-conscious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914971"/>
            <a:ext cx="5614988" cy="389096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438846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04441" y="2605534"/>
            <a:ext cx="452884" cy="519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2250" dirty="0"/>
          </a:p>
        </p:txBody>
      </p:sp>
      <p:sp>
        <p:nvSpPr>
          <p:cNvPr id="8" name="Text 4"/>
          <p:cNvSpPr txBox="1"/>
          <p:nvPr/>
        </p:nvSpPr>
        <p:spPr>
          <a:xfrm>
            <a:off x="1609725" y="2467421"/>
            <a:ext cx="3843338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Aanya, 23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609725" y="2762696"/>
            <a:ext cx="384333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225"/>
              </a:spcBef>
              <a:buNone/>
            </a:pPr>
            <a:r>
              <a:rPr lang="en-US" sz="90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Bangalore • Junior Graphic Designer • ₹35k/mo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725" y="3067496"/>
            <a:ext cx="209550" cy="20955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914525" y="3067496"/>
            <a:ext cx="353853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75"/>
              </a:spcAft>
              <a:buNone/>
            </a:pPr>
            <a:r>
              <a:rPr lang="en-US" sz="750" b="1" kern="0" spc="6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914525" y="3219896"/>
            <a:ext cx="35385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 beauty creators follow, YouTube reviews, Reddit honest opinion dhundhti hai</a:t>
            </a:r>
            <a:endParaRPr lang="en-US" sz="938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9725" y="3708053"/>
            <a:ext cx="3843338" cy="707231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3550" y="3822353"/>
            <a:ext cx="209550" cy="20955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2038350" y="3822353"/>
            <a:ext cx="329088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75"/>
              </a:spcAft>
              <a:buNone/>
            </a:pPr>
            <a:r>
              <a:rPr lang="en-US" sz="750" b="1" kern="0" spc="60" dirty="0">
                <a:solidFill>
                  <a:srgbClr val="D06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</a:t>
            </a:r>
            <a:endParaRPr lang="en-US" sz="750" dirty="0"/>
          </a:p>
        </p:txBody>
      </p:sp>
      <p:sp>
        <p:nvSpPr>
          <p:cNvPr id="16" name="Text 9"/>
          <p:cNvSpPr txBox="1"/>
          <p:nvPr/>
        </p:nvSpPr>
        <p:spPr>
          <a:xfrm>
            <a:off x="2038350" y="3974753"/>
            <a:ext cx="329088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Trendy Western makeup chahiye par ₹2,000 afford nahi. Indian skin ke liye shade sahi nahi milta.</a:t>
            </a:r>
            <a:endParaRPr lang="en-US" sz="938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9725" y="4520059"/>
            <a:ext cx="209550" cy="20955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914525" y="4520059"/>
            <a:ext cx="353853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75"/>
              </a:spcAft>
              <a:buNone/>
            </a:pPr>
            <a:r>
              <a:rPr lang="en-US" sz="750" b="1" kern="0" spc="6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BUY MRUCHA?</a:t>
            </a:r>
            <a:endParaRPr lang="en-US" sz="750" dirty="0"/>
          </a:p>
        </p:txBody>
      </p:sp>
      <p:sp>
        <p:nvSpPr>
          <p:cNvPr id="19" name="Text 11"/>
          <p:cNvSpPr txBox="1"/>
          <p:nvPr/>
        </p:nvSpPr>
        <p:spPr>
          <a:xfrm>
            <a:off x="1914525" y="4672459"/>
            <a:ext cx="35385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pasand + Indian skin tones + real reviews + ₹389 se start</a:t>
            </a:r>
            <a:endParaRPr lang="en-US" sz="938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9288" y="1914971"/>
            <a:ext cx="6157913" cy="315753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176963" y="2429321"/>
            <a:ext cx="5262563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Target Audience Dimensions</a:t>
            </a:r>
            <a:endParaRPr lang="en-US" sz="10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6963" y="2696021"/>
            <a:ext cx="5262563" cy="366713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176963" y="2800796"/>
            <a:ext cx="10477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825" dirty="0"/>
          </a:p>
        </p:txBody>
      </p:sp>
      <p:sp>
        <p:nvSpPr>
          <p:cNvPr id="24" name="Text 14"/>
          <p:cNvSpPr txBox="1"/>
          <p:nvPr/>
        </p:nvSpPr>
        <p:spPr>
          <a:xfrm>
            <a:off x="7339012" y="2800796"/>
            <a:ext cx="4100513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18-30</a:t>
            </a: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core Gen Z, secondary 30-35</a:t>
            </a:r>
            <a:endParaRPr lang="en-US" sz="938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6963" y="3062734"/>
            <a:ext cx="5262563" cy="366713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176963" y="3167509"/>
            <a:ext cx="10477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825" dirty="0"/>
          </a:p>
        </p:txBody>
      </p:sp>
      <p:sp>
        <p:nvSpPr>
          <p:cNvPr id="27" name="Text 16"/>
          <p:cNvSpPr txBox="1"/>
          <p:nvPr/>
        </p:nvSpPr>
        <p:spPr>
          <a:xfrm>
            <a:off x="7339012" y="3167509"/>
            <a:ext cx="4100513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Mumbai, Delhi, Bangalore, Pune — Tier 1 &amp; 2</a:t>
            </a:r>
            <a:endParaRPr lang="en-US" sz="938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6963" y="3429446"/>
            <a:ext cx="5262563" cy="366713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6176963" y="3534221"/>
            <a:ext cx="10477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</a:t>
            </a:r>
            <a:endParaRPr lang="en-US" sz="825" dirty="0"/>
          </a:p>
        </p:txBody>
      </p:sp>
      <p:sp>
        <p:nvSpPr>
          <p:cNvPr id="30" name="Text 18"/>
          <p:cNvSpPr txBox="1"/>
          <p:nvPr/>
        </p:nvSpPr>
        <p:spPr>
          <a:xfrm>
            <a:off x="7339012" y="3534221"/>
            <a:ext cx="4100513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₹20,000-₹60,000/month individual</a:t>
            </a:r>
            <a:endParaRPr lang="en-US" sz="938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6963" y="3796159"/>
            <a:ext cx="5262563" cy="366713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176963" y="3900934"/>
            <a:ext cx="10477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825" dirty="0"/>
          </a:p>
        </p:txBody>
      </p:sp>
      <p:sp>
        <p:nvSpPr>
          <p:cNvPr id="33" name="Text 20"/>
          <p:cNvSpPr txBox="1"/>
          <p:nvPr/>
        </p:nvSpPr>
        <p:spPr>
          <a:xfrm>
            <a:off x="7339012" y="3900934"/>
            <a:ext cx="4100513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Self-expression, community, creator-led support</a:t>
            </a:r>
            <a:endParaRPr lang="en-US" sz="938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6963" y="4277171"/>
            <a:ext cx="927050" cy="290513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6449616" y="4353371"/>
            <a:ext cx="53057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IG Primary</a:t>
            </a:r>
            <a:endParaRPr lang="en-US" sz="825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0788" y="4370040"/>
            <a:ext cx="91678" cy="104775"/>
          </a:xfrm>
          <a:prstGeom prst="rect">
            <a:avLst/>
          </a:prstGeom>
        </p:spPr>
      </p:pic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0213" y="4277171"/>
            <a:ext cx="862757" cy="290513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7479060" y="4353371"/>
            <a:ext cx="44008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YouTube</a:t>
            </a:r>
            <a:endParaRPr lang="en-US" sz="825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04038" y="4370040"/>
            <a:ext cx="117872" cy="104775"/>
          </a:xfrm>
          <a:prstGeom prst="rect">
            <a:avLst/>
          </a:prstGeom>
        </p:spPr>
      </p:pic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19170" y="4277171"/>
            <a:ext cx="733723" cy="290513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8404920" y="4353371"/>
            <a:ext cx="32414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Reddit</a:t>
            </a:r>
            <a:endParaRPr lang="en-US" sz="825" dirty="0"/>
          </a:p>
        </p:txBody>
      </p:sp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42995" y="4370040"/>
            <a:ext cx="104775" cy="104775"/>
          </a:xfrm>
          <a:prstGeom prst="rect">
            <a:avLst/>
          </a:prstGeom>
        </p:spPr>
      </p:pic>
      <p:sp>
        <p:nvSpPr>
          <p:cNvPr id="43" name="Shape 24"/>
          <p:cNvSpPr/>
          <p:nvPr/>
        </p:nvSpPr>
        <p:spPr>
          <a:xfrm>
            <a:off x="5962650" y="4905375"/>
            <a:ext cx="5705475" cy="600075"/>
          </a:xfrm>
          <a:prstGeom prst="roundRect">
            <a:avLst>
              <a:gd name="adj" fmla="val 25397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29338" y="5067746"/>
            <a:ext cx="254347" cy="266700"/>
          </a:xfrm>
          <a:prstGeom prst="rect">
            <a:avLst/>
          </a:prstGeom>
        </p:spPr>
      </p:pic>
      <p:sp>
        <p:nvSpPr>
          <p:cNvPr id="45" name="Text 25"/>
          <p:cNvSpPr txBox="1"/>
          <p:nvPr/>
        </p:nvSpPr>
        <p:spPr>
          <a:xfrm>
            <a:off x="6497985" y="5043934"/>
            <a:ext cx="4989165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</a:t>
            </a:r>
            <a:r>
              <a:rPr lang="en-US" sz="938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Aanya ko Western vibe @ ₹499 chahiye — Mrucha aspirational + affordable balance.</a:t>
            </a:r>
            <a:endParaRPr lang="en-US" sz="93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4325"/>
            <a:ext cx="112776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 ANALYSIS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9113"/>
            <a:ext cx="112776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92"/>
              </a:lnSpc>
              <a:spcAft>
                <a:spcPts val="1050"/>
              </a:spcAft>
              <a:buNone/>
            </a:pPr>
            <a:r>
              <a:rPr lang="en-US" sz="28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Competitors Kaun Hain?</a:t>
            </a:r>
            <a:endParaRPr lang="en-US" sz="2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27621"/>
            <a:ext cx="11734800" cy="52222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725" y="1038225"/>
            <a:ext cx="11258550" cy="400050"/>
          </a:xfrm>
          <a:prstGeom prst="rect">
            <a:avLst/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041946"/>
            <a:ext cx="1524000" cy="4000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0075" y="1165771"/>
            <a:ext cx="124777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725" y="1041946"/>
            <a:ext cx="2433638" cy="4000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124075" y="1165771"/>
            <a:ext cx="215741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BEAUTY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4363" y="1041946"/>
            <a:ext cx="2433638" cy="40005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557713" y="1165771"/>
            <a:ext cx="215741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MAMAEARTH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041946"/>
            <a:ext cx="2433638" cy="40005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991350" y="1165771"/>
            <a:ext cx="215741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PILGRIM</a:t>
            </a:r>
            <a:endParaRPr lang="en-US" sz="9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1638" y="1041946"/>
            <a:ext cx="2433638" cy="40005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9424988" y="1165771"/>
            <a:ext cx="215741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MCAFFEINE</a:t>
            </a:r>
            <a:endParaRPr lang="en-US" sz="9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1441996"/>
            <a:ext cx="11258550" cy="700385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" y="1441996"/>
            <a:ext cx="1524000" cy="69086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600075" y="1714798"/>
            <a:ext cx="1247775" cy="32280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863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0725" y="1441996"/>
            <a:ext cx="2433638" cy="690860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2124075" y="171345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Skincare-infused makeup, Gen Z</a:t>
            </a:r>
            <a:endParaRPr lang="en-US" sz="863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4363" y="1441996"/>
            <a:ext cx="2433638" cy="690860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4557713" y="171345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Toxin-free beauty</a:t>
            </a:r>
            <a:endParaRPr lang="en-US" sz="863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1441996"/>
            <a:ext cx="2433638" cy="690860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6991350" y="171345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Multi-category natural</a:t>
            </a:r>
            <a:endParaRPr lang="en-US" sz="863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1638" y="1441996"/>
            <a:ext cx="2433638" cy="690860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9424988" y="171345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Caffeinated skincare</a:t>
            </a:r>
            <a:endParaRPr lang="en-US" sz="863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725" y="2142381"/>
            <a:ext cx="11258550" cy="700534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725" y="2142381"/>
            <a:ext cx="1524000" cy="691009"/>
          </a:xfrm>
          <a:prstGeom prst="rect">
            <a:avLst/>
          </a:prstGeom>
        </p:spPr>
      </p:pic>
      <p:sp>
        <p:nvSpPr>
          <p:cNvPr id="29" name="Text 13"/>
          <p:cNvSpPr txBox="1"/>
          <p:nvPr/>
        </p:nvSpPr>
        <p:spPr>
          <a:xfrm>
            <a:off x="600075" y="2415183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</a:t>
            </a:r>
            <a:endParaRPr lang="en-US" sz="863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90725" y="2142381"/>
            <a:ext cx="2433638" cy="691009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24075" y="2394942"/>
            <a:ext cx="614809" cy="185738"/>
          </a:xfrm>
          <a:prstGeom prst="rect">
            <a:avLst/>
          </a:prstGeom>
        </p:spPr>
      </p:pic>
      <p:sp>
        <p:nvSpPr>
          <p:cNvPr id="32" name="Text 14"/>
          <p:cNvSpPr txBox="1"/>
          <p:nvPr/>
        </p:nvSpPr>
        <p:spPr>
          <a:xfrm>
            <a:off x="2200275" y="2423517"/>
            <a:ext cx="462409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50" b="1" dirty="0">
                <a:solidFill>
                  <a:srgbClr val="D1886B"/>
                </a:solidFill>
                <a:highlight>
                  <a:srgbClr val="FDF0E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Unfunded</a:t>
            </a:r>
            <a:endParaRPr lang="en-US" sz="750" dirty="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24363" y="2142381"/>
            <a:ext cx="2433638" cy="691009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57713" y="2394942"/>
            <a:ext cx="515838" cy="185738"/>
          </a:xfrm>
          <a:prstGeom prst="rect">
            <a:avLst/>
          </a:prstGeom>
        </p:spPr>
      </p:pic>
      <p:sp>
        <p:nvSpPr>
          <p:cNvPr id="35" name="Text 15"/>
          <p:cNvSpPr txBox="1"/>
          <p:nvPr/>
        </p:nvSpPr>
        <p:spPr>
          <a:xfrm>
            <a:off x="4633913" y="2423517"/>
            <a:ext cx="363438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50" b="1" dirty="0">
                <a:solidFill>
                  <a:srgbClr val="4A2315"/>
                </a:solidFill>
                <a:highlight>
                  <a:srgbClr val="F5E0D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$89.3M</a:t>
            </a:r>
            <a:endParaRPr lang="en-US" sz="75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0" y="2142381"/>
            <a:ext cx="2433638" cy="691009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91350" y="2394942"/>
            <a:ext cx="426988" cy="185738"/>
          </a:xfrm>
          <a:prstGeom prst="rect">
            <a:avLst/>
          </a:prstGeom>
        </p:spPr>
      </p:pic>
      <p:sp>
        <p:nvSpPr>
          <p:cNvPr id="38" name="Text 16"/>
          <p:cNvSpPr txBox="1"/>
          <p:nvPr/>
        </p:nvSpPr>
        <p:spPr>
          <a:xfrm>
            <a:off x="7067550" y="2423517"/>
            <a:ext cx="274588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50" b="1" dirty="0">
                <a:solidFill>
                  <a:srgbClr val="4A2315"/>
                </a:solidFill>
                <a:highlight>
                  <a:srgbClr val="F5E0D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$50M</a:t>
            </a:r>
            <a:endParaRPr lang="en-US" sz="750" dirty="0"/>
          </a:p>
        </p:txBody>
      </p:sp>
      <p:pic>
        <p:nvPicPr>
          <p:cNvPr id="39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1638" y="2142381"/>
            <a:ext cx="2433638" cy="691009"/>
          </a:xfrm>
          <a:prstGeom prst="rect">
            <a:avLst/>
          </a:prstGeom>
        </p:spPr>
      </p:pic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24988" y="2394942"/>
            <a:ext cx="515243" cy="185738"/>
          </a:xfrm>
          <a:prstGeom prst="rect">
            <a:avLst/>
          </a:prstGeom>
        </p:spPr>
      </p:pic>
      <p:sp>
        <p:nvSpPr>
          <p:cNvPr id="41" name="Text 17"/>
          <p:cNvSpPr txBox="1"/>
          <p:nvPr/>
        </p:nvSpPr>
        <p:spPr>
          <a:xfrm>
            <a:off x="9501188" y="2423517"/>
            <a:ext cx="362843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50" b="1" dirty="0">
                <a:solidFill>
                  <a:srgbClr val="4A2315"/>
                </a:solidFill>
                <a:highlight>
                  <a:srgbClr val="F5E0D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$50.6M</a:t>
            </a:r>
            <a:endParaRPr lang="en-US" sz="750" dirty="0"/>
          </a:p>
        </p:txBody>
      </p:sp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2842915"/>
            <a:ext cx="11258550" cy="700534"/>
          </a:xfrm>
          <a:prstGeom prst="rect">
            <a:avLst/>
          </a:prstGeom>
        </p:spPr>
      </p:pic>
      <p:pic>
        <p:nvPicPr>
          <p:cNvPr id="43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" y="2842915"/>
            <a:ext cx="1524000" cy="691009"/>
          </a:xfrm>
          <a:prstGeom prst="rect">
            <a:avLst/>
          </a:prstGeom>
        </p:spPr>
      </p:pic>
      <p:sp>
        <p:nvSpPr>
          <p:cNvPr id="44" name="Text 18"/>
          <p:cNvSpPr txBox="1"/>
          <p:nvPr/>
        </p:nvSpPr>
        <p:spPr>
          <a:xfrm>
            <a:off x="600075" y="3115717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Range</a:t>
            </a:r>
            <a:endParaRPr lang="en-US" sz="863" dirty="0"/>
          </a:p>
        </p:txBody>
      </p:sp>
      <p:pic>
        <p:nvPicPr>
          <p:cNvPr id="45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0725" y="2842915"/>
            <a:ext cx="2433638" cy="691009"/>
          </a:xfrm>
          <a:prstGeom prst="rect">
            <a:avLst/>
          </a:prstGeom>
        </p:spPr>
      </p:pic>
      <p:sp>
        <p:nvSpPr>
          <p:cNvPr id="46" name="Text 19"/>
          <p:cNvSpPr txBox="1"/>
          <p:nvPr/>
        </p:nvSpPr>
        <p:spPr>
          <a:xfrm>
            <a:off x="2124075" y="3114526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₹389–₹2,099</a:t>
            </a:r>
            <a:endParaRPr lang="en-US" sz="863" dirty="0"/>
          </a:p>
        </p:txBody>
      </p:sp>
      <p:pic>
        <p:nvPicPr>
          <p:cNvPr id="4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4363" y="2842915"/>
            <a:ext cx="2433638" cy="691009"/>
          </a:xfrm>
          <a:prstGeom prst="rect">
            <a:avLst/>
          </a:prstGeom>
        </p:spPr>
      </p:pic>
      <p:sp>
        <p:nvSpPr>
          <p:cNvPr id="48" name="Text 20"/>
          <p:cNvSpPr txBox="1"/>
          <p:nvPr/>
        </p:nvSpPr>
        <p:spPr>
          <a:xfrm>
            <a:off x="4557713" y="3114526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₹199–₹999</a:t>
            </a:r>
            <a:endParaRPr lang="en-US" sz="863" dirty="0"/>
          </a:p>
        </p:txBody>
      </p:sp>
      <p:pic>
        <p:nvPicPr>
          <p:cNvPr id="49" name="Image 2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2842915"/>
            <a:ext cx="2433638" cy="691009"/>
          </a:xfrm>
          <a:prstGeom prst="rect">
            <a:avLst/>
          </a:prstGeom>
        </p:spPr>
      </p:pic>
      <p:sp>
        <p:nvSpPr>
          <p:cNvPr id="50" name="Text 21"/>
          <p:cNvSpPr txBox="1"/>
          <p:nvPr/>
        </p:nvSpPr>
        <p:spPr>
          <a:xfrm>
            <a:off x="6991350" y="3114526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₹350–₹1,500</a:t>
            </a:r>
            <a:endParaRPr lang="en-US" sz="863" dirty="0"/>
          </a:p>
        </p:txBody>
      </p:sp>
      <p:pic>
        <p:nvPicPr>
          <p:cNvPr id="51" name="Image 2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1638" y="2842915"/>
            <a:ext cx="2433638" cy="691009"/>
          </a:xfrm>
          <a:prstGeom prst="rect">
            <a:avLst/>
          </a:prstGeom>
        </p:spPr>
      </p:pic>
      <p:sp>
        <p:nvSpPr>
          <p:cNvPr id="52" name="Text 22"/>
          <p:cNvSpPr txBox="1"/>
          <p:nvPr/>
        </p:nvSpPr>
        <p:spPr>
          <a:xfrm>
            <a:off x="9424988" y="3114526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₹199–₹999</a:t>
            </a:r>
            <a:endParaRPr lang="en-US" sz="863" dirty="0"/>
          </a:p>
        </p:txBody>
      </p:sp>
      <p:pic>
        <p:nvPicPr>
          <p:cNvPr id="53" name="Image 2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3543449"/>
            <a:ext cx="11258550" cy="700534"/>
          </a:xfrm>
          <a:prstGeom prst="rect">
            <a:avLst/>
          </a:prstGeom>
        </p:spPr>
      </p:pic>
      <p:pic>
        <p:nvPicPr>
          <p:cNvPr id="54" name="Image 2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" y="3543449"/>
            <a:ext cx="1524000" cy="691009"/>
          </a:xfrm>
          <a:prstGeom prst="rect">
            <a:avLst/>
          </a:prstGeom>
        </p:spPr>
      </p:pic>
      <p:sp>
        <p:nvSpPr>
          <p:cNvPr id="55" name="Text 23"/>
          <p:cNvSpPr txBox="1"/>
          <p:nvPr/>
        </p:nvSpPr>
        <p:spPr>
          <a:xfrm>
            <a:off x="600075" y="3816251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Strength</a:t>
            </a:r>
            <a:endParaRPr lang="en-US" sz="863" dirty="0"/>
          </a:p>
        </p:txBody>
      </p:sp>
      <p:pic>
        <p:nvPicPr>
          <p:cNvPr id="56" name="Image 3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0725" y="3543449"/>
            <a:ext cx="2433638" cy="691009"/>
          </a:xfrm>
          <a:prstGeom prst="rect">
            <a:avLst/>
          </a:prstGeom>
        </p:spPr>
      </p:pic>
      <p:sp>
        <p:nvSpPr>
          <p:cNvPr id="57" name="Text 24"/>
          <p:cNvSpPr txBox="1"/>
          <p:nvPr/>
        </p:nvSpPr>
        <p:spPr>
          <a:xfrm>
            <a:off x="2124075" y="3815060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trust, shade diversity</a:t>
            </a:r>
            <a:endParaRPr lang="en-US" sz="863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4363" y="3543449"/>
            <a:ext cx="2433638" cy="691009"/>
          </a:xfrm>
          <a:prstGeom prst="rect">
            <a:avLst/>
          </a:prstGeom>
        </p:spPr>
      </p:pic>
      <p:sp>
        <p:nvSpPr>
          <p:cNvPr id="59" name="Text 25"/>
          <p:cNvSpPr txBox="1"/>
          <p:nvPr/>
        </p:nvSpPr>
        <p:spPr>
          <a:xfrm>
            <a:off x="4557713" y="3815060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distribution</a:t>
            </a:r>
            <a:endParaRPr lang="en-US" sz="863" dirty="0"/>
          </a:p>
        </p:txBody>
      </p:sp>
      <p:pic>
        <p:nvPicPr>
          <p:cNvPr id="60" name="Image 3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3543449"/>
            <a:ext cx="2433638" cy="691009"/>
          </a:xfrm>
          <a:prstGeom prst="rect">
            <a:avLst/>
          </a:prstGeom>
        </p:spPr>
      </p:pic>
      <p:sp>
        <p:nvSpPr>
          <p:cNvPr id="61" name="Text 26"/>
          <p:cNvSpPr txBox="1"/>
          <p:nvPr/>
        </p:nvSpPr>
        <p:spPr>
          <a:xfrm>
            <a:off x="6991350" y="3815060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ingredient story</a:t>
            </a:r>
            <a:endParaRPr lang="en-US" sz="863" dirty="0"/>
          </a:p>
        </p:txBody>
      </p:sp>
      <p:pic>
        <p:nvPicPr>
          <p:cNvPr id="62" name="Image 3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1638" y="3543449"/>
            <a:ext cx="2433638" cy="691009"/>
          </a:xfrm>
          <a:prstGeom prst="rect">
            <a:avLst/>
          </a:prstGeom>
        </p:spPr>
      </p:pic>
      <p:sp>
        <p:nvSpPr>
          <p:cNvPr id="63" name="Text 27"/>
          <p:cNvSpPr txBox="1"/>
          <p:nvPr/>
        </p:nvSpPr>
        <p:spPr>
          <a:xfrm>
            <a:off x="9424988" y="3815060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Caffeine proposition</a:t>
            </a:r>
            <a:endParaRPr lang="en-US" sz="863" dirty="0"/>
          </a:p>
        </p:txBody>
      </p:sp>
      <p:pic>
        <p:nvPicPr>
          <p:cNvPr id="64" name="Image 3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725" y="4243983"/>
            <a:ext cx="11258550" cy="700534"/>
          </a:xfrm>
          <a:prstGeom prst="rect">
            <a:avLst/>
          </a:prstGeom>
        </p:spPr>
      </p:pic>
      <p:pic>
        <p:nvPicPr>
          <p:cNvPr id="65" name="Image 3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725" y="4243983"/>
            <a:ext cx="1524000" cy="691009"/>
          </a:xfrm>
          <a:prstGeom prst="rect">
            <a:avLst/>
          </a:prstGeom>
        </p:spPr>
      </p:pic>
      <p:sp>
        <p:nvSpPr>
          <p:cNvPr id="66" name="Text 28"/>
          <p:cNvSpPr txBox="1"/>
          <p:nvPr/>
        </p:nvSpPr>
        <p:spPr>
          <a:xfrm>
            <a:off x="600075" y="4516785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Weakness</a:t>
            </a:r>
            <a:endParaRPr lang="en-US" sz="863" dirty="0"/>
          </a:p>
        </p:txBody>
      </p:sp>
      <p:pic>
        <p:nvPicPr>
          <p:cNvPr id="67" name="Image 3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90725" y="4243983"/>
            <a:ext cx="2433638" cy="691009"/>
          </a:xfrm>
          <a:prstGeom prst="rect">
            <a:avLst/>
          </a:prstGeom>
        </p:spPr>
      </p:pic>
      <p:sp>
        <p:nvSpPr>
          <p:cNvPr id="68" name="Text 29"/>
          <p:cNvSpPr txBox="1"/>
          <p:nvPr/>
        </p:nvSpPr>
        <p:spPr>
          <a:xfrm>
            <a:off x="2124075" y="4515594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scale, founder dep.</a:t>
            </a:r>
            <a:endParaRPr lang="en-US" sz="863" dirty="0"/>
          </a:p>
        </p:txBody>
      </p:sp>
      <p:pic>
        <p:nvPicPr>
          <p:cNvPr id="69" name="Image 3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24363" y="4243983"/>
            <a:ext cx="2433638" cy="691009"/>
          </a:xfrm>
          <a:prstGeom prst="rect">
            <a:avLst/>
          </a:prstGeom>
        </p:spPr>
      </p:pic>
      <p:sp>
        <p:nvSpPr>
          <p:cNvPr id="70" name="Text 30"/>
          <p:cNvSpPr txBox="1"/>
          <p:nvPr/>
        </p:nvSpPr>
        <p:spPr>
          <a:xfrm>
            <a:off x="4557713" y="4515594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perception gap</a:t>
            </a:r>
            <a:endParaRPr lang="en-US" sz="863" dirty="0"/>
          </a:p>
        </p:txBody>
      </p:sp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0" y="4243983"/>
            <a:ext cx="2433638" cy="691009"/>
          </a:xfrm>
          <a:prstGeom prst="rect">
            <a:avLst/>
          </a:prstGeom>
        </p:spPr>
      </p:pic>
      <p:sp>
        <p:nvSpPr>
          <p:cNvPr id="72" name="Text 31"/>
          <p:cNvSpPr txBox="1"/>
          <p:nvPr/>
        </p:nvSpPr>
        <p:spPr>
          <a:xfrm>
            <a:off x="6991350" y="4515594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Gen Z resonance</a:t>
            </a:r>
            <a:endParaRPr lang="en-US" sz="863" dirty="0"/>
          </a:p>
        </p:txBody>
      </p:sp>
      <p:pic>
        <p:nvPicPr>
          <p:cNvPr id="73" name="Image 3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1638" y="4243983"/>
            <a:ext cx="2433638" cy="691009"/>
          </a:xfrm>
          <a:prstGeom prst="rect">
            <a:avLst/>
          </a:prstGeom>
        </p:spPr>
      </p:pic>
      <p:sp>
        <p:nvSpPr>
          <p:cNvPr id="74" name="Text 32"/>
          <p:cNvSpPr txBox="1"/>
          <p:nvPr/>
        </p:nvSpPr>
        <p:spPr>
          <a:xfrm>
            <a:off x="9424988" y="4515594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category</a:t>
            </a:r>
            <a:endParaRPr lang="en-US" sz="863" dirty="0"/>
          </a:p>
        </p:txBody>
      </p:sp>
      <p:pic>
        <p:nvPicPr>
          <p:cNvPr id="75" name="Image 4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6725" y="4944517"/>
            <a:ext cx="1524000" cy="691009"/>
          </a:xfrm>
          <a:prstGeom prst="rect">
            <a:avLst/>
          </a:prstGeom>
        </p:spPr>
      </p:pic>
      <p:sp>
        <p:nvSpPr>
          <p:cNvPr id="76" name="Text 33"/>
          <p:cNvSpPr txBox="1"/>
          <p:nvPr/>
        </p:nvSpPr>
        <p:spPr>
          <a:xfrm>
            <a:off x="600075" y="5217319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 Focus</a:t>
            </a:r>
            <a:endParaRPr lang="en-US" sz="863" dirty="0"/>
          </a:p>
        </p:txBody>
      </p:sp>
      <p:pic>
        <p:nvPicPr>
          <p:cNvPr id="77" name="Image 4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0725" y="4944517"/>
            <a:ext cx="2433638" cy="691009"/>
          </a:xfrm>
          <a:prstGeom prst="rect">
            <a:avLst/>
          </a:prstGeom>
        </p:spPr>
      </p:pic>
      <p:sp>
        <p:nvSpPr>
          <p:cNvPr id="78" name="Text 34"/>
          <p:cNvSpPr txBox="1"/>
          <p:nvPr/>
        </p:nvSpPr>
        <p:spPr>
          <a:xfrm>
            <a:off x="2124075" y="521612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Community-led UGC-heavy</a:t>
            </a:r>
            <a:endParaRPr lang="en-US" sz="863" dirty="0"/>
          </a:p>
        </p:txBody>
      </p:sp>
      <p:pic>
        <p:nvPicPr>
          <p:cNvPr id="79" name="Image 4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4363" y="4944517"/>
            <a:ext cx="2433638" cy="691009"/>
          </a:xfrm>
          <a:prstGeom prst="rect">
            <a:avLst/>
          </a:prstGeom>
        </p:spPr>
      </p:pic>
      <p:sp>
        <p:nvSpPr>
          <p:cNvPr id="80" name="Text 35"/>
          <p:cNvSpPr txBox="1"/>
          <p:nvPr/>
        </p:nvSpPr>
        <p:spPr>
          <a:xfrm>
            <a:off x="4557713" y="521612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Campaign, celebrity</a:t>
            </a:r>
            <a:endParaRPr lang="en-US" sz="863" dirty="0"/>
          </a:p>
        </p:txBody>
      </p:sp>
      <p:pic>
        <p:nvPicPr>
          <p:cNvPr id="81" name="Image 4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4944517"/>
            <a:ext cx="2433638" cy="691009"/>
          </a:xfrm>
          <a:prstGeom prst="rect">
            <a:avLst/>
          </a:prstGeom>
        </p:spPr>
      </p:pic>
      <p:sp>
        <p:nvSpPr>
          <p:cNvPr id="82" name="Text 36"/>
          <p:cNvSpPr txBox="1"/>
          <p:nvPr/>
        </p:nvSpPr>
        <p:spPr>
          <a:xfrm>
            <a:off x="6991350" y="521612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</a:t>
            </a:r>
            <a:endParaRPr lang="en-US" sz="863" dirty="0"/>
          </a:p>
        </p:txBody>
      </p:sp>
      <p:pic>
        <p:nvPicPr>
          <p:cNvPr id="83" name="Image 4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91638" y="4944517"/>
            <a:ext cx="2433638" cy="691009"/>
          </a:xfrm>
          <a:prstGeom prst="rect">
            <a:avLst/>
          </a:prstGeom>
        </p:spPr>
      </p:pic>
      <p:sp>
        <p:nvSpPr>
          <p:cNvPr id="84" name="Text 37"/>
          <p:cNvSpPr txBox="1"/>
          <p:nvPr/>
        </p:nvSpPr>
        <p:spPr>
          <a:xfrm>
            <a:off x="9424988" y="521612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Meme-heavy</a:t>
            </a:r>
            <a:endParaRPr lang="en-US" sz="863" dirty="0"/>
          </a:p>
        </p:txBody>
      </p:sp>
      <p:pic>
        <p:nvPicPr>
          <p:cNvPr id="85" name="Image 4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5759351"/>
            <a:ext cx="6697861" cy="793849"/>
          </a:xfrm>
          <a:prstGeom prst="rect">
            <a:avLst/>
          </a:prstGeom>
        </p:spPr>
      </p:pic>
      <p:pic>
        <p:nvPicPr>
          <p:cNvPr id="86" name="Image 4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6750" y="5892701"/>
            <a:ext cx="304800" cy="304800"/>
          </a:xfrm>
          <a:prstGeom prst="rect">
            <a:avLst/>
          </a:prstGeom>
        </p:spPr>
      </p:pic>
      <p:sp>
        <p:nvSpPr>
          <p:cNvPr id="87" name="Text 38"/>
          <p:cNvSpPr txBox="1"/>
          <p:nvPr/>
        </p:nvSpPr>
        <p:spPr>
          <a:xfrm>
            <a:off x="712143" y="5945088"/>
            <a:ext cx="259407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endParaRPr lang="en-US" sz="1350" dirty="0"/>
          </a:p>
        </p:txBody>
      </p:sp>
      <p:sp>
        <p:nvSpPr>
          <p:cNvPr id="88" name="Text 39"/>
          <p:cNvSpPr txBox="1"/>
          <p:nvPr/>
        </p:nvSpPr>
        <p:spPr>
          <a:xfrm>
            <a:off x="1085850" y="5902226"/>
            <a:ext cx="5897761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89" name="Text 40"/>
          <p:cNvSpPr txBox="1"/>
          <p:nvPr/>
        </p:nvSpPr>
        <p:spPr>
          <a:xfrm>
            <a:off x="1085850" y="6111776"/>
            <a:ext cx="5897761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8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advantage </a:t>
            </a:r>
            <a:r>
              <a:rPr lang="en-US" sz="863" b="1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authenticity + community</a:t>
            </a:r>
            <a:r>
              <a:rPr lang="en-US" sz="8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Competitors have scale, but Mrucha can win via creator relatability, 5.5M audience &amp; feedback loops. 4,325 competitors — differentiation is moat.</a:t>
            </a:r>
            <a:endParaRPr lang="en-US" sz="863" dirty="0"/>
          </a:p>
        </p:txBody>
      </p:sp>
      <p:sp>
        <p:nvSpPr>
          <p:cNvPr id="90" name="Shape 41"/>
          <p:cNvSpPr/>
          <p:nvPr/>
        </p:nvSpPr>
        <p:spPr>
          <a:xfrm>
            <a:off x="7267575" y="5762625"/>
            <a:ext cx="2181225" cy="790575"/>
          </a:xfrm>
          <a:prstGeom prst="roundRect">
            <a:avLst>
              <a:gd name="adj" fmla="val 14458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42"/>
          <p:cNvSpPr txBox="1"/>
          <p:nvPr/>
        </p:nvSpPr>
        <p:spPr>
          <a:xfrm>
            <a:off x="7402711" y="5883176"/>
            <a:ext cx="191839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75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FAYDA</a:t>
            </a:r>
            <a:endParaRPr lang="en-US" sz="750" dirty="0"/>
          </a:p>
        </p:txBody>
      </p:sp>
      <p:sp>
        <p:nvSpPr>
          <p:cNvPr id="92" name="Text 43"/>
          <p:cNvSpPr txBox="1"/>
          <p:nvPr/>
        </p:nvSpPr>
        <p:spPr>
          <a:xfrm>
            <a:off x="7402711" y="6083201"/>
            <a:ext cx="1918395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5.5M audience • Honest community • Indian skin specific</a:t>
            </a:r>
            <a:endParaRPr lang="en-US" sz="863" dirty="0"/>
          </a:p>
        </p:txBody>
      </p:sp>
      <p:pic>
        <p:nvPicPr>
          <p:cNvPr id="93" name="Image 4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49705" y="5759351"/>
            <a:ext cx="2185095" cy="793849"/>
          </a:xfrm>
          <a:prstGeom prst="rect">
            <a:avLst/>
          </a:prstGeom>
        </p:spPr>
      </p:pic>
      <p:sp>
        <p:nvSpPr>
          <p:cNvPr id="94" name="Text 44"/>
          <p:cNvSpPr txBox="1"/>
          <p:nvPr/>
        </p:nvSpPr>
        <p:spPr>
          <a:xfrm>
            <a:off x="9692580" y="5892701"/>
            <a:ext cx="189934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KAMZORI</a:t>
            </a:r>
            <a:endParaRPr lang="en-US" sz="750" dirty="0"/>
          </a:p>
        </p:txBody>
      </p:sp>
      <p:sp>
        <p:nvSpPr>
          <p:cNvPr id="95" name="Text 45"/>
          <p:cNvSpPr txBox="1"/>
          <p:nvPr/>
        </p:nvSpPr>
        <p:spPr>
          <a:xfrm>
            <a:off x="9692580" y="6092726"/>
            <a:ext cx="1899345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Chhota scale • No funding • Only online</a:t>
            </a:r>
            <a:endParaRPr lang="en-US" sz="86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905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PRESENCE AUDIT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14363"/>
            <a:ext cx="3709988" cy="8399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Presence —</a:t>
            </a:r>
            <a:endParaRPr lang="en-US" sz="3150" dirty="0"/>
          </a:p>
          <a:p>
            <a:pPr marL="0" indent="0" algn="l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Kahan Hai?</a:t>
            </a:r>
            <a:endParaRPr lang="en-US" sz="3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317" y="1130498"/>
            <a:ext cx="2453283" cy="323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557742" y="1216223"/>
            <a:ext cx="196750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mrucha.com • 294 reviews on Brew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8667" y="1235273"/>
            <a:ext cx="142875" cy="1143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3400" y="1647825"/>
            <a:ext cx="2686050" cy="3895725"/>
          </a:xfrm>
          <a:prstGeom prst="roundRect">
            <a:avLst>
              <a:gd name="adj" fmla="val 6383"/>
            </a:avLst>
          </a:prstGeom>
          <a:solidFill>
            <a:srgbClr val="4A2315"/>
          </a:solidFill>
          <a:ln/>
          <a:effectLst>
            <a:outerShdw blurRad="171450" dist="57150" dir="5400000" algn="bl" rotWithShape="0">
              <a:srgbClr val="4A2315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704850" y="181927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34" y="1911548"/>
            <a:ext cx="116681" cy="13335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2371" y="1868686"/>
            <a:ext cx="740866" cy="21907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378571" y="1916311"/>
            <a:ext cx="58846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</a:t>
            </a:r>
            <a:endParaRPr lang="en-US" sz="750" dirty="0"/>
          </a:p>
        </p:txBody>
      </p:sp>
      <p:sp>
        <p:nvSpPr>
          <p:cNvPr id="12" name="Text 6"/>
          <p:cNvSpPr txBox="1"/>
          <p:nvPr/>
        </p:nvSpPr>
        <p:spPr>
          <a:xfrm>
            <a:off x="704850" y="2254448"/>
            <a:ext cx="233838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— 6M+ Founder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704850" y="2462064"/>
            <a:ext cx="233838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50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@MRUNU • REELS + UGC</a:t>
            </a:r>
            <a:endParaRPr lang="en-US" sz="825" dirty="0"/>
          </a:p>
        </p:txBody>
      </p:sp>
      <p:sp>
        <p:nvSpPr>
          <p:cNvPr id="14" name="Text 8"/>
          <p:cNvSpPr txBox="1"/>
          <p:nvPr/>
        </p:nvSpPr>
        <p:spPr>
          <a:xfrm>
            <a:off x="704850" y="2695426"/>
            <a:ext cx="2338388" cy="5083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938" dirty="0">
                <a:solidFill>
                  <a:srgbClr val="FFFBF7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leverages founder audience; brand account smaller but Mrucha Circle active. Gen Z primary.</a:t>
            </a:r>
            <a:endParaRPr lang="en-US" sz="938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6588" y="1416248"/>
            <a:ext cx="3024188" cy="435411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533775" y="18288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5928" y="1921073"/>
            <a:ext cx="150019" cy="13335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6669" y="1878211"/>
            <a:ext cx="351681" cy="21907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572869" y="1925836"/>
            <a:ext cx="19928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D2C</a:t>
            </a:r>
            <a:endParaRPr lang="en-US" sz="750" dirty="0"/>
          </a:p>
        </p:txBody>
      </p:sp>
      <p:sp>
        <p:nvSpPr>
          <p:cNvPr id="20" name="Text 11"/>
          <p:cNvSpPr txBox="1"/>
          <p:nvPr/>
        </p:nvSpPr>
        <p:spPr>
          <a:xfrm>
            <a:off x="3529013" y="2263973"/>
            <a:ext cx="23193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— mrucha.com</a:t>
            </a:r>
            <a:endParaRPr lang="en-US" sz="1050" dirty="0"/>
          </a:p>
        </p:txBody>
      </p:sp>
      <p:sp>
        <p:nvSpPr>
          <p:cNvPr id="21" name="Text 12"/>
          <p:cNvSpPr txBox="1"/>
          <p:nvPr/>
        </p:nvSpPr>
        <p:spPr>
          <a:xfrm>
            <a:off x="3529013" y="2471589"/>
            <a:ext cx="231933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5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RAZORPAY • COMMUNITY</a:t>
            </a:r>
            <a:endParaRPr lang="en-US" sz="825" dirty="0"/>
          </a:p>
        </p:txBody>
      </p:sp>
      <p:sp>
        <p:nvSpPr>
          <p:cNvPr id="22" name="Text 13"/>
          <p:cNvSpPr txBox="1"/>
          <p:nvPr/>
        </p:nvSpPr>
        <p:spPr>
          <a:xfrm>
            <a:off x="3529013" y="2704951"/>
            <a:ext cx="23193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product detail, ingredient transparency, active review system.</a:t>
            </a:r>
            <a:endParaRPr lang="en-US" sz="938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1225" y="1416248"/>
            <a:ext cx="3024188" cy="435411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343650" y="18288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9E8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0566" y="1921073"/>
            <a:ext cx="150019" cy="133350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4639" y="1878211"/>
            <a:ext cx="838349" cy="21907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900839" y="1925836"/>
            <a:ext cx="68594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FOUNDER-LED</a:t>
            </a:r>
            <a:endParaRPr lang="en-US" sz="750" dirty="0"/>
          </a:p>
        </p:txBody>
      </p:sp>
      <p:sp>
        <p:nvSpPr>
          <p:cNvPr id="28" name="Text 16"/>
          <p:cNvSpPr txBox="1"/>
          <p:nvPr/>
        </p:nvSpPr>
        <p:spPr>
          <a:xfrm>
            <a:off x="6343650" y="2263973"/>
            <a:ext cx="23193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— Tutorials</a:t>
            </a:r>
            <a:endParaRPr lang="en-US" sz="1050" dirty="0"/>
          </a:p>
        </p:txBody>
      </p:sp>
      <p:sp>
        <p:nvSpPr>
          <p:cNvPr id="29" name="Text 17"/>
          <p:cNvSpPr txBox="1"/>
          <p:nvPr/>
        </p:nvSpPr>
        <p:spPr>
          <a:xfrm>
            <a:off x="6343650" y="2471589"/>
            <a:ext cx="231933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5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CONTENT DOMINANT</a:t>
            </a:r>
            <a:endParaRPr lang="en-US" sz="825" dirty="0"/>
          </a:p>
        </p:txBody>
      </p:sp>
      <p:sp>
        <p:nvSpPr>
          <p:cNvPr id="30" name="Text 18"/>
          <p:cNvSpPr txBox="1"/>
          <p:nvPr/>
        </p:nvSpPr>
        <p:spPr>
          <a:xfrm>
            <a:off x="6343650" y="2704951"/>
            <a:ext cx="23193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Reviews, unboxings, GRWM. Brand channel unclear — opportunity.</a:t>
            </a:r>
            <a:endParaRPr lang="en-US" sz="938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5863" y="1416248"/>
            <a:ext cx="3024188" cy="4354116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9163050" y="18288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53538" y="1921073"/>
            <a:ext cx="133350" cy="133350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38867" y="1878211"/>
            <a:ext cx="538758" cy="219075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11015067" y="1925836"/>
            <a:ext cx="38635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</a:t>
            </a:r>
            <a:endParaRPr lang="en-US" sz="750" dirty="0"/>
          </a:p>
        </p:txBody>
      </p:sp>
      <p:sp>
        <p:nvSpPr>
          <p:cNvPr id="36" name="Text 21"/>
          <p:cNvSpPr txBox="1"/>
          <p:nvPr/>
        </p:nvSpPr>
        <p:spPr>
          <a:xfrm>
            <a:off x="9158288" y="2263973"/>
            <a:ext cx="23193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Facebook — Cross-post</a:t>
            </a:r>
            <a:endParaRPr lang="en-US" sz="1050" dirty="0"/>
          </a:p>
        </p:txBody>
      </p:sp>
      <p:sp>
        <p:nvSpPr>
          <p:cNvPr id="37" name="Text 22"/>
          <p:cNvSpPr txBox="1"/>
          <p:nvPr/>
        </p:nvSpPr>
        <p:spPr>
          <a:xfrm>
            <a:off x="9158288" y="2471589"/>
            <a:ext cx="231933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5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GEN Z PRIMARY</a:t>
            </a:r>
            <a:endParaRPr lang="en-US" sz="825" dirty="0"/>
          </a:p>
        </p:txBody>
      </p:sp>
      <p:sp>
        <p:nvSpPr>
          <p:cNvPr id="38" name="Text 23"/>
          <p:cNvSpPr txBox="1"/>
          <p:nvPr/>
        </p:nvSpPr>
        <p:spPr>
          <a:xfrm>
            <a:off x="9158288" y="2704951"/>
            <a:ext cx="23193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presence, secondary. Low ROI for TG 18-28.</a:t>
            </a:r>
            <a:endParaRPr lang="en-US" sz="938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5675114"/>
            <a:ext cx="5495925" cy="801886"/>
          </a:xfrm>
          <a:prstGeom prst="rect">
            <a:avLst/>
          </a:prstGeom>
        </p:spPr>
      </p:pic>
      <p:sp>
        <p:nvSpPr>
          <p:cNvPr id="40" name="Shape 24"/>
          <p:cNvSpPr/>
          <p:nvPr/>
        </p:nvSpPr>
        <p:spPr>
          <a:xfrm>
            <a:off x="714375" y="5819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575" y="5894189"/>
            <a:ext cx="114300" cy="114300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1095375" y="5998369"/>
            <a:ext cx="4752975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ACHHI BAAT</a:t>
            </a: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Mrucha Circle community = retention asset. 294 reviews on single product show deep engagement.</a:t>
            </a:r>
            <a:endParaRPr lang="en-US" sz="825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2675" y="5675114"/>
            <a:ext cx="5495925" cy="801886"/>
          </a:xfrm>
          <a:prstGeom prst="rect">
            <a:avLst/>
          </a:prstGeom>
        </p:spPr>
      </p:pic>
      <p:sp>
        <p:nvSpPr>
          <p:cNvPr id="44" name="Shape 26"/>
          <p:cNvSpPr/>
          <p:nvPr/>
        </p:nvSpPr>
        <p:spPr>
          <a:xfrm>
            <a:off x="6343650" y="5819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2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7"/>
          <p:cNvSpPr txBox="1"/>
          <p:nvPr/>
        </p:nvSpPr>
        <p:spPr>
          <a:xfrm>
            <a:off x="6477000" y="59531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28"/>
          <p:cNvSpPr txBox="1"/>
          <p:nvPr/>
        </p:nvSpPr>
        <p:spPr>
          <a:xfrm>
            <a:off x="6724650" y="5998369"/>
            <a:ext cx="4580632" cy="16311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SUDHAAR KI ZAROORAT</a:t>
            </a: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ka apna Instagram identity strong karna hoga Mrunal ke personal ke alawa.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668" y="274321"/>
            <a:ext cx="10058400" cy="71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4A2314"/>
                </a:solidFill>
                <a:latin typeface="Playfair Display"/>
              </a:defRPr>
            </a:pPr>
            <a:r>
              <a:rPr sz="3200" dirty="0">
                <a:latin typeface="Inter"/>
              </a:rPr>
              <a:t>Brand USP &amp;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1668" y="1005840"/>
            <a:ext cx="10881360" cy="15240"/>
          </a:xfrm>
          <a:prstGeom prst="rect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1668" y="1371600"/>
            <a:ext cx="3383280" cy="2560320"/>
          </a:xfrm>
          <a:prstGeom prst="roundRect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1707" y="1645920"/>
            <a:ext cx="2743200" cy="1411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50" b="1">
                <a:solidFill>
                  <a:srgbClr val="F9D9C0"/>
                </a:solidFill>
                <a:latin typeface="Montserrat"/>
              </a:defRPr>
            </a:pPr>
            <a:endParaRPr lang="en-US" sz="1250" dirty="0"/>
          </a:p>
          <a:p>
            <a:pPr algn="l">
              <a:lnSpc>
                <a:spcPct val="140000"/>
              </a:lnSpc>
              <a:defRPr sz="1250" b="1">
                <a:solidFill>
                  <a:srgbClr val="F9D9C0"/>
                </a:solidFill>
                <a:latin typeface="Montserrat"/>
              </a:defRPr>
            </a:pPr>
            <a:r>
              <a:rPr sz="1250" u="sng" dirty="0"/>
              <a:t>SKINCARE-INFUSED MAKEUP</a:t>
            </a:r>
            <a:br>
              <a:rPr lang="en-US" sz="1250" dirty="0"/>
            </a:br>
            <a:endParaRPr lang="en-US" sz="1250" dirty="0"/>
          </a:p>
          <a:p>
            <a:pPr algn="l">
              <a:lnSpc>
                <a:spcPct val="140000"/>
              </a:lnSpc>
              <a:defRPr sz="1250" b="1">
                <a:solidFill>
                  <a:srgbClr val="F9D9C0"/>
                </a:solidFill>
                <a:latin typeface="Montserrat"/>
              </a:defRPr>
            </a:pPr>
            <a:endParaRPr lang="en-US" sz="1250" dirty="0"/>
          </a:p>
          <a:p>
            <a:pPr algn="l">
              <a:lnSpc>
                <a:spcPct val="140000"/>
              </a:lnSpc>
              <a:defRPr sz="1250" b="1">
                <a:solidFill>
                  <a:srgbClr val="F9D9C0"/>
                </a:solidFill>
                <a:latin typeface="Montserrat"/>
              </a:defRPr>
            </a:pPr>
            <a:endParaRPr sz="1250" dirty="0"/>
          </a:p>
        </p:txBody>
      </p:sp>
      <p:sp>
        <p:nvSpPr>
          <p:cNvPr id="6" name="TextBox 5"/>
          <p:cNvSpPr txBox="1"/>
          <p:nvPr/>
        </p:nvSpPr>
        <p:spPr>
          <a:xfrm>
            <a:off x="961707" y="2194561"/>
            <a:ext cx="2743200" cy="106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50" b="0">
                <a:solidFill>
                  <a:srgbClr val="FFFFFF"/>
                </a:solidFill>
                <a:latin typeface="Poppins"/>
              </a:defRPr>
            </a:pPr>
            <a:r>
              <a:rPr sz="1150"/>
              <a:t>The source case study highlights peptides, hyaluronic acid, shea butter and kokum butter across its product 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0708" y="1371600"/>
            <a:ext cx="3383280" cy="2560320"/>
          </a:xfrm>
          <a:prstGeom prst="roundRect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10748" y="1645920"/>
            <a:ext cx="2743200" cy="60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50" b="1">
                <a:solidFill>
                  <a:srgbClr val="F9D9C0"/>
                </a:solidFill>
                <a:latin typeface="Montserrat"/>
              </a:defRPr>
            </a:pPr>
            <a:endParaRPr lang="en-US" sz="1250" dirty="0"/>
          </a:p>
          <a:p>
            <a:pPr algn="l">
              <a:lnSpc>
                <a:spcPct val="140000"/>
              </a:lnSpc>
              <a:defRPr sz="1250" b="1">
                <a:solidFill>
                  <a:srgbClr val="F9D9C0"/>
                </a:solidFill>
                <a:latin typeface="Montserrat"/>
              </a:defRPr>
            </a:pPr>
            <a:r>
              <a:rPr sz="1250" u="sng" dirty="0"/>
              <a:t>MADE FOR INDIAN 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0748" y="2194561"/>
            <a:ext cx="2743200" cy="106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50" b="0">
                <a:solidFill>
                  <a:srgbClr val="FFFFFF"/>
                </a:solidFill>
                <a:latin typeface="Poppins"/>
              </a:defRPr>
            </a:pPr>
            <a:r>
              <a:rPr sz="1150" dirty="0"/>
              <a:t>Positioning focuses on Indian skin tones and shade relevance rather than generic global beauty messaging.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9748" y="1371600"/>
            <a:ext cx="3383280" cy="2560320"/>
          </a:xfrm>
          <a:prstGeom prst="roundRect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9788" y="1645920"/>
            <a:ext cx="2743200" cy="60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50" b="1">
                <a:solidFill>
                  <a:srgbClr val="F9D9C0"/>
                </a:solidFill>
                <a:latin typeface="Montserrat"/>
              </a:defRPr>
            </a:pPr>
            <a:endParaRPr lang="en-US" sz="1250" dirty="0"/>
          </a:p>
          <a:p>
            <a:pPr algn="l">
              <a:lnSpc>
                <a:spcPct val="140000"/>
              </a:lnSpc>
              <a:defRPr sz="1250" b="1">
                <a:solidFill>
                  <a:srgbClr val="F9D9C0"/>
                </a:solidFill>
                <a:latin typeface="Montserrat"/>
              </a:defRPr>
            </a:pPr>
            <a:r>
              <a:rPr sz="1250" u="sng" dirty="0"/>
              <a:t>AFFORDABLE LUXURY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9788" y="2194561"/>
            <a:ext cx="2743200" cy="106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50" b="0">
                <a:solidFill>
                  <a:srgbClr val="FFFFFF"/>
                </a:solidFill>
                <a:latin typeface="Poppins"/>
              </a:defRPr>
            </a:pPr>
            <a:r>
              <a:rPr sz="1150"/>
              <a:t>The supplied price range of ₹389–₹1,649 supports an accessible-premium / aspirational proposition.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668" y="4297680"/>
            <a:ext cx="10881360" cy="1280160"/>
          </a:xfrm>
          <a:prstGeom prst="roundRect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1707" y="4480560"/>
            <a:ext cx="10241280" cy="333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50" b="1">
                <a:solidFill>
                  <a:srgbClr val="F9D9C0"/>
                </a:solidFill>
                <a:latin typeface="Montserrat"/>
              </a:defRPr>
            </a:pPr>
            <a:r>
              <a:rPr sz="1250"/>
              <a:t>COMMUNITY-LED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707" y="4937760"/>
            <a:ext cx="1024128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50" b="0">
                <a:solidFill>
                  <a:srgbClr val="FFFFFF"/>
                </a:solidFill>
                <a:latin typeface="Poppins"/>
              </a:defRPr>
            </a:pPr>
            <a:r>
              <a:rPr sz="1150" dirty="0"/>
              <a:t>#MruchaCircle turns customer feedback and UGC into a potential brand asset beyond the founder</a:t>
            </a:r>
            <a:r>
              <a:rPr lang="en-US" sz="1150" dirty="0"/>
              <a:t>. </a:t>
            </a:r>
            <a:r>
              <a:rPr lang="en-US" sz="1200" b="1" dirty="0"/>
              <a:t>real reviews, real trust, real growth.</a:t>
            </a:r>
            <a:endParaRPr sz="11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4E72FD-BA05-89C8-BF5D-0BBF8095416B}"/>
              </a:ext>
            </a:extLst>
          </p:cNvPr>
          <p:cNvSpPr txBox="1"/>
          <p:nvPr/>
        </p:nvSpPr>
        <p:spPr>
          <a:xfrm>
            <a:off x="915988" y="1444753"/>
            <a:ext cx="548640" cy="42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4A2314"/>
                </a:solidFill>
                <a:latin typeface="Poppins"/>
              </a:defRPr>
            </a:pPr>
            <a:r>
              <a:rPr dirty="0"/>
              <a:t>💧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7E37A8-34C1-8BB8-390F-4E10D33990C9}"/>
              </a:ext>
            </a:extLst>
          </p:cNvPr>
          <p:cNvSpPr txBox="1"/>
          <p:nvPr/>
        </p:nvSpPr>
        <p:spPr>
          <a:xfrm>
            <a:off x="4665028" y="1444753"/>
            <a:ext cx="548640" cy="42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4A2314"/>
                </a:solidFill>
                <a:latin typeface="Poppins"/>
              </a:defRPr>
            </a:pPr>
            <a:r>
              <a:rPr dirty="0"/>
              <a:t>🎨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4B31BC-8074-67E1-AA7E-B76AD2F1CAEA}"/>
              </a:ext>
            </a:extLst>
          </p:cNvPr>
          <p:cNvSpPr txBox="1"/>
          <p:nvPr/>
        </p:nvSpPr>
        <p:spPr>
          <a:xfrm>
            <a:off x="8414068" y="1444753"/>
            <a:ext cx="548640" cy="42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4A2314"/>
                </a:solidFill>
                <a:latin typeface="Poppins"/>
              </a:defRPr>
            </a:pPr>
            <a:r>
              <a:rPr dirty="0"/>
              <a:t>✨</a:t>
            </a:r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158E190E-7950-FA56-3BC8-3418AD4F2A3E}"/>
              </a:ext>
            </a:extLst>
          </p:cNvPr>
          <p:cNvSpPr/>
          <p:nvPr/>
        </p:nvSpPr>
        <p:spPr>
          <a:xfrm>
            <a:off x="641668" y="4288444"/>
            <a:ext cx="10881360" cy="1371600"/>
          </a:xfrm>
          <a:prstGeom prst="roundRect">
            <a:avLst/>
          </a:prstGeom>
          <a:solidFill>
            <a:srgbClr val="F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lang="en-IN" dirty="0"/>
              <a:t>👥 COMMUNITY-LED</a:t>
            </a:r>
          </a:p>
          <a:p>
            <a:pPr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endParaRPr lang="en-IN" dirty="0"/>
          </a:p>
          <a:p>
            <a:pPr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lang="en-US" sz="1100" dirty="0"/>
              <a:t>#MruchaCircle turns customer feedback and UGC into a potential brand asset beyond the founder - </a:t>
            </a:r>
            <a:r>
              <a:rPr lang="en-US" sz="1100" b="1" dirty="0"/>
              <a:t>real reviews, real trust, real growth.</a:t>
            </a:r>
          </a:p>
          <a:p>
            <a:pPr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DFC9A7-5D5A-BCF3-996D-C60FB2AD3474}"/>
              </a:ext>
            </a:extLst>
          </p:cNvPr>
          <p:cNvSpPr/>
          <p:nvPr/>
        </p:nvSpPr>
        <p:spPr>
          <a:xfrm>
            <a:off x="641668" y="4297680"/>
            <a:ext cx="137160" cy="1371600"/>
          </a:xfrm>
          <a:prstGeom prst="rect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5029200" cy="6858000"/>
          </a:xfrm>
          <a:prstGeom prst="rect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4390708" y="274320"/>
            <a:ext cx="1463040" cy="1463040"/>
          </a:xfrm>
          <a:prstGeom prst="ellipse">
            <a:avLst/>
          </a:prstGeom>
          <a:solidFill>
            <a:srgbClr val="E8B89C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5612" y="5029200"/>
            <a:ext cx="2011680" cy="2011680"/>
          </a:xfrm>
          <a:prstGeom prst="ellipse">
            <a:avLst/>
          </a:prstGeom>
          <a:solidFill>
            <a:srgbClr val="E8B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1668" y="1188721"/>
            <a:ext cx="3657600" cy="128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FFFFFF"/>
                </a:solidFill>
                <a:latin typeface="Playfair Display"/>
              </a:defRPr>
            </a:pPr>
            <a:r>
              <a:rPr sz="3600" dirty="0">
                <a:latin typeface="Inter"/>
              </a:rPr>
              <a:t>Brand USP</a:t>
            </a:r>
            <a:br>
              <a:rPr sz="3600" dirty="0">
                <a:latin typeface="Inter"/>
              </a:rPr>
            </a:br>
            <a:r>
              <a:rPr sz="3600" dirty="0">
                <a:latin typeface="Inter"/>
              </a:rPr>
              <a:t>&amp; Positioning</a:t>
            </a:r>
            <a:r>
              <a:rPr lang="en-US" sz="3600" dirty="0">
                <a:latin typeface="Inter"/>
              </a:rPr>
              <a:t> - 2</a:t>
            </a:r>
            <a:endParaRPr sz="3600" dirty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1668" y="2926081"/>
            <a:ext cx="3474720" cy="55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F9EFE8"/>
                </a:solidFill>
                <a:latin typeface="Poppins"/>
              </a:defRPr>
            </a:pPr>
            <a:r>
              <a:rPr sz="1200"/>
              <a:t>Skincare-infused makeup made for Indian tones at affordable luxury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70868" y="548640"/>
            <a:ext cx="5943600" cy="310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1">
                <a:solidFill>
                  <a:srgbClr val="4A2314"/>
                </a:solidFill>
                <a:latin typeface="Montserrat"/>
              </a:defRPr>
            </a:pPr>
            <a:r>
              <a:rPr sz="1200"/>
              <a:t>Why This Brand Stands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70868" y="1188720"/>
            <a:ext cx="54864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5188" y="1280160"/>
            <a:ext cx="5029200" cy="29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sz="1100"/>
              <a:t>◍  SKINCARE + MAKEUP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5188" y="1645921"/>
            <a:ext cx="5029200" cy="27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503C32"/>
                </a:solidFill>
                <a:latin typeface="Poppins"/>
              </a:defRPr>
            </a:pPr>
            <a:r>
              <a:rPr sz="1000"/>
              <a:t>Peptides • Hyaluronic • Shea • Kokum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70868" y="2468880"/>
            <a:ext cx="54864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5188" y="2560320"/>
            <a:ext cx="5029200" cy="29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sz="1100"/>
              <a:t>◍  INDIAN TONES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5188" y="2926081"/>
            <a:ext cx="5029200" cy="27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503C32"/>
                </a:solidFill>
                <a:latin typeface="Poppins"/>
              </a:defRPr>
            </a:pPr>
            <a:r>
              <a:rPr sz="1000"/>
              <a:t>Not global shade copy - built for 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70868" y="3749039"/>
            <a:ext cx="54864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5188" y="3840479"/>
            <a:ext cx="5029200" cy="29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sz="1100"/>
              <a:t>◍  ₹389 - ₹1,649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5188" y="4206241"/>
            <a:ext cx="5029200" cy="27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503C32"/>
                </a:solidFill>
                <a:latin typeface="Poppins"/>
              </a:defRPr>
            </a:pPr>
            <a:r>
              <a:rPr sz="1000"/>
              <a:t>Aspirational yet accessible pricing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0868" y="5029199"/>
            <a:ext cx="54864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5188" y="5120639"/>
            <a:ext cx="5029200" cy="29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sz="1100"/>
              <a:t>◍  #MruchaCircle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5188" y="5486400"/>
            <a:ext cx="5029200" cy="27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503C32"/>
                </a:solidFill>
                <a:latin typeface="Poppins"/>
              </a:defRPr>
            </a:pPr>
            <a:r>
              <a:rPr sz="1000"/>
              <a:t>Community-led UGC &amp; feedback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4706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668" y="457200"/>
            <a:ext cx="4572000" cy="292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E8B89C"/>
                </a:solidFill>
                <a:latin typeface="Montserrat"/>
              </a:defRPr>
            </a:pPr>
            <a:r>
              <a:rPr sz="1100"/>
              <a:t>THE FORMULA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1668" y="914400"/>
            <a:ext cx="4572000" cy="113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200" b="1">
                <a:solidFill>
                  <a:srgbClr val="FFFFFF"/>
                </a:solidFill>
                <a:latin typeface="Playfair Display"/>
              </a:defRPr>
            </a:pPr>
            <a:r>
              <a:rPr sz="3200" dirty="0">
                <a:solidFill>
                  <a:srgbClr val="993300"/>
                </a:solidFill>
              </a:rPr>
              <a:t>Skincare Meets</a:t>
            </a:r>
            <a:br>
              <a:rPr sz="3200" dirty="0">
                <a:solidFill>
                  <a:srgbClr val="993300"/>
                </a:solidFill>
              </a:rPr>
            </a:br>
            <a:r>
              <a:rPr sz="3200" dirty="0">
                <a:solidFill>
                  <a:srgbClr val="993300"/>
                </a:solidFill>
              </a:rPr>
              <a:t>Makeup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668" y="2286000"/>
            <a:ext cx="4114800" cy="5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F9EFE8"/>
                </a:solidFill>
                <a:latin typeface="Poppins"/>
              </a:defRPr>
            </a:pPr>
            <a:r>
              <a:rPr sz="1100" dirty="0">
                <a:solidFill>
                  <a:srgbClr val="4A2315"/>
                </a:solidFill>
              </a:rPr>
              <a:t>Not just color, but care. Each product is powered by skin-loving actives that Indian skin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70868" y="731520"/>
            <a:ext cx="2651760" cy="2377440"/>
          </a:xfrm>
          <a:prstGeom prst="roundRect">
            <a:avLst/>
          </a:prstGeom>
          <a:solidFill>
            <a:srgbClr val="4A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5188" y="1188720"/>
            <a:ext cx="2103120" cy="292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sz="1100"/>
              <a:t>PEPTIDES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5188" y="1554481"/>
            <a:ext cx="2103120" cy="27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785A46"/>
                </a:solidFill>
                <a:latin typeface="Poppins"/>
              </a:defRPr>
            </a:pPr>
            <a:r>
              <a:rPr sz="1000"/>
              <a:t>Firm &amp; Repair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5188" y="2011680"/>
            <a:ext cx="2103120" cy="41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50" b="0">
                <a:solidFill>
                  <a:srgbClr val="505050"/>
                </a:solidFill>
                <a:latin typeface="Poppins"/>
              </a:defRPr>
            </a:pPr>
            <a:r>
              <a:rPr sz="850" dirty="0">
                <a:solidFill>
                  <a:schemeClr val="bg1"/>
                </a:solidFill>
              </a:rPr>
              <a:t>✓ Skin barrier support</a:t>
            </a:r>
            <a:br>
              <a:rPr sz="850" dirty="0">
                <a:solidFill>
                  <a:schemeClr val="bg1"/>
                </a:solidFill>
              </a:rPr>
            </a:br>
            <a:r>
              <a:rPr sz="850" dirty="0">
                <a:solidFill>
                  <a:schemeClr val="bg1"/>
                </a:solidFill>
              </a:rPr>
              <a:t>✓ Suitable for Indian climate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6948" y="731520"/>
            <a:ext cx="2651760" cy="2377440"/>
          </a:xfrm>
          <a:prstGeom prst="roundRect">
            <a:avLst/>
          </a:prstGeom>
          <a:solidFill>
            <a:srgbClr val="4A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71268" y="1188720"/>
            <a:ext cx="2103120" cy="292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sz="1100"/>
              <a:t>HYALURONIC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1268" y="1554481"/>
            <a:ext cx="2103120" cy="27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785A46"/>
                </a:solidFill>
                <a:latin typeface="Poppins"/>
              </a:defRPr>
            </a:pPr>
            <a:r>
              <a:rPr sz="1000"/>
              <a:t>Deep Hydration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1268" y="2011680"/>
            <a:ext cx="2103120" cy="41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50" b="0">
                <a:solidFill>
                  <a:srgbClr val="505050"/>
                </a:solidFill>
                <a:latin typeface="Poppins"/>
              </a:defRPr>
            </a:pPr>
            <a:r>
              <a:rPr sz="850" dirty="0">
                <a:solidFill>
                  <a:schemeClr val="bg1"/>
                </a:solidFill>
              </a:rPr>
              <a:t>✓ Skin barrier support</a:t>
            </a:r>
            <a:br>
              <a:rPr sz="850" dirty="0">
                <a:solidFill>
                  <a:schemeClr val="bg1"/>
                </a:solidFill>
              </a:rPr>
            </a:br>
            <a:r>
              <a:rPr sz="850" dirty="0">
                <a:solidFill>
                  <a:schemeClr val="bg1"/>
                </a:solidFill>
              </a:rPr>
              <a:t>✓ Suitable for Indian climate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70868" y="3474720"/>
            <a:ext cx="2651760" cy="2377440"/>
          </a:xfrm>
          <a:prstGeom prst="roundRect">
            <a:avLst/>
          </a:prstGeom>
          <a:solidFill>
            <a:srgbClr val="4A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5188" y="3931920"/>
            <a:ext cx="2103120" cy="292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sz="1100"/>
              <a:t>SHEA BUTTER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5188" y="4297681"/>
            <a:ext cx="2103120" cy="27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785A46"/>
                </a:solidFill>
                <a:latin typeface="Poppins"/>
              </a:defRPr>
            </a:pPr>
            <a:r>
              <a:rPr sz="1000"/>
              <a:t>Nourish &amp; Soften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5188" y="4754879"/>
            <a:ext cx="2103120" cy="41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50" b="0">
                <a:solidFill>
                  <a:srgbClr val="505050"/>
                </a:solidFill>
                <a:latin typeface="Poppins"/>
              </a:defRPr>
            </a:pPr>
            <a:r>
              <a:rPr sz="850" dirty="0">
                <a:solidFill>
                  <a:schemeClr val="bg1"/>
                </a:solidFill>
              </a:rPr>
              <a:t>✓ Skin barrier support</a:t>
            </a:r>
            <a:br>
              <a:rPr sz="850" dirty="0">
                <a:solidFill>
                  <a:schemeClr val="bg1"/>
                </a:solidFill>
              </a:rPr>
            </a:br>
            <a:r>
              <a:rPr sz="850" dirty="0">
                <a:solidFill>
                  <a:schemeClr val="bg1"/>
                </a:solidFill>
              </a:rPr>
              <a:t>✓ Suitable for Indian climate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6948" y="3474720"/>
            <a:ext cx="2651760" cy="2377440"/>
          </a:xfrm>
          <a:prstGeom prst="roundRect">
            <a:avLst/>
          </a:prstGeom>
          <a:solidFill>
            <a:srgbClr val="4A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71268" y="3931920"/>
            <a:ext cx="2103120" cy="292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4A2314"/>
                </a:solidFill>
                <a:latin typeface="Montserrat"/>
              </a:defRPr>
            </a:pPr>
            <a:r>
              <a:rPr sz="1100"/>
              <a:t>KOKUM BUTTER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1268" y="4297681"/>
            <a:ext cx="2103120" cy="27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785A46"/>
                </a:solidFill>
                <a:latin typeface="Poppins"/>
              </a:defRPr>
            </a:pPr>
            <a:r>
              <a:rPr sz="1000"/>
              <a:t>Indian Superfood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1268" y="4754879"/>
            <a:ext cx="2103120" cy="41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50" b="0">
                <a:solidFill>
                  <a:srgbClr val="505050"/>
                </a:solidFill>
                <a:latin typeface="Poppins"/>
              </a:defRPr>
            </a:pPr>
            <a:r>
              <a:rPr sz="850" dirty="0">
                <a:solidFill>
                  <a:schemeClr val="bg1"/>
                </a:solidFill>
              </a:rPr>
              <a:t>✓ Skin barrier support</a:t>
            </a:r>
            <a:br>
              <a:rPr sz="850" dirty="0">
                <a:solidFill>
                  <a:schemeClr val="bg1"/>
                </a:solidFill>
              </a:rPr>
            </a:br>
            <a:r>
              <a:rPr sz="850" dirty="0">
                <a:solidFill>
                  <a:schemeClr val="bg1"/>
                </a:solidFill>
              </a:rPr>
              <a:t>✓ Suitable for Indian climate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080046"/>
            <a:ext cx="483483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IDEA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322933"/>
            <a:ext cx="4834830" cy="8399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8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Strategy — #MruchaCircle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533400" y="2314575"/>
            <a:ext cx="4838700" cy="1066800"/>
          </a:xfrm>
          <a:prstGeom prst="roundRect">
            <a:avLst>
              <a:gd name="adj" fmla="val 17857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10983" y="2029569"/>
            <a:ext cx="1143000" cy="1143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534394"/>
            <a:ext cx="437763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113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HOOK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33400" y="3561011"/>
            <a:ext cx="483483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kern="0" spc="99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2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03898"/>
            <a:ext cx="4834830" cy="597694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950345"/>
            <a:ext cx="304800" cy="304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5375" y="3937248"/>
            <a:ext cx="159008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— Primary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1095375" y="4122986"/>
            <a:ext cx="1590080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Reels, Stories, Carousels, UGC</a:t>
            </a:r>
            <a:endParaRPr lang="en-US" sz="863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496842"/>
            <a:ext cx="4834830" cy="597694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4643289"/>
            <a:ext cx="304800" cy="304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5375" y="4630192"/>
            <a:ext cx="1476673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— Founder-led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1095375" y="4815929"/>
            <a:ext cx="1476673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GRWM tutorials, shade story</a:t>
            </a:r>
            <a:endParaRPr lang="en-US" sz="863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189786"/>
            <a:ext cx="4834830" cy="597694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5336232"/>
            <a:ext cx="304800" cy="3048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095375" y="5323136"/>
            <a:ext cx="183207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r/IndianMakeupAddicts</a:t>
            </a:r>
            <a:endParaRPr lang="en-US" sz="975" dirty="0"/>
          </a:p>
        </p:txBody>
      </p:sp>
      <p:sp>
        <p:nvSpPr>
          <p:cNvPr id="19" name="Text 11"/>
          <p:cNvSpPr txBox="1"/>
          <p:nvPr/>
        </p:nvSpPr>
        <p:spPr>
          <a:xfrm>
            <a:off x="1095375" y="5508873"/>
            <a:ext cx="1832074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feedback loop</a:t>
            </a:r>
            <a:endParaRPr lang="en-US" sz="863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0630" y="765721"/>
            <a:ext cx="6366421" cy="532655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006405" y="1339602"/>
            <a:ext cx="3257401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Content Buckets — Your Shade, Your Story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9073" y="1308646"/>
            <a:ext cx="482203" cy="252413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1014323" y="1365796"/>
            <a:ext cx="29170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MIX</a:t>
            </a:r>
            <a:endParaRPr lang="en-US" sz="825" dirty="0"/>
          </a:p>
        </p:txBody>
      </p:sp>
      <p:sp>
        <p:nvSpPr>
          <p:cNvPr id="24" name="Text 14"/>
          <p:cNvSpPr txBox="1"/>
          <p:nvPr/>
        </p:nvSpPr>
        <p:spPr>
          <a:xfrm>
            <a:off x="6158805" y="1722983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Educational</a:t>
            </a:r>
            <a:endParaRPr lang="en-US" sz="975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6405" y="1768227"/>
            <a:ext cx="76200" cy="762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010275" y="17716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6"/>
          <p:cNvSpPr txBox="1"/>
          <p:nvPr/>
        </p:nvSpPr>
        <p:spPr>
          <a:xfrm>
            <a:off x="6006405" y="1927771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Ingredients, layering, tone-match</a:t>
            </a:r>
            <a:endParaRPr lang="en-US" sz="863" dirty="0"/>
          </a:p>
        </p:txBody>
      </p:sp>
      <p:sp>
        <p:nvSpPr>
          <p:cNvPr id="28" name="Shape 17"/>
          <p:cNvSpPr/>
          <p:nvPr/>
        </p:nvSpPr>
        <p:spPr>
          <a:xfrm>
            <a:off x="6010275" y="2124075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18"/>
          <p:cNvSpPr/>
          <p:nvPr/>
        </p:nvSpPr>
        <p:spPr>
          <a:xfrm>
            <a:off x="6010275" y="2124075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19"/>
          <p:cNvSpPr txBox="1"/>
          <p:nvPr/>
        </p:nvSpPr>
        <p:spPr>
          <a:xfrm>
            <a:off x="10867876" y="1831330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6158805" y="2282577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Community</a:t>
            </a:r>
            <a:endParaRPr lang="en-US" sz="975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6405" y="2327821"/>
            <a:ext cx="76200" cy="762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010275" y="232410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2"/>
          <p:cNvSpPr txBox="1"/>
          <p:nvPr/>
        </p:nvSpPr>
        <p:spPr>
          <a:xfrm>
            <a:off x="6006405" y="2487364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UGC, Mrucha Circle spotlights</a:t>
            </a:r>
            <a:endParaRPr lang="en-US" sz="863" dirty="0"/>
          </a:p>
        </p:txBody>
      </p:sp>
      <p:sp>
        <p:nvSpPr>
          <p:cNvPr id="35" name="Shape 23"/>
          <p:cNvSpPr/>
          <p:nvPr/>
        </p:nvSpPr>
        <p:spPr>
          <a:xfrm>
            <a:off x="6010275" y="2676525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4"/>
          <p:cNvSpPr/>
          <p:nvPr/>
        </p:nvSpPr>
        <p:spPr>
          <a:xfrm>
            <a:off x="6010275" y="2676525"/>
            <a:ext cx="3943350" cy="57150"/>
          </a:xfrm>
          <a:prstGeom prst="roundRect">
            <a:avLst>
              <a:gd name="adj" fmla="val 1666667"/>
            </a:avLst>
          </a:prstGeom>
          <a:solidFill>
            <a:srgbClr val="D18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25"/>
          <p:cNvSpPr txBox="1"/>
          <p:nvPr/>
        </p:nvSpPr>
        <p:spPr>
          <a:xfrm>
            <a:off x="10867876" y="2390924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6158805" y="2842171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Entertainment</a:t>
            </a:r>
            <a:endParaRPr lang="en-US" sz="975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6405" y="2887414"/>
            <a:ext cx="76200" cy="7620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6010275" y="288607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8"/>
          <p:cNvSpPr txBox="1"/>
          <p:nvPr/>
        </p:nvSpPr>
        <p:spPr>
          <a:xfrm>
            <a:off x="6006405" y="3046958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Trending reels, meme relatability</a:t>
            </a:r>
            <a:endParaRPr lang="en-US" sz="863" dirty="0"/>
          </a:p>
        </p:txBody>
      </p:sp>
      <p:sp>
        <p:nvSpPr>
          <p:cNvPr id="42" name="Shape 29"/>
          <p:cNvSpPr/>
          <p:nvPr/>
        </p:nvSpPr>
        <p:spPr>
          <a:xfrm>
            <a:off x="6010275" y="3238500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30"/>
          <p:cNvSpPr/>
          <p:nvPr/>
        </p:nvSpPr>
        <p:spPr>
          <a:xfrm>
            <a:off x="6010275" y="3238500"/>
            <a:ext cx="3133725" cy="57150"/>
          </a:xfrm>
          <a:prstGeom prst="roundRect">
            <a:avLst>
              <a:gd name="adj" fmla="val 1666667"/>
            </a:avLst>
          </a:prstGeom>
          <a:solidFill>
            <a:srgbClr val="E6B3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1"/>
          <p:cNvSpPr txBox="1"/>
          <p:nvPr/>
        </p:nvSpPr>
        <p:spPr>
          <a:xfrm>
            <a:off x="10867876" y="2950518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1500" dirty="0"/>
          </a:p>
        </p:txBody>
      </p:sp>
      <p:sp>
        <p:nvSpPr>
          <p:cNvPr id="45" name="Text 32"/>
          <p:cNvSpPr txBox="1"/>
          <p:nvPr/>
        </p:nvSpPr>
        <p:spPr>
          <a:xfrm>
            <a:off x="6158805" y="3401764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Product Edu</a:t>
            </a:r>
            <a:endParaRPr lang="en-US" sz="975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6405" y="3447008"/>
            <a:ext cx="76200" cy="7620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010275" y="34480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4"/>
          <p:cNvSpPr txBox="1"/>
          <p:nvPr/>
        </p:nvSpPr>
        <p:spPr>
          <a:xfrm>
            <a:off x="6006405" y="3606552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Launches: Freckle Pen, Aura</a:t>
            </a:r>
            <a:endParaRPr lang="en-US" sz="863" dirty="0"/>
          </a:p>
        </p:txBody>
      </p:sp>
      <p:sp>
        <p:nvSpPr>
          <p:cNvPr id="49" name="Shape 35"/>
          <p:cNvSpPr/>
          <p:nvPr/>
        </p:nvSpPr>
        <p:spPr>
          <a:xfrm>
            <a:off x="6010275" y="3800475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36"/>
          <p:cNvSpPr/>
          <p:nvPr/>
        </p:nvSpPr>
        <p:spPr>
          <a:xfrm>
            <a:off x="6010275" y="3800475"/>
            <a:ext cx="2371725" cy="57150"/>
          </a:xfrm>
          <a:prstGeom prst="roundRect">
            <a:avLst>
              <a:gd name="adj" fmla="val 1666667"/>
            </a:avLst>
          </a:prstGeom>
          <a:solidFill>
            <a:srgbClr val="D6C0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37"/>
          <p:cNvSpPr txBox="1"/>
          <p:nvPr/>
        </p:nvSpPr>
        <p:spPr>
          <a:xfrm>
            <a:off x="10867876" y="3510111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500" dirty="0"/>
          </a:p>
        </p:txBody>
      </p:sp>
      <p:sp>
        <p:nvSpPr>
          <p:cNvPr id="52" name="Text 38"/>
          <p:cNvSpPr txBox="1"/>
          <p:nvPr/>
        </p:nvSpPr>
        <p:spPr>
          <a:xfrm>
            <a:off x="6158805" y="3961358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BTS</a:t>
            </a:r>
            <a:endParaRPr lang="en-US" sz="975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6405" y="4006602"/>
            <a:ext cx="76200" cy="76200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6010275" y="40100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0"/>
          <p:cNvSpPr txBox="1"/>
          <p:nvPr/>
        </p:nvSpPr>
        <p:spPr>
          <a:xfrm>
            <a:off x="6006405" y="4166146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journey, feedback→launch</a:t>
            </a:r>
            <a:endParaRPr lang="en-US" sz="863" dirty="0"/>
          </a:p>
        </p:txBody>
      </p:sp>
      <p:sp>
        <p:nvSpPr>
          <p:cNvPr id="56" name="Shape 41"/>
          <p:cNvSpPr/>
          <p:nvPr/>
        </p:nvSpPr>
        <p:spPr>
          <a:xfrm>
            <a:off x="6010275" y="4362450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42"/>
          <p:cNvSpPr/>
          <p:nvPr/>
        </p:nvSpPr>
        <p:spPr>
          <a:xfrm>
            <a:off x="6010275" y="4362450"/>
            <a:ext cx="1562100" cy="57150"/>
          </a:xfrm>
          <a:prstGeom prst="roundRect">
            <a:avLst>
              <a:gd name="adj" fmla="val 1666667"/>
            </a:avLst>
          </a:prstGeom>
          <a:solidFill>
            <a:srgbClr val="E8D9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43"/>
          <p:cNvSpPr txBox="1"/>
          <p:nvPr/>
        </p:nvSpPr>
        <p:spPr>
          <a:xfrm>
            <a:off x="10867876" y="4069705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1500" dirty="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6405" y="4587627"/>
            <a:ext cx="5394871" cy="419100"/>
          </a:xfrm>
          <a:prstGeom prst="rect">
            <a:avLst/>
          </a:prstGeom>
        </p:spPr>
      </p:pic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9280" y="4711452"/>
            <a:ext cx="171450" cy="171450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6396930" y="4717107"/>
            <a:ext cx="3155305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sz="90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brand equity beyond founder via UGC + Circle.</a:t>
            </a:r>
            <a:endParaRPr lang="en-US" sz="900" dirty="0"/>
          </a:p>
        </p:txBody>
      </p:sp>
      <p:sp>
        <p:nvSpPr>
          <p:cNvPr id="62" name="Text 45"/>
          <p:cNvSpPr txBox="1"/>
          <p:nvPr/>
        </p:nvSpPr>
        <p:spPr>
          <a:xfrm>
            <a:off x="762000" y="2734419"/>
            <a:ext cx="4377630" cy="4360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“Makeup that loves your skin back. Skincare-infused. Made for your tone. Built with you.”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150" y="276225"/>
            <a:ext cx="392846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CALENDAR — 15 DIN KA PLAN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481012"/>
            <a:ext cx="3928467" cy="3600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Storytelling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504" y="576709"/>
            <a:ext cx="860673" cy="2643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92939" y="643384"/>
            <a:ext cx="506462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IG Primary</a:t>
            </a:r>
            <a:endParaRPr lang="en-US" sz="78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8279" y="658862"/>
            <a:ext cx="87511" cy="10001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0377" y="576709"/>
            <a:ext cx="915591" cy="26431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954816" y="643384"/>
            <a:ext cx="536377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YT / Reddit</a:t>
            </a:r>
            <a:endParaRPr lang="en-US" sz="788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5152" y="658862"/>
            <a:ext cx="112514" cy="100013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2167" y="576709"/>
            <a:ext cx="1081683" cy="264319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0776942" y="643384"/>
            <a:ext cx="872133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UGC + Edu</a:t>
            </a:r>
            <a:endParaRPr lang="en-US" sz="788" dirty="0"/>
          </a:p>
        </p:txBody>
      </p:sp>
      <p:sp>
        <p:nvSpPr>
          <p:cNvPr id="12" name="Shape 5"/>
          <p:cNvSpPr/>
          <p:nvPr/>
        </p:nvSpPr>
        <p:spPr>
          <a:xfrm>
            <a:off x="438150" y="971550"/>
            <a:ext cx="2190750" cy="1619250"/>
          </a:xfrm>
          <a:prstGeom prst="roundRect">
            <a:avLst>
              <a:gd name="adj" fmla="val 8235"/>
            </a:avLst>
          </a:prstGeom>
          <a:solidFill>
            <a:srgbClr val="4A2315"/>
          </a:solidFill>
          <a:ln/>
          <a:effectLst>
            <a:outerShdw blurRad="114300" dist="38100" dir="5400000" algn="bl" rotWithShape="0">
              <a:srgbClr val="4A2315">
                <a:alpha val="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1069628"/>
            <a:ext cx="509736" cy="20002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09600" y="1107728"/>
            <a:ext cx="37638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750" dirty="0"/>
          </a:p>
        </p:txBody>
      </p:sp>
      <p:sp>
        <p:nvSpPr>
          <p:cNvPr id="15" name="Text 7"/>
          <p:cNvSpPr txBox="1"/>
          <p:nvPr/>
        </p:nvSpPr>
        <p:spPr>
          <a:xfrm>
            <a:off x="688181" y="1561951"/>
            <a:ext cx="183966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• 30S</a:t>
            </a:r>
            <a:endParaRPr lang="en-US" sz="7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1576239"/>
            <a:ext cx="107156" cy="9525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42925" y="1959173"/>
            <a:ext cx="198492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Lipstick skincare bhi hona chahiye</a:t>
            </a:r>
            <a:endParaRPr lang="en-US" sz="863" dirty="0"/>
          </a:p>
        </p:txBody>
      </p:sp>
      <p:sp>
        <p:nvSpPr>
          <p:cNvPr id="18" name="Text 9"/>
          <p:cNvSpPr txBox="1"/>
          <p:nvPr/>
        </p:nvSpPr>
        <p:spPr>
          <a:xfrm>
            <a:off x="542925" y="2370683"/>
            <a:ext cx="198492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Peptides demo hook</a:t>
            </a:r>
            <a:endParaRPr lang="en-US" sz="788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4046" y="821978"/>
            <a:ext cx="2423220" cy="1926282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2646" y="1079153"/>
            <a:ext cx="528340" cy="20002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2899321" y="1117253"/>
            <a:ext cx="39499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</a:t>
            </a:r>
            <a:endParaRPr lang="en-US" sz="750" dirty="0"/>
          </a:p>
        </p:txBody>
      </p:sp>
      <p:sp>
        <p:nvSpPr>
          <p:cNvPr id="22" name="Text 11"/>
          <p:cNvSpPr txBox="1"/>
          <p:nvPr/>
        </p:nvSpPr>
        <p:spPr>
          <a:xfrm>
            <a:off x="2954089" y="1565225"/>
            <a:ext cx="184457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STORY POLL</a:t>
            </a:r>
            <a:endParaRPr lang="en-US" sz="75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32646" y="1579513"/>
            <a:ext cx="83344" cy="9525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2832646" y="1955899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Brew vs Sparkling?</a:t>
            </a:r>
            <a:endParaRPr lang="en-US" sz="863" dirty="0"/>
          </a:p>
        </p:txBody>
      </p:sp>
      <p:sp>
        <p:nvSpPr>
          <p:cNvPr id="25" name="Text 13"/>
          <p:cNvSpPr txBox="1"/>
          <p:nvPr/>
        </p:nvSpPr>
        <p:spPr>
          <a:xfrm>
            <a:off x="2832646" y="2361158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Shade vibe poll</a:t>
            </a:r>
            <a:endParaRPr lang="en-US" sz="788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84390" y="821978"/>
            <a:ext cx="2423071" cy="1926282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2990" y="1079153"/>
            <a:ext cx="530126" cy="200025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5179665" y="1117253"/>
            <a:ext cx="39677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</a:t>
            </a:r>
            <a:endParaRPr lang="en-US" sz="750" dirty="0"/>
          </a:p>
        </p:txBody>
      </p:sp>
      <p:sp>
        <p:nvSpPr>
          <p:cNvPr id="29" name="Text 15"/>
          <p:cNvSpPr txBox="1"/>
          <p:nvPr/>
        </p:nvSpPr>
        <p:spPr>
          <a:xfrm>
            <a:off x="5258246" y="1565225"/>
            <a:ext cx="18206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CAROUSEL</a:t>
            </a:r>
            <a:endParaRPr lang="en-US" sz="75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2990" y="1579513"/>
            <a:ext cx="107156" cy="9525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5112990" y="1955899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ingredients in lip</a:t>
            </a:r>
            <a:endParaRPr lang="en-US" sz="863" dirty="0"/>
          </a:p>
        </p:txBody>
      </p:sp>
      <p:sp>
        <p:nvSpPr>
          <p:cNvPr id="32" name="Text 17"/>
          <p:cNvSpPr txBox="1"/>
          <p:nvPr/>
        </p:nvSpPr>
        <p:spPr>
          <a:xfrm>
            <a:off x="5112990" y="2361158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 breakdown</a:t>
            </a:r>
            <a:endParaRPr lang="en-US" sz="788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64586" y="821978"/>
            <a:ext cx="2423220" cy="1926282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3186" y="1079153"/>
            <a:ext cx="533251" cy="200025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7459861" y="1117253"/>
            <a:ext cx="39990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04</a:t>
            </a:r>
            <a:endParaRPr lang="en-US" sz="750" dirty="0"/>
          </a:p>
        </p:txBody>
      </p:sp>
      <p:sp>
        <p:nvSpPr>
          <p:cNvPr id="36" name="Text 19"/>
          <p:cNvSpPr txBox="1"/>
          <p:nvPr/>
        </p:nvSpPr>
        <p:spPr>
          <a:xfrm>
            <a:off x="7550348" y="1565225"/>
            <a:ext cx="180885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UGC</a:t>
            </a:r>
            <a:endParaRPr lang="en-US" sz="75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93186" y="1579513"/>
            <a:ext cx="119063" cy="95250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7393186" y="1955899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Circle speaks</a:t>
            </a:r>
            <a:endParaRPr lang="en-US" sz="863" dirty="0"/>
          </a:p>
        </p:txBody>
      </p:sp>
      <p:sp>
        <p:nvSpPr>
          <p:cNvPr id="39" name="Text 21"/>
          <p:cNvSpPr txBox="1"/>
          <p:nvPr/>
        </p:nvSpPr>
        <p:spPr>
          <a:xfrm>
            <a:off x="7393186" y="2361158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comp</a:t>
            </a:r>
            <a:endParaRPr lang="en-US" sz="788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44930" y="821978"/>
            <a:ext cx="2423071" cy="1926282"/>
          </a:xfrm>
          <a:prstGeom prst="rect">
            <a:avLst/>
          </a:prstGeom>
        </p:spPr>
      </p:pic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73530" y="1079153"/>
            <a:ext cx="528042" cy="200025"/>
          </a:xfrm>
          <a:prstGeom prst="rect">
            <a:avLst/>
          </a:prstGeom>
        </p:spPr>
      </p:pic>
      <p:sp>
        <p:nvSpPr>
          <p:cNvPr id="42" name="Text 22"/>
          <p:cNvSpPr txBox="1"/>
          <p:nvPr/>
        </p:nvSpPr>
        <p:spPr>
          <a:xfrm>
            <a:off x="9740205" y="1117253"/>
            <a:ext cx="39469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05</a:t>
            </a:r>
            <a:endParaRPr lang="en-US" sz="750" dirty="0"/>
          </a:p>
        </p:txBody>
      </p:sp>
      <p:sp>
        <p:nvSpPr>
          <p:cNvPr id="43" name="Text 23"/>
          <p:cNvSpPr txBox="1"/>
          <p:nvPr/>
        </p:nvSpPr>
        <p:spPr>
          <a:xfrm>
            <a:off x="9818787" y="1565225"/>
            <a:ext cx="18206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YT SHORT</a:t>
            </a:r>
            <a:endParaRPr lang="en-US" sz="75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3530" y="1579513"/>
            <a:ext cx="107156" cy="95250"/>
          </a:xfrm>
          <a:prstGeom prst="rect">
            <a:avLst/>
          </a:prstGeom>
        </p:spPr>
      </p:pic>
      <p:sp>
        <p:nvSpPr>
          <p:cNvPr id="45" name="Text 24"/>
          <p:cNvSpPr txBox="1"/>
          <p:nvPr/>
        </p:nvSpPr>
        <p:spPr>
          <a:xfrm>
            <a:off x="9673530" y="1955899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se shade</a:t>
            </a:r>
            <a:endParaRPr lang="en-US" sz="863" dirty="0"/>
          </a:p>
        </p:txBody>
      </p:sp>
      <p:sp>
        <p:nvSpPr>
          <p:cNvPr id="46" name="Text 25"/>
          <p:cNvSpPr txBox="1"/>
          <p:nvPr/>
        </p:nvSpPr>
        <p:spPr>
          <a:xfrm>
            <a:off x="9673530" y="2361158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story</a:t>
            </a:r>
            <a:endParaRPr lang="en-US" sz="788" dirty="0"/>
          </a:p>
        </p:txBody>
      </p:sp>
      <p:pic>
        <p:nvPicPr>
          <p:cNvPr id="47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3850" y="2529185"/>
            <a:ext cx="2423071" cy="1926282"/>
          </a:xfrm>
          <a:prstGeom prst="rect">
            <a:avLst/>
          </a:prstGeom>
        </p:spPr>
      </p:pic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450" y="2786360"/>
            <a:ext cx="530572" cy="200025"/>
          </a:xfrm>
          <a:prstGeom prst="rect">
            <a:avLst/>
          </a:prstGeom>
        </p:spPr>
      </p:pic>
      <p:sp>
        <p:nvSpPr>
          <p:cNvPr id="49" name="Text 26"/>
          <p:cNvSpPr txBox="1"/>
          <p:nvPr/>
        </p:nvSpPr>
        <p:spPr>
          <a:xfrm>
            <a:off x="619125" y="2824460"/>
            <a:ext cx="39722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06</a:t>
            </a:r>
            <a:endParaRPr lang="en-US" sz="750" dirty="0"/>
          </a:p>
        </p:txBody>
      </p:sp>
      <p:sp>
        <p:nvSpPr>
          <p:cNvPr id="50" name="Text 27"/>
          <p:cNvSpPr txBox="1"/>
          <p:nvPr/>
        </p:nvSpPr>
        <p:spPr>
          <a:xfrm>
            <a:off x="697706" y="3272433"/>
            <a:ext cx="18206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GRWM</a:t>
            </a:r>
            <a:endParaRPr lang="en-US" sz="750" dirty="0"/>
          </a:p>
        </p:txBody>
      </p:sp>
      <p:pic>
        <p:nvPicPr>
          <p:cNvPr id="51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2450" y="3286720"/>
            <a:ext cx="107156" cy="95250"/>
          </a:xfrm>
          <a:prstGeom prst="rect">
            <a:avLst/>
          </a:prstGeom>
        </p:spPr>
      </p:pic>
      <p:sp>
        <p:nvSpPr>
          <p:cNvPr id="52" name="Text 28"/>
          <p:cNvSpPr txBox="1"/>
          <p:nvPr/>
        </p:nvSpPr>
        <p:spPr>
          <a:xfrm>
            <a:off x="552450" y="3663107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Trending audio GRWM</a:t>
            </a:r>
            <a:endParaRPr lang="en-US" sz="863" dirty="0"/>
          </a:p>
        </p:txBody>
      </p:sp>
      <p:sp>
        <p:nvSpPr>
          <p:cNvPr id="53" name="Text 29"/>
          <p:cNvSpPr txBox="1"/>
          <p:nvPr/>
        </p:nvSpPr>
        <p:spPr>
          <a:xfrm>
            <a:off x="552450" y="4068366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place</a:t>
            </a:r>
            <a:endParaRPr lang="en-US" sz="788" dirty="0"/>
          </a:p>
        </p:txBody>
      </p:sp>
      <p:pic>
        <p:nvPicPr>
          <p:cNvPr id="5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04046" y="2529185"/>
            <a:ext cx="2423220" cy="1926282"/>
          </a:xfrm>
          <a:prstGeom prst="rect">
            <a:avLst/>
          </a:prstGeom>
        </p:spPr>
      </p:pic>
      <p:pic>
        <p:nvPicPr>
          <p:cNvPr id="55" name="Image 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32646" y="2786360"/>
            <a:ext cx="521791" cy="200025"/>
          </a:xfrm>
          <a:prstGeom prst="rect">
            <a:avLst/>
          </a:prstGeom>
        </p:spPr>
      </p:pic>
      <p:sp>
        <p:nvSpPr>
          <p:cNvPr id="56" name="Text 30"/>
          <p:cNvSpPr txBox="1"/>
          <p:nvPr/>
        </p:nvSpPr>
        <p:spPr>
          <a:xfrm>
            <a:off x="2899321" y="2824460"/>
            <a:ext cx="38844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07</a:t>
            </a:r>
            <a:endParaRPr lang="en-US" sz="750" dirty="0"/>
          </a:p>
        </p:txBody>
      </p:sp>
      <p:sp>
        <p:nvSpPr>
          <p:cNvPr id="57" name="Text 31"/>
          <p:cNvSpPr txBox="1"/>
          <p:nvPr/>
        </p:nvSpPr>
        <p:spPr>
          <a:xfrm>
            <a:off x="2965996" y="3272433"/>
            <a:ext cx="18326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CAROUSEL</a:t>
            </a:r>
            <a:endParaRPr lang="en-US" sz="750" dirty="0"/>
          </a:p>
        </p:txBody>
      </p:sp>
      <p:pic>
        <p:nvPicPr>
          <p:cNvPr id="58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32646" y="3286720"/>
            <a:ext cx="95250" cy="95250"/>
          </a:xfrm>
          <a:prstGeom prst="rect">
            <a:avLst/>
          </a:prstGeom>
        </p:spPr>
      </p:pic>
      <p:sp>
        <p:nvSpPr>
          <p:cNvPr id="59" name="Text 32"/>
          <p:cNvSpPr txBox="1"/>
          <p:nvPr/>
        </p:nvSpPr>
        <p:spPr>
          <a:xfrm>
            <a:off x="2832646" y="3663107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Aura Palette 3 looks</a:t>
            </a:r>
            <a:endParaRPr lang="en-US" sz="863" dirty="0"/>
          </a:p>
        </p:txBody>
      </p:sp>
      <p:sp>
        <p:nvSpPr>
          <p:cNvPr id="60" name="Text 33"/>
          <p:cNvSpPr txBox="1"/>
          <p:nvPr/>
        </p:nvSpPr>
        <p:spPr>
          <a:xfrm>
            <a:off x="2832646" y="4068366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to night</a:t>
            </a:r>
            <a:endParaRPr lang="en-US" sz="788" dirty="0"/>
          </a:p>
        </p:txBody>
      </p:sp>
      <p:pic>
        <p:nvPicPr>
          <p:cNvPr id="61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84390" y="2529185"/>
            <a:ext cx="2423071" cy="1926282"/>
          </a:xfrm>
          <a:prstGeom prst="rect">
            <a:avLst/>
          </a:prstGeom>
        </p:spPr>
      </p:pic>
      <p:pic>
        <p:nvPicPr>
          <p:cNvPr id="62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2990" y="2786360"/>
            <a:ext cx="530870" cy="200025"/>
          </a:xfrm>
          <a:prstGeom prst="rect">
            <a:avLst/>
          </a:prstGeom>
        </p:spPr>
      </p:pic>
      <p:sp>
        <p:nvSpPr>
          <p:cNvPr id="63" name="Text 34"/>
          <p:cNvSpPr txBox="1"/>
          <p:nvPr/>
        </p:nvSpPr>
        <p:spPr>
          <a:xfrm>
            <a:off x="5179665" y="2824460"/>
            <a:ext cx="39752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08</a:t>
            </a:r>
            <a:endParaRPr lang="en-US" sz="750" dirty="0"/>
          </a:p>
        </p:txBody>
      </p:sp>
      <p:sp>
        <p:nvSpPr>
          <p:cNvPr id="64" name="Text 35"/>
          <p:cNvSpPr txBox="1"/>
          <p:nvPr/>
        </p:nvSpPr>
        <p:spPr>
          <a:xfrm>
            <a:off x="5270153" y="3272433"/>
            <a:ext cx="180870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STORY Q&amp;A</a:t>
            </a:r>
            <a:endParaRPr lang="en-US" sz="750" dirty="0"/>
          </a:p>
        </p:txBody>
      </p:sp>
      <p:pic>
        <p:nvPicPr>
          <p:cNvPr id="65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12990" y="3286720"/>
            <a:ext cx="119063" cy="95250"/>
          </a:xfrm>
          <a:prstGeom prst="rect">
            <a:avLst/>
          </a:prstGeom>
        </p:spPr>
      </p:pic>
      <p:sp>
        <p:nvSpPr>
          <p:cNvPr id="66" name="Text 36"/>
          <p:cNvSpPr txBox="1"/>
          <p:nvPr/>
        </p:nvSpPr>
        <p:spPr>
          <a:xfrm>
            <a:off x="5112990" y="3663107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Mrunu anything</a:t>
            </a:r>
            <a:endParaRPr lang="en-US" sz="863" dirty="0"/>
          </a:p>
        </p:txBody>
      </p:sp>
      <p:sp>
        <p:nvSpPr>
          <p:cNvPr id="67" name="Text 37"/>
          <p:cNvSpPr txBox="1"/>
          <p:nvPr/>
        </p:nvSpPr>
        <p:spPr>
          <a:xfrm>
            <a:off x="5112990" y="4068366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Skincare-makeup</a:t>
            </a:r>
            <a:endParaRPr lang="en-US" sz="788" dirty="0"/>
          </a:p>
        </p:txBody>
      </p:sp>
      <p:pic>
        <p:nvPicPr>
          <p:cNvPr id="68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64586" y="2529185"/>
            <a:ext cx="2423220" cy="1926282"/>
          </a:xfrm>
          <a:prstGeom prst="rect">
            <a:avLst/>
          </a:prstGeom>
        </p:spPr>
      </p:pic>
      <p:pic>
        <p:nvPicPr>
          <p:cNvPr id="69" name="Image 2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3186" y="2786360"/>
            <a:ext cx="530572" cy="200025"/>
          </a:xfrm>
          <a:prstGeom prst="rect">
            <a:avLst/>
          </a:prstGeom>
        </p:spPr>
      </p:pic>
      <p:sp>
        <p:nvSpPr>
          <p:cNvPr id="70" name="Text 38"/>
          <p:cNvSpPr txBox="1"/>
          <p:nvPr/>
        </p:nvSpPr>
        <p:spPr>
          <a:xfrm>
            <a:off x="7459861" y="2824460"/>
            <a:ext cx="39722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09</a:t>
            </a:r>
            <a:endParaRPr lang="en-US" sz="750" dirty="0"/>
          </a:p>
        </p:txBody>
      </p:sp>
      <p:sp>
        <p:nvSpPr>
          <p:cNvPr id="71" name="Text 39"/>
          <p:cNvSpPr txBox="1"/>
          <p:nvPr/>
        </p:nvSpPr>
        <p:spPr>
          <a:xfrm>
            <a:off x="7526536" y="3272433"/>
            <a:ext cx="18326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B/A</a:t>
            </a:r>
            <a:endParaRPr lang="en-US" sz="750" dirty="0"/>
          </a:p>
        </p:txBody>
      </p:sp>
      <p:pic>
        <p:nvPicPr>
          <p:cNvPr id="7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93186" y="3286720"/>
            <a:ext cx="95250" cy="95250"/>
          </a:xfrm>
          <a:prstGeom prst="rect">
            <a:avLst/>
          </a:prstGeom>
        </p:spPr>
      </p:pic>
      <p:sp>
        <p:nvSpPr>
          <p:cNvPr id="73" name="Text 40"/>
          <p:cNvSpPr txBox="1"/>
          <p:nvPr/>
        </p:nvSpPr>
        <p:spPr>
          <a:xfrm>
            <a:off x="7393186" y="3663107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Before/After lips</a:t>
            </a:r>
            <a:endParaRPr lang="en-US" sz="863" dirty="0"/>
          </a:p>
        </p:txBody>
      </p:sp>
      <p:sp>
        <p:nvSpPr>
          <p:cNvPr id="74" name="Text 41"/>
          <p:cNvSpPr txBox="1"/>
          <p:nvPr/>
        </p:nvSpPr>
        <p:spPr>
          <a:xfrm>
            <a:off x="7393186" y="4068366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Melts transform</a:t>
            </a:r>
            <a:endParaRPr lang="en-US" sz="788" dirty="0"/>
          </a:p>
        </p:txBody>
      </p:sp>
      <p:pic>
        <p:nvPicPr>
          <p:cNvPr id="75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44930" y="2529185"/>
            <a:ext cx="2423071" cy="1926282"/>
          </a:xfrm>
          <a:prstGeom prst="rect">
            <a:avLst/>
          </a:prstGeom>
        </p:spPr>
      </p:pic>
      <p:pic>
        <p:nvPicPr>
          <p:cNvPr id="76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73530" y="2786360"/>
            <a:ext cx="509736" cy="200025"/>
          </a:xfrm>
          <a:prstGeom prst="rect">
            <a:avLst/>
          </a:prstGeom>
        </p:spPr>
      </p:pic>
      <p:sp>
        <p:nvSpPr>
          <p:cNvPr id="77" name="Text 42"/>
          <p:cNvSpPr txBox="1"/>
          <p:nvPr/>
        </p:nvSpPr>
        <p:spPr>
          <a:xfrm>
            <a:off x="9740205" y="2824460"/>
            <a:ext cx="37638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10</a:t>
            </a:r>
            <a:endParaRPr lang="en-US" sz="750" dirty="0"/>
          </a:p>
        </p:txBody>
      </p:sp>
      <p:sp>
        <p:nvSpPr>
          <p:cNvPr id="78" name="Text 43"/>
          <p:cNvSpPr txBox="1"/>
          <p:nvPr/>
        </p:nvSpPr>
        <p:spPr>
          <a:xfrm>
            <a:off x="9806880" y="3272433"/>
            <a:ext cx="18325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REDDIT</a:t>
            </a:r>
            <a:endParaRPr lang="en-US" sz="750" dirty="0"/>
          </a:p>
        </p:txBody>
      </p:sp>
      <p:pic>
        <p:nvPicPr>
          <p:cNvPr id="79" name="Image 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73530" y="3286720"/>
            <a:ext cx="95250" cy="95250"/>
          </a:xfrm>
          <a:prstGeom prst="rect">
            <a:avLst/>
          </a:prstGeom>
        </p:spPr>
      </p:pic>
      <p:sp>
        <p:nvSpPr>
          <p:cNvPr id="80" name="Text 44"/>
          <p:cNvSpPr txBox="1"/>
          <p:nvPr/>
        </p:nvSpPr>
        <p:spPr>
          <a:xfrm>
            <a:off x="9673530" y="3663107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suna, badla</a:t>
            </a:r>
            <a:endParaRPr lang="en-US" sz="863" dirty="0"/>
          </a:p>
        </p:txBody>
      </p:sp>
      <p:sp>
        <p:nvSpPr>
          <p:cNvPr id="81" name="Text 45"/>
          <p:cNvSpPr txBox="1"/>
          <p:nvPr/>
        </p:nvSpPr>
        <p:spPr>
          <a:xfrm>
            <a:off x="9673530" y="4068366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788" dirty="0"/>
          </a:p>
        </p:txBody>
      </p:sp>
      <p:pic>
        <p:nvPicPr>
          <p:cNvPr id="82" name="Image 3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3850" y="4236393"/>
            <a:ext cx="2423071" cy="1926282"/>
          </a:xfrm>
          <a:prstGeom prst="rect">
            <a:avLst/>
          </a:prstGeom>
        </p:spPr>
      </p:pic>
      <p:pic>
        <p:nvPicPr>
          <p:cNvPr id="83" name="Image 35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2450" y="4493568"/>
            <a:ext cx="485775" cy="200025"/>
          </a:xfrm>
          <a:prstGeom prst="rect">
            <a:avLst/>
          </a:prstGeom>
        </p:spPr>
      </p:pic>
      <p:sp>
        <p:nvSpPr>
          <p:cNvPr id="84" name="Text 46"/>
          <p:cNvSpPr txBox="1"/>
          <p:nvPr/>
        </p:nvSpPr>
        <p:spPr>
          <a:xfrm>
            <a:off x="619125" y="4531668"/>
            <a:ext cx="3524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11</a:t>
            </a:r>
            <a:endParaRPr lang="en-US" sz="750" dirty="0"/>
          </a:p>
        </p:txBody>
      </p:sp>
      <p:sp>
        <p:nvSpPr>
          <p:cNvPr id="85" name="Text 47"/>
          <p:cNvSpPr txBox="1"/>
          <p:nvPr/>
        </p:nvSpPr>
        <p:spPr>
          <a:xfrm>
            <a:off x="685800" y="4979640"/>
            <a:ext cx="18325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CAROUSEL</a:t>
            </a:r>
            <a:endParaRPr lang="en-US" sz="750" dirty="0"/>
          </a:p>
        </p:txBody>
      </p:sp>
      <p:pic>
        <p:nvPicPr>
          <p:cNvPr id="86" name="Image 36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52450" y="4993928"/>
            <a:ext cx="95250" cy="95250"/>
          </a:xfrm>
          <a:prstGeom prst="rect">
            <a:avLst/>
          </a:prstGeom>
        </p:spPr>
      </p:pic>
      <p:sp>
        <p:nvSpPr>
          <p:cNvPr id="87" name="Text 48"/>
          <p:cNvSpPr txBox="1"/>
          <p:nvPr/>
        </p:nvSpPr>
        <p:spPr>
          <a:xfrm>
            <a:off x="552450" y="5370314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Faces of Mrucha Circle</a:t>
            </a:r>
            <a:endParaRPr lang="en-US" sz="863" dirty="0"/>
          </a:p>
        </p:txBody>
      </p:sp>
      <p:sp>
        <p:nvSpPr>
          <p:cNvPr id="88" name="Text 49"/>
          <p:cNvSpPr txBox="1"/>
          <p:nvPr/>
        </p:nvSpPr>
        <p:spPr>
          <a:xfrm>
            <a:off x="552450" y="5775573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 spotlight</a:t>
            </a:r>
            <a:endParaRPr lang="en-US" sz="788" dirty="0"/>
          </a:p>
        </p:txBody>
      </p:sp>
      <p:pic>
        <p:nvPicPr>
          <p:cNvPr id="89" name="Image 3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04046" y="4236393"/>
            <a:ext cx="2423220" cy="1926282"/>
          </a:xfrm>
          <a:prstGeom prst="rect">
            <a:avLst/>
          </a:prstGeom>
        </p:spPr>
      </p:pic>
      <p:pic>
        <p:nvPicPr>
          <p:cNvPr id="90" name="Image 3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832646" y="4493568"/>
            <a:ext cx="504527" cy="200025"/>
          </a:xfrm>
          <a:prstGeom prst="rect">
            <a:avLst/>
          </a:prstGeom>
        </p:spPr>
      </p:pic>
      <p:sp>
        <p:nvSpPr>
          <p:cNvPr id="91" name="Text 50"/>
          <p:cNvSpPr txBox="1"/>
          <p:nvPr/>
        </p:nvSpPr>
        <p:spPr>
          <a:xfrm>
            <a:off x="2899321" y="4531668"/>
            <a:ext cx="37117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12</a:t>
            </a:r>
            <a:endParaRPr lang="en-US" sz="750" dirty="0"/>
          </a:p>
        </p:txBody>
      </p:sp>
      <p:sp>
        <p:nvSpPr>
          <p:cNvPr id="92" name="Text 51"/>
          <p:cNvSpPr txBox="1"/>
          <p:nvPr/>
        </p:nvSpPr>
        <p:spPr>
          <a:xfrm>
            <a:off x="2977902" y="4979640"/>
            <a:ext cx="182076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BTS</a:t>
            </a:r>
            <a:endParaRPr lang="en-US" sz="750" dirty="0"/>
          </a:p>
        </p:txBody>
      </p:sp>
      <p:pic>
        <p:nvPicPr>
          <p:cNvPr id="93" name="Image 3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832646" y="4993928"/>
            <a:ext cx="107156" cy="95250"/>
          </a:xfrm>
          <a:prstGeom prst="rect">
            <a:avLst/>
          </a:prstGeom>
        </p:spPr>
      </p:pic>
      <p:sp>
        <p:nvSpPr>
          <p:cNvPr id="94" name="Text 52"/>
          <p:cNvSpPr txBox="1"/>
          <p:nvPr/>
        </p:nvSpPr>
        <p:spPr>
          <a:xfrm>
            <a:off x="2832646" y="5370314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Freckle Pen making</a:t>
            </a:r>
            <a:endParaRPr lang="en-US" sz="863" dirty="0"/>
          </a:p>
        </p:txBody>
      </p:sp>
      <p:sp>
        <p:nvSpPr>
          <p:cNvPr id="95" name="Text 53"/>
          <p:cNvSpPr txBox="1"/>
          <p:nvPr/>
        </p:nvSpPr>
        <p:spPr>
          <a:xfrm>
            <a:off x="2832646" y="5775573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story</a:t>
            </a:r>
            <a:endParaRPr lang="en-US" sz="788" dirty="0"/>
          </a:p>
        </p:txBody>
      </p:sp>
      <p:pic>
        <p:nvPicPr>
          <p:cNvPr id="96" name="Image 4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84390" y="4236393"/>
            <a:ext cx="2423071" cy="1926282"/>
          </a:xfrm>
          <a:prstGeom prst="rect">
            <a:avLst/>
          </a:prstGeom>
        </p:spPr>
      </p:pic>
      <p:pic>
        <p:nvPicPr>
          <p:cNvPr id="97" name="Image 4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12990" y="4493568"/>
            <a:ext cx="506313" cy="200025"/>
          </a:xfrm>
          <a:prstGeom prst="rect">
            <a:avLst/>
          </a:prstGeom>
        </p:spPr>
      </p:pic>
      <p:sp>
        <p:nvSpPr>
          <p:cNvPr id="98" name="Text 54"/>
          <p:cNvSpPr txBox="1"/>
          <p:nvPr/>
        </p:nvSpPr>
        <p:spPr>
          <a:xfrm>
            <a:off x="5179665" y="4531668"/>
            <a:ext cx="37296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13</a:t>
            </a:r>
            <a:endParaRPr lang="en-US" sz="750" dirty="0"/>
          </a:p>
        </p:txBody>
      </p:sp>
      <p:sp>
        <p:nvSpPr>
          <p:cNvPr id="99" name="Text 55"/>
          <p:cNvSpPr txBox="1"/>
          <p:nvPr/>
        </p:nvSpPr>
        <p:spPr>
          <a:xfrm>
            <a:off x="5258246" y="4979640"/>
            <a:ext cx="18206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YT SHORT</a:t>
            </a:r>
            <a:endParaRPr lang="en-US" sz="750" dirty="0"/>
          </a:p>
        </p:txBody>
      </p:sp>
      <p:pic>
        <p:nvPicPr>
          <p:cNvPr id="100" name="Image 4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112990" y="4993928"/>
            <a:ext cx="107156" cy="95250"/>
          </a:xfrm>
          <a:prstGeom prst="rect">
            <a:avLst/>
          </a:prstGeom>
        </p:spPr>
      </p:pic>
      <p:sp>
        <p:nvSpPr>
          <p:cNvPr id="101" name="Text 56"/>
          <p:cNvSpPr txBox="1"/>
          <p:nvPr/>
        </p:nvSpPr>
        <p:spPr>
          <a:xfrm>
            <a:off x="5112990" y="5370314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 combo kaise</a:t>
            </a:r>
            <a:endParaRPr lang="en-US" sz="863" dirty="0"/>
          </a:p>
        </p:txBody>
      </p:sp>
      <p:sp>
        <p:nvSpPr>
          <p:cNvPr id="102" name="Text 57"/>
          <p:cNvSpPr txBox="1"/>
          <p:nvPr/>
        </p:nvSpPr>
        <p:spPr>
          <a:xfrm>
            <a:off x="5112990" y="5775573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Layering tut</a:t>
            </a:r>
            <a:endParaRPr lang="en-US" sz="788" dirty="0"/>
          </a:p>
        </p:txBody>
      </p:sp>
      <p:pic>
        <p:nvPicPr>
          <p:cNvPr id="103" name="Image 4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64586" y="4236393"/>
            <a:ext cx="2423220" cy="1926282"/>
          </a:xfrm>
          <a:prstGeom prst="rect">
            <a:avLst/>
          </a:prstGeom>
        </p:spPr>
      </p:pic>
      <p:pic>
        <p:nvPicPr>
          <p:cNvPr id="104" name="Image 4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393186" y="4493568"/>
            <a:ext cx="509290" cy="200025"/>
          </a:xfrm>
          <a:prstGeom prst="rect">
            <a:avLst/>
          </a:prstGeom>
        </p:spPr>
      </p:pic>
      <p:sp>
        <p:nvSpPr>
          <p:cNvPr id="105" name="Text 58"/>
          <p:cNvSpPr txBox="1"/>
          <p:nvPr/>
        </p:nvSpPr>
        <p:spPr>
          <a:xfrm>
            <a:off x="7459861" y="4531668"/>
            <a:ext cx="37594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14</a:t>
            </a:r>
            <a:endParaRPr lang="en-US" sz="750" dirty="0"/>
          </a:p>
        </p:txBody>
      </p:sp>
      <p:sp>
        <p:nvSpPr>
          <p:cNvPr id="106" name="Text 59"/>
          <p:cNvSpPr txBox="1"/>
          <p:nvPr/>
        </p:nvSpPr>
        <p:spPr>
          <a:xfrm>
            <a:off x="7526536" y="4979640"/>
            <a:ext cx="18326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TEASER</a:t>
            </a:r>
            <a:endParaRPr lang="en-US" sz="750" dirty="0"/>
          </a:p>
        </p:txBody>
      </p:sp>
      <p:pic>
        <p:nvPicPr>
          <p:cNvPr id="107" name="Image 45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93186" y="4993928"/>
            <a:ext cx="95250" cy="95250"/>
          </a:xfrm>
          <a:prstGeom prst="rect">
            <a:avLst/>
          </a:prstGeom>
        </p:spPr>
      </p:pic>
      <p:sp>
        <p:nvSpPr>
          <p:cNvPr id="108" name="Text 60"/>
          <p:cNvSpPr txBox="1"/>
          <p:nvPr/>
        </p:nvSpPr>
        <p:spPr>
          <a:xfrm>
            <a:off x="7393186" y="5370314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Naye product hint</a:t>
            </a:r>
            <a:endParaRPr lang="en-US" sz="863" dirty="0"/>
          </a:p>
        </p:txBody>
      </p:sp>
      <p:sp>
        <p:nvSpPr>
          <p:cNvPr id="109" name="Text 61"/>
          <p:cNvSpPr txBox="1"/>
          <p:nvPr/>
        </p:nvSpPr>
        <p:spPr>
          <a:xfrm>
            <a:off x="7393186" y="5775573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date</a:t>
            </a:r>
            <a:endParaRPr lang="en-US" sz="788" dirty="0"/>
          </a:p>
        </p:txBody>
      </p:sp>
      <p:sp>
        <p:nvSpPr>
          <p:cNvPr id="110" name="Shape 62"/>
          <p:cNvSpPr/>
          <p:nvPr/>
        </p:nvSpPr>
        <p:spPr>
          <a:xfrm>
            <a:off x="9563100" y="4391025"/>
            <a:ext cx="2190750" cy="1619250"/>
          </a:xfrm>
          <a:prstGeom prst="roundRect">
            <a:avLst>
              <a:gd name="adj" fmla="val 8235"/>
            </a:avLst>
          </a:prstGeom>
          <a:solidFill>
            <a:srgbClr val="D1886B"/>
          </a:solidFill>
          <a:ln/>
          <a:effectLst>
            <a:outerShdw blurRad="114300" dist="38100" dir="5400000" algn="bl" rotWithShape="0">
              <a:srgbClr val="4A2315">
                <a:alpha val="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1" name="Image 46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664005" y="4484043"/>
            <a:ext cx="504081" cy="200025"/>
          </a:xfrm>
          <a:prstGeom prst="rect">
            <a:avLst/>
          </a:prstGeom>
        </p:spPr>
      </p:pic>
      <p:sp>
        <p:nvSpPr>
          <p:cNvPr id="112" name="Text 63"/>
          <p:cNvSpPr txBox="1"/>
          <p:nvPr/>
        </p:nvSpPr>
        <p:spPr>
          <a:xfrm>
            <a:off x="9730680" y="4522143"/>
            <a:ext cx="37073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15</a:t>
            </a:r>
            <a:endParaRPr lang="en-US" sz="750" dirty="0"/>
          </a:p>
        </p:txBody>
      </p:sp>
      <p:sp>
        <p:nvSpPr>
          <p:cNvPr id="113" name="Text 64"/>
          <p:cNvSpPr txBox="1"/>
          <p:nvPr/>
        </p:nvSpPr>
        <p:spPr>
          <a:xfrm>
            <a:off x="9809262" y="4976366"/>
            <a:ext cx="183966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RECAP</a:t>
            </a:r>
            <a:endParaRPr lang="en-US" sz="750" dirty="0"/>
          </a:p>
        </p:txBody>
      </p:sp>
      <p:pic>
        <p:nvPicPr>
          <p:cNvPr id="114" name="Image 47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664005" y="4990654"/>
            <a:ext cx="107156" cy="95250"/>
          </a:xfrm>
          <a:prstGeom prst="rect">
            <a:avLst/>
          </a:prstGeom>
        </p:spPr>
      </p:pic>
      <p:sp>
        <p:nvSpPr>
          <p:cNvPr id="115" name="Text 65"/>
          <p:cNvSpPr txBox="1"/>
          <p:nvPr/>
        </p:nvSpPr>
        <p:spPr>
          <a:xfrm>
            <a:off x="9664005" y="5373588"/>
            <a:ext cx="198492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recap + CTA</a:t>
            </a:r>
            <a:endParaRPr lang="en-US" sz="863" dirty="0"/>
          </a:p>
        </p:txBody>
      </p:sp>
      <p:sp>
        <p:nvSpPr>
          <p:cNvPr id="116" name="Text 66"/>
          <p:cNvSpPr txBox="1"/>
          <p:nvPr/>
        </p:nvSpPr>
        <p:spPr>
          <a:xfrm>
            <a:off x="9664005" y="5785098"/>
            <a:ext cx="198492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moments Shop</a:t>
            </a:r>
            <a:endParaRPr lang="en-US" sz="788" dirty="0"/>
          </a:p>
        </p:txBody>
      </p:sp>
      <p:pic>
        <p:nvPicPr>
          <p:cNvPr id="117" name="Image 48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38150" y="6124575"/>
            <a:ext cx="11315700" cy="466725"/>
          </a:xfrm>
          <a:prstGeom prst="rect">
            <a:avLst/>
          </a:prstGeom>
        </p:spPr>
      </p:pic>
      <p:sp>
        <p:nvSpPr>
          <p:cNvPr id="118" name="Text 67"/>
          <p:cNvSpPr txBox="1"/>
          <p:nvPr/>
        </p:nvSpPr>
        <p:spPr>
          <a:xfrm>
            <a:off x="581025" y="6288881"/>
            <a:ext cx="586174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Rhythm:</a:t>
            </a:r>
            <a:r>
              <a:rPr lang="en-US" sz="82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30% Edu • 25% Community • 20% Entertainment • 15% Product • 10% BTS • Goal: UGC loop + brand equity</a:t>
            </a:r>
            <a:endParaRPr lang="en-US" sz="825" dirty="0"/>
          </a:p>
        </p:txBody>
      </p:sp>
      <p:pic>
        <p:nvPicPr>
          <p:cNvPr id="119" name="Image 49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924925" y="6229350"/>
            <a:ext cx="541586" cy="257175"/>
          </a:xfrm>
          <a:prstGeom prst="rect">
            <a:avLst/>
          </a:prstGeom>
        </p:spPr>
      </p:pic>
      <p:sp>
        <p:nvSpPr>
          <p:cNvPr id="120" name="Text 68"/>
          <p:cNvSpPr txBox="1"/>
          <p:nvPr/>
        </p:nvSpPr>
        <p:spPr>
          <a:xfrm>
            <a:off x="9029700" y="6296025"/>
            <a:ext cx="33203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 7</a:t>
            </a:r>
            <a:endParaRPr lang="en-US" sz="750" dirty="0"/>
          </a:p>
        </p:txBody>
      </p:sp>
      <p:pic>
        <p:nvPicPr>
          <p:cNvPr id="121" name="Image 50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23661" y="6229350"/>
            <a:ext cx="709464" cy="257175"/>
          </a:xfrm>
          <a:prstGeom prst="rect">
            <a:avLst/>
          </a:prstGeom>
        </p:spPr>
      </p:pic>
      <p:sp>
        <p:nvSpPr>
          <p:cNvPr id="122" name="Text 69"/>
          <p:cNvSpPr txBox="1"/>
          <p:nvPr/>
        </p:nvSpPr>
        <p:spPr>
          <a:xfrm>
            <a:off x="9628436" y="6296025"/>
            <a:ext cx="4999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Carousel 3</a:t>
            </a:r>
            <a:endParaRPr lang="en-US" sz="750" dirty="0"/>
          </a:p>
        </p:txBody>
      </p:sp>
      <p:pic>
        <p:nvPicPr>
          <p:cNvPr id="123" name="Image 51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290274" y="6229350"/>
            <a:ext cx="1320701" cy="257175"/>
          </a:xfrm>
          <a:prstGeom prst="rect">
            <a:avLst/>
          </a:prstGeom>
        </p:spPr>
      </p:pic>
      <p:sp>
        <p:nvSpPr>
          <p:cNvPr id="124" name="Text 70"/>
          <p:cNvSpPr txBox="1"/>
          <p:nvPr/>
        </p:nvSpPr>
        <p:spPr>
          <a:xfrm>
            <a:off x="10395049" y="6296025"/>
            <a:ext cx="111115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2 + YT 2 + Reddit1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905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CREATIVES &amp; AD COPY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14363"/>
            <a:ext cx="4184600" cy="75991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92"/>
              </a:lnSpc>
              <a:buNone/>
            </a:pPr>
            <a:r>
              <a:rPr lang="en-US" sz="28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 that Convert —</a:t>
            </a:r>
            <a:endParaRPr lang="en-US" sz="2850" dirty="0"/>
          </a:p>
          <a:p>
            <a:pPr marL="0" indent="0" algn="l">
              <a:lnSpc>
                <a:spcPts val="2992"/>
              </a:lnSpc>
              <a:buNone/>
            </a:pPr>
            <a:r>
              <a:rPr lang="en-US" sz="28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Skin, Real Reviews</a:t>
            </a:r>
            <a:endParaRPr lang="en-US" sz="2850" dirty="0"/>
          </a:p>
        </p:txBody>
      </p:sp>
      <p:sp>
        <p:nvSpPr>
          <p:cNvPr id="4" name="Text 2"/>
          <p:cNvSpPr txBox="1"/>
          <p:nvPr/>
        </p:nvSpPr>
        <p:spPr>
          <a:xfrm>
            <a:off x="9746307" y="1081088"/>
            <a:ext cx="1912293" cy="29319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Platform: IG Reels / Stories / Carousels</a:t>
            </a:r>
            <a:endParaRPr lang="en-US" sz="825" dirty="0"/>
          </a:p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Style: Clean girl, skincare-first</a:t>
            </a:r>
            <a:endParaRPr lang="en-US" sz="82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336179"/>
            <a:ext cx="5254823" cy="27628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6325" y="1805285"/>
            <a:ext cx="4149923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b="1" kern="0" spc="2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 MOCKUP IDEAS</a:t>
            </a:r>
            <a:endParaRPr lang="en-US" sz="97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764804"/>
            <a:ext cx="247650" cy="2476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2475" y="1762125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11" y="1831479"/>
            <a:ext cx="116830" cy="1143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52475" y="21431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3" y="2236291"/>
            <a:ext cx="123825" cy="12382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71575" y="2145804"/>
            <a:ext cx="2315468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flat-lays w/ ingredient callouts</a:t>
            </a:r>
            <a:endParaRPr lang="en-US" sz="938" dirty="0"/>
          </a:p>
        </p:txBody>
      </p:sp>
      <p:sp>
        <p:nvSpPr>
          <p:cNvPr id="13" name="Text 7"/>
          <p:cNvSpPr txBox="1"/>
          <p:nvPr/>
        </p:nvSpPr>
        <p:spPr>
          <a:xfrm>
            <a:off x="1171575" y="2307729"/>
            <a:ext cx="2315468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backdrops, Peptides / Hyaluronic tags</a:t>
            </a:r>
            <a:endParaRPr lang="en-US" sz="863" dirty="0"/>
          </a:p>
        </p:txBody>
      </p:sp>
      <p:sp>
        <p:nvSpPr>
          <p:cNvPr id="14" name="Shape 8"/>
          <p:cNvSpPr/>
          <p:nvPr/>
        </p:nvSpPr>
        <p:spPr>
          <a:xfrm>
            <a:off x="752475" y="255270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484" y="2641253"/>
            <a:ext cx="154781" cy="12382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71575" y="2550765"/>
            <a:ext cx="2580233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people, real skin — diverse Indian tones</a:t>
            </a:r>
            <a:endParaRPr lang="en-US" sz="938" dirty="0"/>
          </a:p>
        </p:txBody>
      </p:sp>
      <p:sp>
        <p:nvSpPr>
          <p:cNvPr id="17" name="Text 10"/>
          <p:cNvSpPr txBox="1"/>
          <p:nvPr/>
        </p:nvSpPr>
        <p:spPr>
          <a:xfrm>
            <a:off x="1171575" y="2712690"/>
            <a:ext cx="2580233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light, no over-retouch, brown skin shades</a:t>
            </a:r>
            <a:endParaRPr lang="en-US" sz="863" dirty="0"/>
          </a:p>
        </p:txBody>
      </p:sp>
      <p:sp>
        <p:nvSpPr>
          <p:cNvPr id="18" name="Shape 11"/>
          <p:cNvSpPr/>
          <p:nvPr/>
        </p:nvSpPr>
        <p:spPr>
          <a:xfrm>
            <a:off x="752475" y="295275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 txBox="1"/>
          <p:nvPr/>
        </p:nvSpPr>
        <p:spPr>
          <a:xfrm>
            <a:off x="904875" y="31051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3"/>
          <p:cNvSpPr txBox="1"/>
          <p:nvPr/>
        </p:nvSpPr>
        <p:spPr>
          <a:xfrm>
            <a:off x="1171575" y="2955727"/>
            <a:ext cx="2259509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 phone-shot reviews</a:t>
            </a:r>
            <a:endParaRPr lang="en-US" sz="938" dirty="0"/>
          </a:p>
        </p:txBody>
      </p:sp>
      <p:sp>
        <p:nvSpPr>
          <p:cNvPr id="21" name="Text 14"/>
          <p:cNvSpPr txBox="1"/>
          <p:nvPr/>
        </p:nvSpPr>
        <p:spPr>
          <a:xfrm>
            <a:off x="1171575" y="3117652"/>
            <a:ext cx="2259509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Authentic, not overproduced — iPhone light</a:t>
            </a:r>
            <a:endParaRPr lang="en-US" sz="863" dirty="0"/>
          </a:p>
        </p:txBody>
      </p:sp>
      <p:sp>
        <p:nvSpPr>
          <p:cNvPr id="22" name="Shape 15"/>
          <p:cNvSpPr/>
          <p:nvPr/>
        </p:nvSpPr>
        <p:spPr>
          <a:xfrm>
            <a:off x="752475" y="33623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223" y="3451175"/>
            <a:ext cx="139303" cy="12382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71575" y="3360688"/>
            <a:ext cx="2561332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/ After + Founder direct-cam</a:t>
            </a:r>
            <a:endParaRPr lang="en-US" sz="938" dirty="0"/>
          </a:p>
        </p:txBody>
      </p:sp>
      <p:sp>
        <p:nvSpPr>
          <p:cNvPr id="25" name="Text 17"/>
          <p:cNvSpPr txBox="1"/>
          <p:nvPr/>
        </p:nvSpPr>
        <p:spPr>
          <a:xfrm>
            <a:off x="1171575" y="3522613"/>
            <a:ext cx="2561332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 transformation split + Mrunal product-in-hand</a:t>
            </a:r>
            <a:endParaRPr lang="en-US" sz="863" dirty="0"/>
          </a:p>
        </p:txBody>
      </p:sp>
      <p:sp>
        <p:nvSpPr>
          <p:cNvPr id="26" name="Shape 18"/>
          <p:cNvSpPr/>
          <p:nvPr/>
        </p:nvSpPr>
        <p:spPr>
          <a:xfrm>
            <a:off x="5657850" y="1562100"/>
            <a:ext cx="6000750" cy="3409950"/>
          </a:xfrm>
          <a:prstGeom prst="roundRect">
            <a:avLst>
              <a:gd name="adj" fmla="val 5028"/>
            </a:avLst>
          </a:prstGeom>
          <a:solidFill>
            <a:srgbClr val="4A2315"/>
          </a:solidFill>
          <a:ln/>
          <a:effectLst>
            <a:outerShdw blurRad="171450" dist="57150" dir="5400000" algn="bl" rotWithShape="0">
              <a:srgbClr val="4A2315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 txBox="1"/>
          <p:nvPr/>
        </p:nvSpPr>
        <p:spPr>
          <a:xfrm>
            <a:off x="6188273" y="1795760"/>
            <a:ext cx="5260777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b="1" kern="0" spc="2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SAMPLE CAPTIONS</a:t>
            </a:r>
            <a:endParaRPr lang="en-US" sz="975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4423" y="1755279"/>
            <a:ext cx="247650" cy="24765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867400" y="1752600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996" y="1817191"/>
            <a:ext cx="126355" cy="123825"/>
          </a:xfrm>
          <a:prstGeom prst="rect">
            <a:avLst/>
          </a:prstGeom>
        </p:spPr>
      </p:pic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4423" y="2136279"/>
            <a:ext cx="5584627" cy="81706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176367" y="2288679"/>
            <a:ext cx="511075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7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EDUCATIONAL — LIP MELTS</a:t>
            </a:r>
            <a:endParaRPr lang="en-US" sz="75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6348" y="2302966"/>
            <a:ext cx="92869" cy="9525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6026348" y="2488704"/>
            <a:ext cx="5260777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“Your gloss shouldn't just look good. </a:t>
            </a:r>
            <a:r>
              <a:rPr lang="en-US" sz="90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Peptides heal. Hyaluronic plumps. Shea nourishes.</a:t>
            </a:r>
            <a:r>
              <a:rPr lang="en-US" sz="90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That's Mrucha. 💋”</a:t>
            </a:r>
            <a:endParaRPr lang="en-US" sz="9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4423" y="3048595"/>
            <a:ext cx="5584627" cy="817066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212086" y="3200995"/>
            <a:ext cx="507503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kern="0" spc="75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COMMUNITY — CIRCLE</a:t>
            </a:r>
            <a:endParaRPr lang="en-US" sz="75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26348" y="3215283"/>
            <a:ext cx="128588" cy="9525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6026348" y="3401020"/>
            <a:ext cx="5260777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“When Mrucha Circle speaks, we listen. 🗣 Your feedback shaped our shades. Tag us → #MruchaCircle”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5864423" y="3970437"/>
            <a:ext cx="558462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kern="0" spc="75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HASHTAGS</a:t>
            </a:r>
            <a:endParaRPr lang="en-US" sz="75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64423" y="4199037"/>
            <a:ext cx="985093" cy="264319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5969198" y="4265712"/>
            <a:ext cx="775543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FFF"/>
                </a:solidFill>
                <a:highlight>
                  <a:srgbClr val="D1886B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#MruchaBeauty</a:t>
            </a:r>
            <a:endParaRPr lang="en-US" sz="788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06667" y="4199037"/>
            <a:ext cx="925116" cy="26431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7011442" y="4265712"/>
            <a:ext cx="715566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FFF"/>
                </a:solidFill>
                <a:highlight>
                  <a:srgbClr val="D1886B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#MruchaCircle</a:t>
            </a:r>
            <a:endParaRPr lang="en-US" sz="788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88932" y="4199037"/>
            <a:ext cx="1062186" cy="264319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7993707" y="4265712"/>
            <a:ext cx="852636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highlight>
                  <a:srgbClr val="FFFB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#SkincareInfused</a:t>
            </a:r>
            <a:endParaRPr lang="en-US" sz="788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08269" y="4199037"/>
            <a:ext cx="1128713" cy="264319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9113044" y="4265712"/>
            <a:ext cx="919162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highlight>
                  <a:srgbClr val="FFFB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#CleanBeautyIndia</a:t>
            </a:r>
            <a:endParaRPr lang="en-US" sz="788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94131" y="4199037"/>
            <a:ext cx="875407" cy="264319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10298906" y="4265712"/>
            <a:ext cx="665857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highlight>
                  <a:srgbClr val="FFFB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#GenZBeauty</a:t>
            </a:r>
            <a:endParaRPr lang="en-US" sz="788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4423" y="4520505"/>
            <a:ext cx="1208336" cy="264319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5969198" y="4587180"/>
            <a:ext cx="998786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highlight>
                  <a:srgbClr val="FFFB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#MadeForIndianSkin</a:t>
            </a:r>
            <a:endParaRPr lang="en-US" sz="78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079748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STRATEGY — LEAN &amp; ORGANIC-FIRST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303586"/>
            <a:ext cx="4003923" cy="8399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Ads Strategy —</a:t>
            </a:r>
            <a:endParaRPr lang="en-US" sz="3150" dirty="0"/>
          </a:p>
          <a:p>
            <a:pPr marL="0" indent="0" algn="l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 Approach</a:t>
            </a:r>
            <a:endParaRPr lang="en-US" sz="3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714" y="1853059"/>
            <a:ext cx="1798886" cy="2905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88314" y="1929259"/>
            <a:ext cx="144646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Unfunded = Organic priority</a:t>
            </a:r>
            <a:endParaRPr lang="en-US" sz="825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539" y="1938784"/>
            <a:ext cx="104775" cy="10477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029271"/>
            <a:ext cx="6722715" cy="386238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2925" y="2343150"/>
            <a:ext cx="6248400" cy="561975"/>
          </a:xfrm>
          <a:prstGeom prst="rect">
            <a:avLst/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4"/>
          <p:cNvSpPr txBox="1"/>
          <p:nvPr/>
        </p:nvSpPr>
        <p:spPr>
          <a:xfrm>
            <a:off x="752475" y="2531715"/>
            <a:ext cx="109597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Lean Media Plan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4439" y="2495996"/>
            <a:ext cx="825401" cy="25241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849689" y="2553146"/>
            <a:ext cx="6349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₹15k-25k/mo</a:t>
            </a:r>
            <a:endParaRPr lang="en-US" sz="82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900809"/>
            <a:ext cx="6246465" cy="44767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38225" y="3050828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BUDGET</a:t>
            </a:r>
            <a:endParaRPr lang="en-US" sz="825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015109"/>
            <a:ext cx="209550" cy="20955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2200275" y="3024634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₹15,000–₹25,000 / month — organic-first</a:t>
            </a:r>
            <a:endParaRPr lang="en-US" sz="975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3348484"/>
            <a:ext cx="6246465" cy="44767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038225" y="3498503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AUDIENCE</a:t>
            </a:r>
            <a:endParaRPr lang="en-US" sz="825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3462784"/>
            <a:ext cx="209550" cy="20955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2200275" y="3472309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18–28, Tier 1 &amp; 2, interests: makeup, creators</a:t>
            </a:r>
            <a:endParaRPr lang="en-US" sz="975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3796159"/>
            <a:ext cx="6246465" cy="44767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038225" y="3946178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LOOKALIKE</a:t>
            </a:r>
            <a:endParaRPr lang="en-US" sz="825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3910459"/>
            <a:ext cx="209550" cy="20955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752475" y="3914775"/>
            <a:ext cx="209550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2"/>
          <p:cNvSpPr txBox="1"/>
          <p:nvPr/>
        </p:nvSpPr>
        <p:spPr>
          <a:xfrm>
            <a:off x="2200275" y="3919984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visitors + IG engagers → 1% LAL</a:t>
            </a:r>
            <a:endParaRPr lang="en-US" sz="975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243834"/>
            <a:ext cx="6246465" cy="447675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1038225" y="4393853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BIDDING</a:t>
            </a:r>
            <a:endParaRPr lang="en-US" sz="825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4358134"/>
            <a:ext cx="209550" cy="209550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752475" y="4362450"/>
            <a:ext cx="209550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15"/>
          <p:cNvSpPr txBox="1"/>
          <p:nvPr/>
        </p:nvSpPr>
        <p:spPr>
          <a:xfrm>
            <a:off x="2200275" y="4367659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Cap conversions, Traffic to build pixel</a:t>
            </a:r>
            <a:endParaRPr lang="en-US" sz="975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691509"/>
            <a:ext cx="6246465" cy="447675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1038225" y="4841528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CREATIVE</a:t>
            </a:r>
            <a:endParaRPr lang="en-US" sz="825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4805809"/>
            <a:ext cx="209550" cy="209550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2200275" y="4815334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 reels, founder videos, before/after</a:t>
            </a:r>
            <a:endParaRPr lang="en-US" sz="975" dirty="0"/>
          </a:p>
        </p:txBody>
      </p:sp>
      <p:sp>
        <p:nvSpPr>
          <p:cNvPr id="34" name="Text 18"/>
          <p:cNvSpPr txBox="1"/>
          <p:nvPr/>
        </p:nvSpPr>
        <p:spPr>
          <a:xfrm>
            <a:off x="1038225" y="5289203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PLACEMENT</a:t>
            </a:r>
            <a:endParaRPr lang="en-US" sz="825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5253484"/>
            <a:ext cx="209550" cy="20955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2200275" y="5263009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 Reels + Stories primary</a:t>
            </a: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FB secondary</a:t>
            </a:r>
            <a:endParaRPr lang="en-US" sz="975" dirty="0"/>
          </a:p>
        </p:txBody>
      </p:sp>
      <p:sp>
        <p:nvSpPr>
          <p:cNvPr id="37" name="Shape 20"/>
          <p:cNvSpPr/>
          <p:nvPr/>
        </p:nvSpPr>
        <p:spPr>
          <a:xfrm>
            <a:off x="7029450" y="2333625"/>
            <a:ext cx="4629150" cy="1247775"/>
          </a:xfrm>
          <a:prstGeom prst="roundRect">
            <a:avLst>
              <a:gd name="adj" fmla="val 13740"/>
            </a:avLst>
          </a:prstGeom>
          <a:solidFill>
            <a:srgbClr val="D18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21"/>
          <p:cNvSpPr txBox="1"/>
          <p:nvPr/>
        </p:nvSpPr>
        <p:spPr>
          <a:xfrm>
            <a:off x="7218015" y="2515046"/>
            <a:ext cx="101069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83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ROAS</a:t>
            </a:r>
            <a:endParaRPr lang="en-US" sz="825" dirty="0"/>
          </a:p>
        </p:txBody>
      </p:sp>
      <p:sp>
        <p:nvSpPr>
          <p:cNvPr id="39" name="Text 22"/>
          <p:cNvSpPr txBox="1"/>
          <p:nvPr/>
        </p:nvSpPr>
        <p:spPr>
          <a:xfrm>
            <a:off x="7218015" y="2662684"/>
            <a:ext cx="1010692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2–3x</a:t>
            </a:r>
            <a:endParaRPr lang="en-US" sz="2400" dirty="0"/>
          </a:p>
        </p:txBody>
      </p:sp>
      <p:sp>
        <p:nvSpPr>
          <p:cNvPr id="40" name="Text 23"/>
          <p:cNvSpPr txBox="1"/>
          <p:nvPr/>
        </p:nvSpPr>
        <p:spPr>
          <a:xfrm>
            <a:off x="10654903" y="2555528"/>
            <a:ext cx="81319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kern="0" spc="83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AFTER</a:t>
            </a:r>
            <a:endParaRPr lang="en-US" sz="825" dirty="0"/>
          </a:p>
        </p:txBody>
      </p:sp>
      <p:sp>
        <p:nvSpPr>
          <p:cNvPr id="41" name="Text 24"/>
          <p:cNvSpPr txBox="1"/>
          <p:nvPr/>
        </p:nvSpPr>
        <p:spPr>
          <a:xfrm>
            <a:off x="10654903" y="2750790"/>
            <a:ext cx="813197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4x at 6M</a:t>
            </a:r>
            <a:endParaRPr lang="en-US" sz="975" dirty="0"/>
          </a:p>
        </p:txBody>
      </p:sp>
      <p:sp>
        <p:nvSpPr>
          <p:cNvPr id="42" name="Shape 25"/>
          <p:cNvSpPr/>
          <p:nvPr/>
        </p:nvSpPr>
        <p:spPr>
          <a:xfrm>
            <a:off x="7219950" y="3086100"/>
            <a:ext cx="4248150" cy="57150"/>
          </a:xfrm>
          <a:prstGeom prst="roundRect">
            <a:avLst>
              <a:gd name="adj" fmla="val 1666667"/>
            </a:avLst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26"/>
          <p:cNvSpPr/>
          <p:nvPr/>
        </p:nvSpPr>
        <p:spPr>
          <a:xfrm>
            <a:off x="7219950" y="3086100"/>
            <a:ext cx="2886075" cy="57150"/>
          </a:xfrm>
          <a:prstGeom prst="roundRect">
            <a:avLst>
              <a:gd name="adj" fmla="val 166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27"/>
          <p:cNvSpPr txBox="1"/>
          <p:nvPr/>
        </p:nvSpPr>
        <p:spPr>
          <a:xfrm>
            <a:off x="7218015" y="3262759"/>
            <a:ext cx="4250085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863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lean, let organic drive 80% reach. Paid is amplifier, not engine.</a:t>
            </a:r>
            <a:endParaRPr lang="en-US" sz="863" dirty="0"/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7515" y="3711327"/>
            <a:ext cx="4631085" cy="1524000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7227540" y="3901827"/>
            <a:ext cx="423103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b="1" kern="0" spc="72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FORMAT THAT WORKS</a:t>
            </a:r>
            <a:endParaRPr lang="en-US" sz="900" dirty="0"/>
          </a:p>
        </p:txBody>
      </p:sp>
      <p:sp>
        <p:nvSpPr>
          <p:cNvPr id="47" name="Text 29"/>
          <p:cNvSpPr txBox="1"/>
          <p:nvPr/>
        </p:nvSpPr>
        <p:spPr>
          <a:xfrm>
            <a:off x="7570440" y="4203055"/>
            <a:ext cx="3888135" cy="20359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UGC phone-shot reviews — authentic</a:t>
            </a:r>
            <a:endParaRPr lang="en-US" sz="938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7540" y="4159002"/>
            <a:ext cx="247650" cy="247650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7229475" y="4162425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1"/>
          <p:cNvSpPr txBox="1"/>
          <p:nvPr/>
        </p:nvSpPr>
        <p:spPr>
          <a:xfrm>
            <a:off x="7353300" y="42862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32"/>
          <p:cNvSpPr txBox="1"/>
          <p:nvPr/>
        </p:nvSpPr>
        <p:spPr>
          <a:xfrm>
            <a:off x="7570440" y="4526905"/>
            <a:ext cx="3888135" cy="20359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Founder direct camera — product in hand</a:t>
            </a:r>
            <a:endParaRPr lang="en-US" sz="938" dirty="0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7540" y="4482852"/>
            <a:ext cx="247650" cy="247650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7229475" y="4486275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99275" y="4547146"/>
            <a:ext cx="104180" cy="119063"/>
          </a:xfrm>
          <a:prstGeom prst="rect">
            <a:avLst/>
          </a:prstGeom>
        </p:spPr>
      </p:pic>
      <p:sp>
        <p:nvSpPr>
          <p:cNvPr id="55" name="Text 34"/>
          <p:cNvSpPr txBox="1"/>
          <p:nvPr/>
        </p:nvSpPr>
        <p:spPr>
          <a:xfrm>
            <a:off x="7570440" y="4850755"/>
            <a:ext cx="3888135" cy="20359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Before/After lip transformation</a:t>
            </a:r>
            <a:endParaRPr lang="en-US" sz="938" dirty="0"/>
          </a:p>
        </p:txBody>
      </p:sp>
      <p:pic>
        <p:nvPicPr>
          <p:cNvPr id="56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27540" y="4806702"/>
            <a:ext cx="247650" cy="247650"/>
          </a:xfrm>
          <a:prstGeom prst="rect">
            <a:avLst/>
          </a:prstGeom>
        </p:spPr>
      </p:pic>
      <p:sp>
        <p:nvSpPr>
          <p:cNvPr id="57" name="Text 35"/>
          <p:cNvSpPr txBox="1"/>
          <p:nvPr/>
        </p:nvSpPr>
        <p:spPr>
          <a:xfrm>
            <a:off x="7229475" y="4810125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84393" y="4870996"/>
            <a:ext cx="133945" cy="119063"/>
          </a:xfrm>
          <a:prstGeom prst="rect">
            <a:avLst/>
          </a:prstGeom>
        </p:spPr>
      </p:pic>
      <p:pic>
        <p:nvPicPr>
          <p:cNvPr id="59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27515" y="5368677"/>
            <a:ext cx="4631085" cy="419100"/>
          </a:xfrm>
          <a:prstGeom prst="rect">
            <a:avLst/>
          </a:prstGeom>
        </p:spPr>
      </p:pic>
      <p:pic>
        <p:nvPicPr>
          <p:cNvPr id="60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70390" y="5492502"/>
            <a:ext cx="171450" cy="171450"/>
          </a:xfrm>
          <a:prstGeom prst="rect">
            <a:avLst/>
          </a:prstGeom>
        </p:spPr>
      </p:pic>
      <p:sp>
        <p:nvSpPr>
          <p:cNvPr id="61" name="Text 36"/>
          <p:cNvSpPr txBox="1"/>
          <p:nvPr/>
        </p:nvSpPr>
        <p:spPr>
          <a:xfrm>
            <a:off x="7437090" y="5502027"/>
            <a:ext cx="267235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</a:t>
            </a: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Unfunded → priority organic via 5.5M + UGC.</a:t>
            </a:r>
            <a:endParaRPr lang="en-US" sz="86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352425"/>
            <a:ext cx="112014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DASHBOARD + FORECAST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557213"/>
            <a:ext cx="5401717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— Kya Measure Karein?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75080" y="664071"/>
            <a:ext cx="2721620" cy="29319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₹2Cr in 5 months = strong PMF proof.</a:t>
            </a:r>
            <a:endParaRPr lang="en-US" sz="825" dirty="0"/>
          </a:p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5.5M audience for organic scale → lean paid.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495300" y="1133475"/>
            <a:ext cx="2133600" cy="1495425"/>
          </a:xfrm>
          <a:prstGeom prst="roundRect">
            <a:avLst>
              <a:gd name="adj" fmla="val 11465"/>
            </a:avLst>
          </a:prstGeom>
          <a:solidFill>
            <a:srgbClr val="4A2315"/>
          </a:solidFill>
          <a:ln/>
          <a:effectLst>
            <a:outerShdw blurRad="171450" dist="57150" dir="5400000" algn="bl" rotWithShape="0">
              <a:srgbClr val="4A2315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7700" y="12858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357313"/>
            <a:ext cx="114300" cy="1143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781" y="1304925"/>
            <a:ext cx="416719" cy="219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35981" y="1352550"/>
            <a:ext cx="26431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647700" y="1652588"/>
            <a:ext cx="18288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kern="0" spc="60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647700" y="1804988"/>
            <a:ext cx="182880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1.5-2% </a:t>
            </a:r>
            <a:r>
              <a:rPr lang="en-US" sz="9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647700" y="2121098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13" name="Shape 9"/>
          <p:cNvSpPr/>
          <p:nvPr/>
        </p:nvSpPr>
        <p:spPr>
          <a:xfrm>
            <a:off x="1066800" y="2162175"/>
            <a:ext cx="109537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066800" y="2162175"/>
            <a:ext cx="762000" cy="47625"/>
          </a:xfrm>
          <a:prstGeom prst="roundRect">
            <a:avLst>
              <a:gd name="adj" fmla="val 200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2217390" y="2121098"/>
            <a:ext cx="25911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3.5%</a:t>
            </a:r>
            <a:endParaRPr lang="en-US" sz="788" dirty="0"/>
          </a:p>
        </p:txBody>
      </p:sp>
      <p:sp>
        <p:nvSpPr>
          <p:cNvPr id="16" name="Text 12"/>
          <p:cNvSpPr txBox="1"/>
          <p:nvPr/>
        </p:nvSpPr>
        <p:spPr>
          <a:xfrm>
            <a:off x="647700" y="2328267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17" name="Shape 13"/>
          <p:cNvSpPr/>
          <p:nvPr/>
        </p:nvSpPr>
        <p:spPr>
          <a:xfrm>
            <a:off x="1066800" y="2371725"/>
            <a:ext cx="11906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1066800" y="2371725"/>
            <a:ext cx="1190625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 txBox="1"/>
          <p:nvPr/>
        </p:nvSpPr>
        <p:spPr>
          <a:xfrm>
            <a:off x="2312640" y="2328267"/>
            <a:ext cx="16386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</a:t>
            </a:r>
            <a:endParaRPr lang="en-US" sz="788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900113"/>
            <a:ext cx="2476500" cy="19496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924175" y="12954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088" y="1366838"/>
            <a:ext cx="142875" cy="114300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780" y="1314450"/>
            <a:ext cx="591145" cy="21907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18980" y="1362075"/>
            <a:ext cx="43874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750" dirty="0"/>
          </a:p>
        </p:txBody>
      </p:sp>
      <p:sp>
        <p:nvSpPr>
          <p:cNvPr id="25" name="Text 18"/>
          <p:cNvSpPr txBox="1"/>
          <p:nvPr/>
        </p:nvSpPr>
        <p:spPr>
          <a:xfrm>
            <a:off x="2924175" y="1662113"/>
            <a:ext cx="1809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kern="0" spc="6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FOLLOWERS</a:t>
            </a:r>
            <a:endParaRPr lang="en-US" sz="750" dirty="0"/>
          </a:p>
        </p:txBody>
      </p:sp>
      <p:sp>
        <p:nvSpPr>
          <p:cNvPr id="26" name="Text 19"/>
          <p:cNvSpPr txBox="1"/>
          <p:nvPr/>
        </p:nvSpPr>
        <p:spPr>
          <a:xfrm>
            <a:off x="2924175" y="1814513"/>
            <a:ext cx="180975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~50K</a:t>
            </a:r>
            <a:endParaRPr lang="en-US" sz="1650" dirty="0"/>
          </a:p>
        </p:txBody>
      </p:sp>
      <p:sp>
        <p:nvSpPr>
          <p:cNvPr id="27" name="Text 20"/>
          <p:cNvSpPr txBox="1"/>
          <p:nvPr/>
        </p:nvSpPr>
        <p:spPr>
          <a:xfrm>
            <a:off x="2924175" y="2130623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28" name="Shape 21"/>
          <p:cNvSpPr/>
          <p:nvPr/>
        </p:nvSpPr>
        <p:spPr>
          <a:xfrm>
            <a:off x="3343275" y="2171700"/>
            <a:ext cx="1085850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3343275" y="2171700"/>
            <a:ext cx="542925" cy="47625"/>
          </a:xfrm>
          <a:prstGeom prst="roundRect">
            <a:avLst>
              <a:gd name="adj" fmla="val 2000000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 txBox="1"/>
          <p:nvPr/>
        </p:nvSpPr>
        <p:spPr>
          <a:xfrm>
            <a:off x="4483894" y="2130623"/>
            <a:ext cx="25003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100K</a:t>
            </a:r>
            <a:endParaRPr lang="en-US" sz="788" dirty="0"/>
          </a:p>
        </p:txBody>
      </p:sp>
      <p:sp>
        <p:nvSpPr>
          <p:cNvPr id="31" name="Text 24"/>
          <p:cNvSpPr txBox="1"/>
          <p:nvPr/>
        </p:nvSpPr>
        <p:spPr>
          <a:xfrm>
            <a:off x="2924175" y="2337792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32" name="Shape 25"/>
          <p:cNvSpPr/>
          <p:nvPr/>
        </p:nvSpPr>
        <p:spPr>
          <a:xfrm>
            <a:off x="3343275" y="2381250"/>
            <a:ext cx="1066800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3343275" y="2381250"/>
            <a:ext cx="1066800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 txBox="1"/>
          <p:nvPr/>
        </p:nvSpPr>
        <p:spPr>
          <a:xfrm>
            <a:off x="4464100" y="2337792"/>
            <a:ext cx="269825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200K</a:t>
            </a:r>
            <a:endParaRPr lang="en-US" sz="788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900113"/>
            <a:ext cx="2476500" cy="1949648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191125" y="12954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7325" y="1366838"/>
            <a:ext cx="114300" cy="114300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2174" y="1314450"/>
            <a:ext cx="558701" cy="21907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518374" y="1362075"/>
            <a:ext cx="40630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</a:t>
            </a:r>
            <a:endParaRPr lang="en-US" sz="750" dirty="0"/>
          </a:p>
        </p:txBody>
      </p:sp>
      <p:sp>
        <p:nvSpPr>
          <p:cNvPr id="40" name="Text 30"/>
          <p:cNvSpPr txBox="1"/>
          <p:nvPr/>
        </p:nvSpPr>
        <p:spPr>
          <a:xfrm>
            <a:off x="5191125" y="1662113"/>
            <a:ext cx="1809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kern="0" spc="6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VISITS</a:t>
            </a:r>
            <a:endParaRPr lang="en-US" sz="750" dirty="0"/>
          </a:p>
        </p:txBody>
      </p:sp>
      <p:sp>
        <p:nvSpPr>
          <p:cNvPr id="41" name="Text 31"/>
          <p:cNvSpPr txBox="1"/>
          <p:nvPr/>
        </p:nvSpPr>
        <p:spPr>
          <a:xfrm>
            <a:off x="5191125" y="1814513"/>
            <a:ext cx="180975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2K</a:t>
            </a:r>
            <a:r>
              <a:rPr lang="en-US" sz="90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1650" dirty="0"/>
          </a:p>
        </p:txBody>
      </p:sp>
      <p:sp>
        <p:nvSpPr>
          <p:cNvPr id="42" name="Text 32"/>
          <p:cNvSpPr txBox="1"/>
          <p:nvPr/>
        </p:nvSpPr>
        <p:spPr>
          <a:xfrm>
            <a:off x="5191125" y="2130623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43" name="Shape 33"/>
          <p:cNvSpPr/>
          <p:nvPr/>
        </p:nvSpPr>
        <p:spPr>
          <a:xfrm>
            <a:off x="5610225" y="2171700"/>
            <a:ext cx="1200150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34"/>
          <p:cNvSpPr/>
          <p:nvPr/>
        </p:nvSpPr>
        <p:spPr>
          <a:xfrm>
            <a:off x="5610225" y="2171700"/>
            <a:ext cx="638175" cy="47625"/>
          </a:xfrm>
          <a:prstGeom prst="roundRect">
            <a:avLst>
              <a:gd name="adj" fmla="val 2000000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35"/>
          <p:cNvSpPr txBox="1"/>
          <p:nvPr/>
        </p:nvSpPr>
        <p:spPr>
          <a:xfrm>
            <a:off x="6863804" y="2130623"/>
            <a:ext cx="13707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8K</a:t>
            </a:r>
            <a:endParaRPr lang="en-US" sz="788" dirty="0"/>
          </a:p>
        </p:txBody>
      </p:sp>
      <p:sp>
        <p:nvSpPr>
          <p:cNvPr id="46" name="Text 36"/>
          <p:cNvSpPr txBox="1"/>
          <p:nvPr/>
        </p:nvSpPr>
        <p:spPr>
          <a:xfrm>
            <a:off x="5191125" y="2337792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47" name="Shape 37"/>
          <p:cNvSpPr/>
          <p:nvPr/>
        </p:nvSpPr>
        <p:spPr>
          <a:xfrm>
            <a:off x="5610225" y="2381250"/>
            <a:ext cx="11525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38"/>
          <p:cNvSpPr/>
          <p:nvPr/>
        </p:nvSpPr>
        <p:spPr>
          <a:xfrm>
            <a:off x="5610225" y="2381250"/>
            <a:ext cx="1152525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39"/>
          <p:cNvSpPr txBox="1"/>
          <p:nvPr/>
        </p:nvSpPr>
        <p:spPr>
          <a:xfrm>
            <a:off x="6823472" y="2337792"/>
            <a:ext cx="177403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15K</a:t>
            </a:r>
            <a:endParaRPr lang="en-US" sz="788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4700" y="900113"/>
            <a:ext cx="2476500" cy="1949648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7458075" y="12954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9E8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1419" y="1366838"/>
            <a:ext cx="100013" cy="114300"/>
          </a:xfrm>
          <a:prstGeom prst="rect">
            <a:avLst/>
          </a:prstGeom>
        </p:spPr>
      </p:pic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1233" y="1314450"/>
            <a:ext cx="356592" cy="219075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8987433" y="1362075"/>
            <a:ext cx="20419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CVR</a:t>
            </a:r>
            <a:endParaRPr lang="en-US" sz="750" dirty="0"/>
          </a:p>
        </p:txBody>
      </p:sp>
      <p:sp>
        <p:nvSpPr>
          <p:cNvPr id="55" name="Text 42"/>
          <p:cNvSpPr txBox="1"/>
          <p:nvPr/>
        </p:nvSpPr>
        <p:spPr>
          <a:xfrm>
            <a:off x="7458075" y="1662113"/>
            <a:ext cx="1809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kern="0" spc="6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750" dirty="0"/>
          </a:p>
        </p:txBody>
      </p:sp>
      <p:sp>
        <p:nvSpPr>
          <p:cNvPr id="56" name="Text 43"/>
          <p:cNvSpPr txBox="1"/>
          <p:nvPr/>
        </p:nvSpPr>
        <p:spPr>
          <a:xfrm>
            <a:off x="7458075" y="1814513"/>
            <a:ext cx="180975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1-1.5%</a:t>
            </a:r>
            <a:endParaRPr lang="en-US" sz="1650" dirty="0"/>
          </a:p>
        </p:txBody>
      </p:sp>
      <p:sp>
        <p:nvSpPr>
          <p:cNvPr id="57" name="Text 44"/>
          <p:cNvSpPr txBox="1"/>
          <p:nvPr/>
        </p:nvSpPr>
        <p:spPr>
          <a:xfrm>
            <a:off x="7458075" y="2130623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58" name="Shape 45"/>
          <p:cNvSpPr/>
          <p:nvPr/>
        </p:nvSpPr>
        <p:spPr>
          <a:xfrm>
            <a:off x="7877175" y="2171700"/>
            <a:ext cx="10763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46"/>
          <p:cNvSpPr/>
          <p:nvPr/>
        </p:nvSpPr>
        <p:spPr>
          <a:xfrm>
            <a:off x="7877175" y="2171700"/>
            <a:ext cx="762000" cy="47625"/>
          </a:xfrm>
          <a:prstGeom prst="roundRect">
            <a:avLst>
              <a:gd name="adj" fmla="val 2000000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47"/>
          <p:cNvSpPr txBox="1"/>
          <p:nvPr/>
        </p:nvSpPr>
        <p:spPr>
          <a:xfrm>
            <a:off x="9008269" y="2130623"/>
            <a:ext cx="259556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788" dirty="0"/>
          </a:p>
        </p:txBody>
      </p:sp>
      <p:sp>
        <p:nvSpPr>
          <p:cNvPr id="61" name="Text 48"/>
          <p:cNvSpPr txBox="1"/>
          <p:nvPr/>
        </p:nvSpPr>
        <p:spPr>
          <a:xfrm>
            <a:off x="7458075" y="2337792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62" name="Shape 49"/>
          <p:cNvSpPr/>
          <p:nvPr/>
        </p:nvSpPr>
        <p:spPr>
          <a:xfrm>
            <a:off x="7877175" y="2381250"/>
            <a:ext cx="10763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50"/>
          <p:cNvSpPr/>
          <p:nvPr/>
        </p:nvSpPr>
        <p:spPr>
          <a:xfrm>
            <a:off x="7877175" y="2381250"/>
            <a:ext cx="1076325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51"/>
          <p:cNvSpPr txBox="1"/>
          <p:nvPr/>
        </p:nvSpPr>
        <p:spPr>
          <a:xfrm>
            <a:off x="9008715" y="2337792"/>
            <a:ext cx="25911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3.5%</a:t>
            </a:r>
            <a:endParaRPr lang="en-US" sz="788" dirty="0"/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91650" y="900113"/>
            <a:ext cx="2476500" cy="1949648"/>
          </a:xfrm>
          <a:prstGeom prst="rect">
            <a:avLst/>
          </a:prstGeom>
        </p:spPr>
      </p:pic>
      <p:sp>
        <p:nvSpPr>
          <p:cNvPr id="66" name="Shape 52"/>
          <p:cNvSpPr/>
          <p:nvPr/>
        </p:nvSpPr>
        <p:spPr>
          <a:xfrm>
            <a:off x="9725025" y="12954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01225" y="1366838"/>
            <a:ext cx="114300" cy="114300"/>
          </a:xfrm>
          <a:prstGeom prst="rect">
            <a:avLst/>
          </a:prstGeom>
        </p:spPr>
      </p:pic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61812" y="1314450"/>
            <a:ext cx="372963" cy="219075"/>
          </a:xfrm>
          <a:prstGeom prst="rect">
            <a:avLst/>
          </a:prstGeom>
        </p:spPr>
      </p:pic>
      <p:sp>
        <p:nvSpPr>
          <p:cNvPr id="69" name="Text 53"/>
          <p:cNvSpPr txBox="1"/>
          <p:nvPr/>
        </p:nvSpPr>
        <p:spPr>
          <a:xfrm>
            <a:off x="11238012" y="1362075"/>
            <a:ext cx="22056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</a:t>
            </a:r>
            <a:endParaRPr lang="en-US" sz="750" dirty="0"/>
          </a:p>
        </p:txBody>
      </p:sp>
      <p:sp>
        <p:nvSpPr>
          <p:cNvPr id="70" name="Text 54"/>
          <p:cNvSpPr txBox="1"/>
          <p:nvPr/>
        </p:nvSpPr>
        <p:spPr>
          <a:xfrm>
            <a:off x="9725025" y="1662113"/>
            <a:ext cx="1809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kern="0" spc="6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ROAS</a:t>
            </a:r>
            <a:endParaRPr lang="en-US" sz="750" dirty="0"/>
          </a:p>
        </p:txBody>
      </p:sp>
      <p:sp>
        <p:nvSpPr>
          <p:cNvPr id="71" name="Text 55"/>
          <p:cNvSpPr txBox="1"/>
          <p:nvPr/>
        </p:nvSpPr>
        <p:spPr>
          <a:xfrm>
            <a:off x="9725025" y="1814513"/>
            <a:ext cx="180975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r>
              <a:rPr lang="en-US" sz="82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pixel</a:t>
            </a:r>
            <a:endParaRPr lang="en-US" sz="1650" dirty="0"/>
          </a:p>
        </p:txBody>
      </p:sp>
      <p:sp>
        <p:nvSpPr>
          <p:cNvPr id="72" name="Text 56"/>
          <p:cNvSpPr txBox="1"/>
          <p:nvPr/>
        </p:nvSpPr>
        <p:spPr>
          <a:xfrm>
            <a:off x="9725025" y="2130623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73" name="Shape 57"/>
          <p:cNvSpPr/>
          <p:nvPr/>
        </p:nvSpPr>
        <p:spPr>
          <a:xfrm>
            <a:off x="10144125" y="2171700"/>
            <a:ext cx="11144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Shape 58"/>
          <p:cNvSpPr/>
          <p:nvPr/>
        </p:nvSpPr>
        <p:spPr>
          <a:xfrm>
            <a:off x="10144125" y="2171700"/>
            <a:ext cx="695325" cy="47625"/>
          </a:xfrm>
          <a:prstGeom prst="roundRect">
            <a:avLst>
              <a:gd name="adj" fmla="val 2000000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59"/>
          <p:cNvSpPr txBox="1"/>
          <p:nvPr/>
        </p:nvSpPr>
        <p:spPr>
          <a:xfrm>
            <a:off x="11318677" y="2130623"/>
            <a:ext cx="216098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2.5x</a:t>
            </a:r>
            <a:endParaRPr lang="en-US" sz="788" dirty="0"/>
          </a:p>
        </p:txBody>
      </p:sp>
      <p:sp>
        <p:nvSpPr>
          <p:cNvPr id="76" name="Text 60"/>
          <p:cNvSpPr txBox="1"/>
          <p:nvPr/>
        </p:nvSpPr>
        <p:spPr>
          <a:xfrm>
            <a:off x="9725025" y="2337792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32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77" name="Shape 61"/>
          <p:cNvSpPr/>
          <p:nvPr/>
        </p:nvSpPr>
        <p:spPr>
          <a:xfrm>
            <a:off x="10144125" y="2381250"/>
            <a:ext cx="120967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62"/>
          <p:cNvSpPr/>
          <p:nvPr/>
        </p:nvSpPr>
        <p:spPr>
          <a:xfrm>
            <a:off x="10144125" y="2381250"/>
            <a:ext cx="1209675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63"/>
          <p:cNvSpPr txBox="1"/>
          <p:nvPr/>
        </p:nvSpPr>
        <p:spPr>
          <a:xfrm>
            <a:off x="11409015" y="2337792"/>
            <a:ext cx="12576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4x</a:t>
            </a:r>
            <a:endParaRPr lang="en-US" sz="788" dirty="0"/>
          </a:p>
        </p:txBody>
      </p:sp>
      <p:pic>
        <p:nvPicPr>
          <p:cNvPr id="80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2773561"/>
            <a:ext cx="6364039" cy="3741539"/>
          </a:xfrm>
          <a:prstGeom prst="rect">
            <a:avLst/>
          </a:prstGeom>
        </p:spPr>
      </p:pic>
      <p:sp>
        <p:nvSpPr>
          <p:cNvPr id="81" name="Text 64"/>
          <p:cNvSpPr txBox="1"/>
          <p:nvPr/>
        </p:nvSpPr>
        <p:spPr>
          <a:xfrm>
            <a:off x="888057" y="4282380"/>
            <a:ext cx="579030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b="1" kern="0" spc="54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FORECAST LOGIC — WHY TARGETS ACHIEVABLE</a:t>
            </a:r>
            <a:endParaRPr lang="en-US" sz="900" dirty="0"/>
          </a:p>
        </p:txBody>
      </p:sp>
      <p:pic>
        <p:nvPicPr>
          <p:cNvPr id="82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4301430"/>
            <a:ext cx="135582" cy="114300"/>
          </a:xfrm>
          <a:prstGeom prst="rect">
            <a:avLst/>
          </a:prstGeom>
        </p:spPr>
      </p:pic>
      <p:pic>
        <p:nvPicPr>
          <p:cNvPr id="83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6275" y="4549080"/>
            <a:ext cx="190500" cy="190500"/>
          </a:xfrm>
          <a:prstGeom prst="rect">
            <a:avLst/>
          </a:prstGeom>
        </p:spPr>
      </p:pic>
      <p:sp>
        <p:nvSpPr>
          <p:cNvPr id="84" name="Text 65"/>
          <p:cNvSpPr txBox="1"/>
          <p:nvPr/>
        </p:nvSpPr>
        <p:spPr>
          <a:xfrm>
            <a:off x="942975" y="4549080"/>
            <a:ext cx="2333774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5.5M audience</a:t>
            </a: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free reach &amp; pixel warm-up</a:t>
            </a:r>
            <a:endParaRPr lang="en-US" sz="863" dirty="0"/>
          </a:p>
        </p:txBody>
      </p:sp>
      <p:pic>
        <p:nvPicPr>
          <p:cNvPr id="85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53445" y="4549080"/>
            <a:ext cx="190500" cy="190500"/>
          </a:xfrm>
          <a:prstGeom prst="rect">
            <a:avLst/>
          </a:prstGeom>
        </p:spPr>
      </p:pic>
      <p:sp>
        <p:nvSpPr>
          <p:cNvPr id="86" name="Text 66"/>
          <p:cNvSpPr txBox="1"/>
          <p:nvPr/>
        </p:nvSpPr>
        <p:spPr>
          <a:xfrm>
            <a:off x="4020145" y="4549080"/>
            <a:ext cx="1605558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 + Circle</a:t>
            </a: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drives organic 2x</a:t>
            </a:r>
            <a:endParaRPr lang="en-US" sz="863" dirty="0"/>
          </a:p>
        </p:txBody>
      </p:sp>
      <p:pic>
        <p:nvPicPr>
          <p:cNvPr id="87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6275" y="4825305"/>
            <a:ext cx="190500" cy="190500"/>
          </a:xfrm>
          <a:prstGeom prst="rect">
            <a:avLst/>
          </a:prstGeom>
        </p:spPr>
      </p:pic>
      <p:sp>
        <p:nvSpPr>
          <p:cNvPr id="88" name="Text 67"/>
          <p:cNvSpPr txBox="1"/>
          <p:nvPr/>
        </p:nvSpPr>
        <p:spPr>
          <a:xfrm>
            <a:off x="942975" y="4825305"/>
            <a:ext cx="1636216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Skincare-infused</a:t>
            </a: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differentiates</a:t>
            </a:r>
            <a:endParaRPr lang="en-US" sz="863" dirty="0"/>
          </a:p>
        </p:txBody>
      </p:sp>
      <p:pic>
        <p:nvPicPr>
          <p:cNvPr id="89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53445" y="4825305"/>
            <a:ext cx="190500" cy="190500"/>
          </a:xfrm>
          <a:prstGeom prst="rect">
            <a:avLst/>
          </a:prstGeom>
        </p:spPr>
      </p:pic>
      <p:sp>
        <p:nvSpPr>
          <p:cNvPr id="90" name="Text 68"/>
          <p:cNvSpPr txBox="1"/>
          <p:nvPr/>
        </p:nvSpPr>
        <p:spPr>
          <a:xfrm>
            <a:off x="4020145" y="4825305"/>
            <a:ext cx="1632793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₹2Cr proof</a:t>
            </a: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PMF, 294 reviews</a:t>
            </a:r>
            <a:endParaRPr lang="en-US" sz="863" dirty="0"/>
          </a:p>
        </p:txBody>
      </p:sp>
      <p:sp>
        <p:nvSpPr>
          <p:cNvPr id="91" name="Shape 69"/>
          <p:cNvSpPr/>
          <p:nvPr/>
        </p:nvSpPr>
        <p:spPr>
          <a:xfrm>
            <a:off x="6991350" y="2771775"/>
            <a:ext cx="4705350" cy="3743325"/>
          </a:xfrm>
          <a:prstGeom prst="roundRect">
            <a:avLst>
              <a:gd name="adj" fmla="val 4071"/>
            </a:avLst>
          </a:prstGeom>
          <a:solidFill>
            <a:srgbClr val="2B1E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70"/>
          <p:cNvSpPr txBox="1"/>
          <p:nvPr/>
        </p:nvSpPr>
        <p:spPr>
          <a:xfrm>
            <a:off x="7164139" y="4213324"/>
            <a:ext cx="436096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kern="0" spc="83" dirty="0">
                <a:solidFill>
                  <a:srgbClr val="FFFBF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FUNNEL IMPACT</a:t>
            </a:r>
            <a:endParaRPr lang="en-US" sz="825" dirty="0"/>
          </a:p>
        </p:txBody>
      </p:sp>
      <p:pic>
        <p:nvPicPr>
          <p:cNvPr id="93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64139" y="4513362"/>
            <a:ext cx="57150" cy="57150"/>
          </a:xfrm>
          <a:prstGeom prst="rect">
            <a:avLst/>
          </a:prstGeom>
        </p:spPr>
      </p:pic>
      <p:sp>
        <p:nvSpPr>
          <p:cNvPr id="94" name="Text 71"/>
          <p:cNvSpPr txBox="1"/>
          <p:nvPr/>
        </p:nvSpPr>
        <p:spPr>
          <a:xfrm>
            <a:off x="7162800" y="45148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72"/>
          <p:cNvSpPr txBox="1"/>
          <p:nvPr/>
        </p:nvSpPr>
        <p:spPr>
          <a:xfrm>
            <a:off x="7316539" y="4465737"/>
            <a:ext cx="377889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views 5-10K → 50K</a:t>
            </a:r>
            <a:endParaRPr lang="en-US" sz="900" dirty="0"/>
          </a:p>
        </p:txBody>
      </p:sp>
      <p:sp>
        <p:nvSpPr>
          <p:cNvPr id="96" name="Text 73"/>
          <p:cNvSpPr txBox="1"/>
          <p:nvPr/>
        </p:nvSpPr>
        <p:spPr>
          <a:xfrm>
            <a:off x="11190684" y="4465737"/>
            <a:ext cx="33441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5x</a:t>
            </a:r>
            <a:endParaRPr lang="en-US" sz="900" dirty="0"/>
          </a:p>
        </p:txBody>
      </p:sp>
      <p:pic>
        <p:nvPicPr>
          <p:cNvPr id="97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64139" y="4741962"/>
            <a:ext cx="57150" cy="57150"/>
          </a:xfrm>
          <a:prstGeom prst="rect">
            <a:avLst/>
          </a:prstGeom>
        </p:spPr>
      </p:pic>
      <p:sp>
        <p:nvSpPr>
          <p:cNvPr id="98" name="Text 74"/>
          <p:cNvSpPr txBox="1"/>
          <p:nvPr/>
        </p:nvSpPr>
        <p:spPr>
          <a:xfrm>
            <a:off x="7162800" y="47434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75"/>
          <p:cNvSpPr txBox="1"/>
          <p:nvPr/>
        </p:nvSpPr>
        <p:spPr>
          <a:xfrm>
            <a:off x="7316539" y="4694337"/>
            <a:ext cx="377889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15% → 25%</a:t>
            </a:r>
            <a:endParaRPr lang="en-US" sz="900" dirty="0"/>
          </a:p>
        </p:txBody>
      </p:sp>
      <p:sp>
        <p:nvSpPr>
          <p:cNvPr id="100" name="Text 76"/>
          <p:cNvSpPr txBox="1"/>
          <p:nvPr/>
        </p:nvSpPr>
        <p:spPr>
          <a:xfrm>
            <a:off x="11190684" y="4694337"/>
            <a:ext cx="33441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+67%</a:t>
            </a:r>
            <a:endParaRPr lang="en-US" sz="900" dirty="0"/>
          </a:p>
        </p:txBody>
      </p:sp>
      <p:pic>
        <p:nvPicPr>
          <p:cNvPr id="101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64139" y="4970562"/>
            <a:ext cx="57150" cy="57150"/>
          </a:xfrm>
          <a:prstGeom prst="rect">
            <a:avLst/>
          </a:prstGeom>
        </p:spPr>
      </p:pic>
      <p:sp>
        <p:nvSpPr>
          <p:cNvPr id="102" name="Text 77"/>
          <p:cNvSpPr txBox="1"/>
          <p:nvPr/>
        </p:nvSpPr>
        <p:spPr>
          <a:xfrm>
            <a:off x="7162800" y="49720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78"/>
          <p:cNvSpPr txBox="1"/>
          <p:nvPr/>
        </p:nvSpPr>
        <p:spPr>
          <a:xfrm>
            <a:off x="7316539" y="4922937"/>
            <a:ext cx="377889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drives 70% traffic</a:t>
            </a:r>
            <a:endParaRPr lang="en-US" sz="900" dirty="0"/>
          </a:p>
        </p:txBody>
      </p:sp>
      <p:sp>
        <p:nvSpPr>
          <p:cNvPr id="104" name="Text 79"/>
          <p:cNvSpPr txBox="1"/>
          <p:nvPr/>
        </p:nvSpPr>
        <p:spPr>
          <a:xfrm>
            <a:off x="11190684" y="4922937"/>
            <a:ext cx="33441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524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kern="0" spc="165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&amp; CONCLUSION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576263"/>
            <a:ext cx="11125200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Seekh + Conclusion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938213"/>
            <a:ext cx="3962400" cy="16600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19175" y="1400175"/>
            <a:ext cx="295275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kern="0" spc="9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LEARNING 01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34778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14375" y="1352550"/>
            <a:ext cx="2286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 txBox="1"/>
          <p:nvPr/>
        </p:nvSpPr>
        <p:spPr>
          <a:xfrm>
            <a:off x="828675" y="14668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 txBox="1"/>
          <p:nvPr/>
        </p:nvSpPr>
        <p:spPr>
          <a:xfrm>
            <a:off x="714375" y="1652588"/>
            <a:ext cx="32575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trust = power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14375" y="1885950"/>
            <a:ext cx="32575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5.5M followers sirf audience nahi — ready-made testing group. Brand sunta hai, bolta nahi. Yahi taakat.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38213"/>
            <a:ext cx="3962400" cy="166002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72025" y="1400175"/>
            <a:ext cx="295275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kern="0" spc="9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LEARNING 02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1347788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467225" y="1352550"/>
            <a:ext cx="2286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049" y="1414463"/>
            <a:ext cx="94804" cy="9525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467225" y="1652588"/>
            <a:ext cx="32575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hi marketing hai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4467225" y="1885950"/>
            <a:ext cx="32575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Skincare-infused formula har use pe promise yaad dilata hai. 294 reviews on Brew = deep engagement.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650" y="938213"/>
            <a:ext cx="3962400" cy="1660029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524875" y="1400175"/>
            <a:ext cx="295275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kern="0" spc="9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LEARNING 03</a:t>
            </a:r>
            <a:endParaRPr lang="en-US" sz="7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075" y="1347788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220075" y="1352550"/>
            <a:ext cx="2286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946" y="1414463"/>
            <a:ext cx="106710" cy="9525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8220075" y="1652588"/>
            <a:ext cx="32575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3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Sasta + Aspirational possible</a:t>
            </a:r>
            <a:endParaRPr lang="en-US" sz="1050" dirty="0"/>
          </a:p>
        </p:txBody>
      </p:sp>
      <p:sp>
        <p:nvSpPr>
          <p:cNvPr id="24" name="Text 14"/>
          <p:cNvSpPr txBox="1"/>
          <p:nvPr/>
        </p:nvSpPr>
        <p:spPr>
          <a:xfrm>
            <a:off x="8220075" y="1885950"/>
            <a:ext cx="32575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ko Western vibe @ ₹499 chahiye. Mrucha ne ₹389-₹1,649 me premium feel diya.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533400" y="2543175"/>
            <a:ext cx="6867525" cy="3457575"/>
          </a:xfrm>
          <a:prstGeom prst="roundRect">
            <a:avLst>
              <a:gd name="adj" fmla="val 4959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6"/>
          <p:cNvSpPr txBox="1"/>
          <p:nvPr/>
        </p:nvSpPr>
        <p:spPr>
          <a:xfrm>
            <a:off x="6260306" y="2160091"/>
            <a:ext cx="1524000" cy="1524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656" y="2541091"/>
            <a:ext cx="4121944" cy="201543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746206" y="2712541"/>
            <a:ext cx="373141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kern="0" spc="83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TAKEAWAY</a:t>
            </a:r>
            <a:endParaRPr lang="en-US" sz="825" dirty="0"/>
          </a:p>
        </p:txBody>
      </p:sp>
      <p:sp>
        <p:nvSpPr>
          <p:cNvPr id="29" name="Text 18"/>
          <p:cNvSpPr txBox="1"/>
          <p:nvPr/>
        </p:nvSpPr>
        <p:spPr>
          <a:xfrm>
            <a:off x="7746206" y="2917329"/>
            <a:ext cx="3731419" cy="3598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sirf “Mrunal ka brand” nahi — Gen Z beauty powerhouse ban sakta hai.</a:t>
            </a:r>
            <a:endParaRPr lang="en-US" sz="1050" dirty="0"/>
          </a:p>
        </p:txBody>
      </p:sp>
      <p:sp>
        <p:nvSpPr>
          <p:cNvPr id="30" name="Text 19"/>
          <p:cNvSpPr txBox="1"/>
          <p:nvPr/>
        </p:nvSpPr>
        <p:spPr>
          <a:xfrm>
            <a:off x="7746206" y="3381970"/>
            <a:ext cx="3731419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spcBef>
                <a:spcPts val="7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 community ko sunna hai, product achha rakhna hai, consistently content banana hai.</a:t>
            </a:r>
            <a:endParaRPr lang="en-US" sz="863" dirty="0"/>
          </a:p>
        </p:txBody>
      </p:sp>
      <p:sp>
        <p:nvSpPr>
          <p:cNvPr id="31" name="Shape 20"/>
          <p:cNvSpPr/>
          <p:nvPr/>
        </p:nvSpPr>
        <p:spPr>
          <a:xfrm>
            <a:off x="7534275" y="4686300"/>
            <a:ext cx="1314450" cy="1304925"/>
          </a:xfrm>
          <a:prstGeom prst="roundRect">
            <a:avLst>
              <a:gd name="adj" fmla="val 7299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1"/>
          <p:cNvSpPr txBox="1"/>
          <p:nvPr/>
        </p:nvSpPr>
        <p:spPr>
          <a:xfrm>
            <a:off x="7650956" y="4804172"/>
            <a:ext cx="1088231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₹2Cr</a:t>
            </a:r>
            <a:endParaRPr lang="en-US" sz="1350" dirty="0"/>
          </a:p>
        </p:txBody>
      </p:sp>
      <p:sp>
        <p:nvSpPr>
          <p:cNvPr id="33" name="Text 22"/>
          <p:cNvSpPr txBox="1"/>
          <p:nvPr/>
        </p:nvSpPr>
        <p:spPr>
          <a:xfrm>
            <a:off x="7650956" y="5051822"/>
            <a:ext cx="10880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750" dirty="0"/>
          </a:p>
        </p:txBody>
      </p:sp>
      <p:sp>
        <p:nvSpPr>
          <p:cNvPr id="34" name="Shape 23"/>
          <p:cNvSpPr/>
          <p:nvPr/>
        </p:nvSpPr>
        <p:spPr>
          <a:xfrm>
            <a:off x="8934450" y="4686300"/>
            <a:ext cx="1314450" cy="1304925"/>
          </a:xfrm>
          <a:prstGeom prst="roundRect">
            <a:avLst>
              <a:gd name="adj" fmla="val 7299"/>
            </a:avLst>
          </a:prstGeom>
          <a:solidFill>
            <a:srgbClr val="F9E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4"/>
          <p:cNvSpPr txBox="1"/>
          <p:nvPr/>
        </p:nvSpPr>
        <p:spPr>
          <a:xfrm>
            <a:off x="9043988" y="4804172"/>
            <a:ext cx="1088082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6M</a:t>
            </a:r>
            <a:endParaRPr lang="en-US" sz="1350" dirty="0"/>
          </a:p>
        </p:txBody>
      </p:sp>
      <p:sp>
        <p:nvSpPr>
          <p:cNvPr id="36" name="Text 25"/>
          <p:cNvSpPr txBox="1"/>
          <p:nvPr/>
        </p:nvSpPr>
        <p:spPr>
          <a:xfrm>
            <a:off x="9043988" y="5051822"/>
            <a:ext cx="108823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75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2719" y="4689872"/>
            <a:ext cx="1335881" cy="130611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0446544" y="4813697"/>
            <a:ext cx="1088082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#Circle</a:t>
            </a:r>
            <a:endParaRPr lang="en-US" sz="1200" dirty="0"/>
          </a:p>
        </p:txBody>
      </p:sp>
      <p:sp>
        <p:nvSpPr>
          <p:cNvPr id="39" name="Text 27"/>
          <p:cNvSpPr txBox="1"/>
          <p:nvPr/>
        </p:nvSpPr>
        <p:spPr>
          <a:xfrm>
            <a:off x="10446544" y="5032772"/>
            <a:ext cx="10880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MOAT</a:t>
            </a:r>
            <a:endParaRPr lang="en-US" sz="750" dirty="0"/>
          </a:p>
        </p:txBody>
      </p:sp>
      <p:sp>
        <p:nvSpPr>
          <p:cNvPr id="40" name="Shape 28"/>
          <p:cNvSpPr/>
          <p:nvPr/>
        </p:nvSpPr>
        <p:spPr>
          <a:xfrm>
            <a:off x="533400" y="613410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A2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29"/>
          <p:cNvSpPr txBox="1"/>
          <p:nvPr/>
        </p:nvSpPr>
        <p:spPr>
          <a:xfrm>
            <a:off x="685800" y="6253163"/>
            <a:ext cx="141118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Raheen Pathan</a:t>
            </a:r>
            <a:r>
              <a:rPr lang="en-US" sz="82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Sep 2026</a:t>
            </a:r>
            <a:endParaRPr lang="en-US" sz="825" dirty="0"/>
          </a:p>
        </p:txBody>
      </p:sp>
      <p:sp>
        <p:nvSpPr>
          <p:cNvPr id="42" name="Text 30"/>
          <p:cNvSpPr txBox="1"/>
          <p:nvPr/>
        </p:nvSpPr>
        <p:spPr>
          <a:xfrm>
            <a:off x="2249388" y="6253163"/>
            <a:ext cx="186347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 </a:t>
            </a:r>
            <a:r>
              <a:rPr lang="en-US" sz="825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Mr. Sanchit Khandelwal</a:t>
            </a:r>
            <a:endParaRPr lang="en-US" sz="825" dirty="0"/>
          </a:p>
        </p:txBody>
      </p:sp>
      <p:sp>
        <p:nvSpPr>
          <p:cNvPr id="43" name="Text 31"/>
          <p:cNvSpPr txBox="1"/>
          <p:nvPr/>
        </p:nvSpPr>
        <p:spPr>
          <a:xfrm>
            <a:off x="4265265" y="6253163"/>
            <a:ext cx="61853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mrucha.com</a:t>
            </a:r>
            <a:endParaRPr lang="en-US" sz="825" dirty="0"/>
          </a:p>
        </p:txBody>
      </p:sp>
      <p:sp>
        <p:nvSpPr>
          <p:cNvPr id="44" name="Text 32"/>
          <p:cNvSpPr txBox="1"/>
          <p:nvPr/>
        </p:nvSpPr>
        <p:spPr>
          <a:xfrm>
            <a:off x="8476059" y="6253163"/>
            <a:ext cx="303014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• Skincare-Infused Makeup for Indian Skin Tones</a:t>
            </a:r>
            <a:endParaRPr lang="en-US" sz="825" dirty="0"/>
          </a:p>
        </p:txBody>
      </p:sp>
      <p:sp>
        <p:nvSpPr>
          <p:cNvPr id="45" name="Text 33"/>
          <p:cNvSpPr txBox="1"/>
          <p:nvPr/>
        </p:nvSpPr>
        <p:spPr>
          <a:xfrm>
            <a:off x="742950" y="3828455"/>
            <a:ext cx="6450806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Beauty — 1 saal me kamaal</a:t>
            </a:r>
            <a:endParaRPr lang="en-US" sz="12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4133255"/>
            <a:ext cx="114300" cy="15999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33450" y="4133255"/>
            <a:ext cx="4592241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 Crore sales in 5 months + Hurun India Top Founder Ranking + Loyal Mrucha Circle</a:t>
            </a:r>
            <a:endParaRPr lang="en-US" sz="90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4350395"/>
            <a:ext cx="100013" cy="15999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919162" y="4350395"/>
            <a:ext cx="516537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Aage: #MruchaCircle strong, feedback se new shades, brand ki apni pehchaan Mrunal ke alawa</a:t>
            </a:r>
            <a:endParaRPr lang="en-US" sz="900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4567535"/>
            <a:ext cx="114300" cy="159990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933450" y="4567535"/>
            <a:ext cx="3355181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Playbook: Consistent content + UGC + lean paid (₹15-25k/mo)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255584" y="685800"/>
            <a:ext cx="1280160" cy="1280160"/>
          </a:xfrm>
          <a:prstGeom prst="ellipse">
            <a:avLst/>
          </a:prstGeom>
          <a:solidFill>
            <a:srgbClr val="E8B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56384" y="4892040"/>
            <a:ext cx="1280160" cy="1280160"/>
          </a:xfrm>
          <a:prstGeom prst="ellipse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3108" y="914400"/>
            <a:ext cx="109728" cy="109728"/>
          </a:xfrm>
          <a:prstGeom prst="ellipse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57268" y="5669280"/>
            <a:ext cx="109728" cy="109728"/>
          </a:xfrm>
          <a:prstGeom prst="ellipse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52864" y="1234440"/>
            <a:ext cx="5486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52864" y="1508761"/>
            <a:ext cx="5486400" cy="438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000" b="0">
                <a:solidFill>
                  <a:srgbClr val="4A2314"/>
                </a:solidFill>
                <a:latin typeface="Poppins"/>
              </a:defRPr>
            </a:pPr>
            <a:r>
              <a:rPr sz="2000"/>
              <a:t>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64" y="1965960"/>
            <a:ext cx="5486400" cy="96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200" b="1">
                <a:solidFill>
                  <a:srgbClr val="4A2314"/>
                </a:solidFill>
                <a:latin typeface="Playfair Display"/>
              </a:defRPr>
            </a:pPr>
            <a:r>
              <a:rPr sz="5200"/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64" y="2971800"/>
            <a:ext cx="5486400" cy="37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0">
                <a:solidFill>
                  <a:srgbClr val="E8B89C"/>
                </a:solidFill>
                <a:latin typeface="Poppins"/>
              </a:defRPr>
            </a:pPr>
            <a:r>
              <a:rPr sz="1600"/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64" y="3337560"/>
            <a:ext cx="4572000" cy="620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200" b="0">
                <a:solidFill>
                  <a:srgbClr val="5A3A2E"/>
                </a:solidFill>
                <a:latin typeface="Poppins"/>
              </a:defRPr>
            </a:pPr>
            <a:r>
              <a:rPr sz="1200"/>
              <a:t>For being part of our #MruchaCircle</a:t>
            </a:r>
            <a:br>
              <a:rPr sz="1200"/>
            </a:br>
            <a:r>
              <a:rPr sz="1200"/>
              <a:t>Your trust makes us beautiful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47424" y="4434840"/>
            <a:ext cx="1097280" cy="25400"/>
          </a:xfrm>
          <a:prstGeom prst="rect">
            <a:avLst/>
          </a:prstGeom>
          <a:solidFill>
            <a:srgbClr val="4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2864" y="4709161"/>
            <a:ext cx="5486400" cy="26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1">
                <a:solidFill>
                  <a:srgbClr val="4A2314"/>
                </a:solidFill>
                <a:latin typeface="Montserrat"/>
              </a:defRPr>
            </a:pPr>
            <a:r>
              <a:rPr sz="1000"/>
              <a:t>Made with ♡ for Indian Skin Tones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Mrucha-Beauty-Case-Study-GitHub</Template>
  <TotalTime>0</TotalTime>
  <Words>2209</Words>
  <Application>Microsoft Office PowerPoint</Application>
  <PresentationFormat>Widescreen</PresentationFormat>
  <Paragraphs>455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Fraunces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Raheen Pathan</dc:creator>
  <cp:lastModifiedBy>Raheen Pathan</cp:lastModifiedBy>
  <cp:revision>1</cp:revision>
  <dcterms:created xsi:type="dcterms:W3CDTF">2026-09-22T06:15:21Z</dcterms:created>
  <dcterms:modified xsi:type="dcterms:W3CDTF">2026-09-22T06:15:42Z</dcterms:modified>
</cp:coreProperties>
</file>