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image" Target="../media/image-6-21.png"/><Relationship Id="rId22" Type="http://schemas.openxmlformats.org/officeDocument/2006/relationships/image" Target="../media/image-6-22.png"/><Relationship Id="rId23" Type="http://schemas.openxmlformats.org/officeDocument/2006/relationships/image" Target="../media/image-6-23.png"/><Relationship Id="rId24" Type="http://schemas.openxmlformats.org/officeDocument/2006/relationships/image" Target="../media/image-6-24.png"/><Relationship Id="rId25" Type="http://schemas.openxmlformats.org/officeDocument/2006/relationships/image" Target="../media/image-6-25.png"/><Relationship Id="rId26" Type="http://schemas.openxmlformats.org/officeDocument/2006/relationships/image" Target="../media/image-6-26.png"/><Relationship Id="rId27" Type="http://schemas.openxmlformats.org/officeDocument/2006/relationships/image" Target="../media/image-6-27.png"/><Relationship Id="rId28" Type="http://schemas.openxmlformats.org/officeDocument/2006/relationships/image" Target="../media/image-6-28.png"/><Relationship Id="rId29" Type="http://schemas.openxmlformats.org/officeDocument/2006/relationships/image" Target="../media/image-6-29.png"/><Relationship Id="rId30" Type="http://schemas.openxmlformats.org/officeDocument/2006/relationships/image" Target="../media/image-6-30.png"/><Relationship Id="rId31" Type="http://schemas.openxmlformats.org/officeDocument/2006/relationships/image" Target="../media/image-6-31.png"/><Relationship Id="rId32" Type="http://schemas.openxmlformats.org/officeDocument/2006/relationships/image" Target="../media/image-6-32.png"/><Relationship Id="rId33" Type="http://schemas.openxmlformats.org/officeDocument/2006/relationships/image" Target="../media/image-6-33.png"/><Relationship Id="rId34" Type="http://schemas.openxmlformats.org/officeDocument/2006/relationships/image" Target="../media/image-6-34.png"/><Relationship Id="rId35" Type="http://schemas.openxmlformats.org/officeDocument/2006/relationships/image" Target="../media/image-6-35.png"/><Relationship Id="rId36" Type="http://schemas.openxmlformats.org/officeDocument/2006/relationships/image" Target="../media/image-6-36.png"/><Relationship Id="rId37" Type="http://schemas.openxmlformats.org/officeDocument/2006/relationships/image" Target="../media/image-6-37.png"/><Relationship Id="rId38" Type="http://schemas.openxmlformats.org/officeDocument/2006/relationships/image" Target="../media/image-6-38.png"/><Relationship Id="rId39" Type="http://schemas.openxmlformats.org/officeDocument/2006/relationships/image" Target="../media/image-6-39.png"/><Relationship Id="rId40" Type="http://schemas.openxmlformats.org/officeDocument/2006/relationships/image" Target="../media/image-6-40.png"/><Relationship Id="rId41" Type="http://schemas.openxmlformats.org/officeDocument/2006/relationships/image" Target="../media/image-6-41.png"/><Relationship Id="rId42" Type="http://schemas.openxmlformats.org/officeDocument/2006/relationships/image" Target="../media/image-6-42.png"/><Relationship Id="rId43" Type="http://schemas.openxmlformats.org/officeDocument/2006/relationships/image" Target="../media/image-6-43.png"/><Relationship Id="rId44" Type="http://schemas.openxmlformats.org/officeDocument/2006/relationships/image" Target="../media/image-6-44.png"/><Relationship Id="rId45" Type="http://schemas.openxmlformats.org/officeDocument/2006/relationships/image" Target="../media/image-6-45.png"/><Relationship Id="rId46" Type="http://schemas.openxmlformats.org/officeDocument/2006/relationships/image" Target="../media/image-6-46.png"/><Relationship Id="rId47" Type="http://schemas.openxmlformats.org/officeDocument/2006/relationships/image" Target="../media/image-6-47.png"/><Relationship Id="rId48" Type="http://schemas.openxmlformats.org/officeDocument/2006/relationships/image" Target="../media/image-6-48.png"/><Relationship Id="rId49" Type="http://schemas.openxmlformats.org/officeDocument/2006/relationships/slideLayout" Target="../slideLayouts/slideLayout1.xml"/><Relationship Id="rId5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image" Target="../media/image-9-20.png"/><Relationship Id="rId21" Type="http://schemas.openxmlformats.org/officeDocument/2006/relationships/image" Target="../media/image-9-21.png"/><Relationship Id="rId22" Type="http://schemas.openxmlformats.org/officeDocument/2006/relationships/image" Target="../media/image-9-22.png"/><Relationship Id="rId23" Type="http://schemas.openxmlformats.org/officeDocument/2006/relationships/image" Target="../media/image-9-23.png"/><Relationship Id="rId24" Type="http://schemas.openxmlformats.org/officeDocument/2006/relationships/image" Target="../media/image-9-24.png"/><Relationship Id="rId25" Type="http://schemas.openxmlformats.org/officeDocument/2006/relationships/image" Target="../media/image-9-25.png"/><Relationship Id="rId26" Type="http://schemas.openxmlformats.org/officeDocument/2006/relationships/image" Target="../media/image-9-26.png"/><Relationship Id="rId27" Type="http://schemas.openxmlformats.org/officeDocument/2006/relationships/image" Target="../media/image-9-27.png"/><Relationship Id="rId28" Type="http://schemas.openxmlformats.org/officeDocument/2006/relationships/image" Target="../media/image-9-28.png"/><Relationship Id="rId29" Type="http://schemas.openxmlformats.org/officeDocument/2006/relationships/image" Target="../media/image-9-29.png"/><Relationship Id="rId30" Type="http://schemas.openxmlformats.org/officeDocument/2006/relationships/image" Target="../media/image-9-30.png"/><Relationship Id="rId31" Type="http://schemas.openxmlformats.org/officeDocument/2006/relationships/image" Target="../media/image-9-31.png"/><Relationship Id="rId32" Type="http://schemas.openxmlformats.org/officeDocument/2006/relationships/image" Target="../media/image-9-32.png"/><Relationship Id="rId33" Type="http://schemas.openxmlformats.org/officeDocument/2006/relationships/image" Target="../media/image-9-33.png"/><Relationship Id="rId34" Type="http://schemas.openxmlformats.org/officeDocument/2006/relationships/image" Target="../media/image-9-34.png"/><Relationship Id="rId35" Type="http://schemas.openxmlformats.org/officeDocument/2006/relationships/image" Target="../media/image-9-35.png"/><Relationship Id="rId36" Type="http://schemas.openxmlformats.org/officeDocument/2006/relationships/image" Target="../media/image-9-36.png"/><Relationship Id="rId37" Type="http://schemas.openxmlformats.org/officeDocument/2006/relationships/image" Target="../media/image-9-37.png"/><Relationship Id="rId38" Type="http://schemas.openxmlformats.org/officeDocument/2006/relationships/image" Target="../media/image-9-38.png"/><Relationship Id="rId39" Type="http://schemas.openxmlformats.org/officeDocument/2006/relationships/image" Target="../media/image-9-39.png"/><Relationship Id="rId40" Type="http://schemas.openxmlformats.org/officeDocument/2006/relationships/image" Target="../media/image-9-40.png"/><Relationship Id="rId41" Type="http://schemas.openxmlformats.org/officeDocument/2006/relationships/image" Target="../media/image-9-41.png"/><Relationship Id="rId42" Type="http://schemas.openxmlformats.org/officeDocument/2006/relationships/image" Target="../media/image-9-42.png"/><Relationship Id="rId43" Type="http://schemas.openxmlformats.org/officeDocument/2006/relationships/image" Target="../media/image-9-43.png"/><Relationship Id="rId44" Type="http://schemas.openxmlformats.org/officeDocument/2006/relationships/image" Target="../media/image-9-44.png"/><Relationship Id="rId45" Type="http://schemas.openxmlformats.org/officeDocument/2006/relationships/image" Target="../media/image-9-45.png"/><Relationship Id="rId46" Type="http://schemas.openxmlformats.org/officeDocument/2006/relationships/image" Target="../media/image-9-46.png"/><Relationship Id="rId47" Type="http://schemas.openxmlformats.org/officeDocument/2006/relationships/image" Target="../media/image-9-47.png"/><Relationship Id="rId48" Type="http://schemas.openxmlformats.org/officeDocument/2006/relationships/image" Target="../media/image-9-48.png"/><Relationship Id="rId49" Type="http://schemas.openxmlformats.org/officeDocument/2006/relationships/image" Target="../media/image-9-49.png"/><Relationship Id="rId50" Type="http://schemas.openxmlformats.org/officeDocument/2006/relationships/image" Target="../media/image-9-50.png"/><Relationship Id="rId51" Type="http://schemas.openxmlformats.org/officeDocument/2006/relationships/image" Target="../media/image-9-51.png"/><Relationship Id="rId52" Type="http://schemas.openxmlformats.org/officeDocument/2006/relationships/image" Target="../media/image-9-52.png"/><Relationship Id="rId53" Type="http://schemas.openxmlformats.org/officeDocument/2006/relationships/slideLayout" Target="../slideLayouts/slideLayout1.xml"/><Relationship Id="rId5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png"/><Relationship Id="rId19" Type="http://schemas.openxmlformats.org/officeDocument/2006/relationships/image" Target="../media/image-11-19.png"/><Relationship Id="rId20" Type="http://schemas.openxmlformats.org/officeDocument/2006/relationships/image" Target="../media/image-11-20.png"/><Relationship Id="rId21" Type="http://schemas.openxmlformats.org/officeDocument/2006/relationships/image" Target="../media/image-11-21.png"/><Relationship Id="rId22" Type="http://schemas.openxmlformats.org/officeDocument/2006/relationships/image" Target="../media/image-11-22.png"/><Relationship Id="rId23" Type="http://schemas.openxmlformats.org/officeDocument/2006/relationships/image" Target="../media/image-11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pn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png"/><Relationship Id="rId19" Type="http://schemas.openxmlformats.org/officeDocument/2006/relationships/image" Target="../media/image-12-19.png"/><Relationship Id="rId20" Type="http://schemas.openxmlformats.org/officeDocument/2006/relationships/image" Target="../media/image-12-20.png"/><Relationship Id="rId21" Type="http://schemas.openxmlformats.org/officeDocument/2006/relationships/image" Target="../media/image-12-21.png"/><Relationship Id="rId22" Type="http://schemas.openxmlformats.org/officeDocument/2006/relationships/image" Target="../media/image-12-22.png"/><Relationship Id="rId23" Type="http://schemas.openxmlformats.org/officeDocument/2006/relationships/image" Target="../media/image-12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581775" cy="6858000"/>
          </a:xfrm>
          <a:prstGeom prst="rect">
            <a:avLst/>
          </a:prstGeom>
          <a:solidFill>
            <a:srgbClr val="3D1E12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0" y="0"/>
            <a:ext cx="6583566" cy="68580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6581775" y="0"/>
            <a:ext cx="5610225" cy="6858000"/>
          </a:xfrm>
          <a:prstGeom prst="rect">
            <a:avLst/>
          </a:prstGeom>
          <a:solidFill>
            <a:srgbClr val="FFFBF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0896452" y="457200"/>
            <a:ext cx="838200" cy="838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7116961" y="1296442"/>
            <a:ext cx="454149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1350"/>
              </a:spcAft>
              <a:buNone/>
            </a:pPr>
            <a:r>
              <a:rPr lang="en-US" sz="825" b="1" spc="165" kern="0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STUDY • #MRUCHACIRCLE • SKINCARE-INFUSED MAKEUP</a:t>
            </a:r>
            <a:endParaRPr lang="en-US" sz="825" dirty="0"/>
          </a:p>
        </p:txBody>
      </p:sp>
      <p:sp>
        <p:nvSpPr>
          <p:cNvPr id="8" name="Text 5"/>
          <p:cNvSpPr txBox="1"/>
          <p:nvPr/>
        </p:nvSpPr>
        <p:spPr>
          <a:xfrm>
            <a:off x="7116961" y="1615529"/>
            <a:ext cx="4541490" cy="130284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700"/>
              </a:lnSpc>
              <a:buNone/>
            </a:pPr>
            <a:r>
              <a:rPr lang="en-US" sz="5700" b="1" spc="-114" kern="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Mrucha</a:t>
            </a:r>
            <a:endParaRPr lang="en-US" sz="5700" dirty="0"/>
          </a:p>
          <a:p>
            <a:pPr algn="l" indent="0" marL="0">
              <a:lnSpc>
                <a:spcPts val="5700"/>
              </a:lnSpc>
              <a:spcAft>
                <a:spcPts val="900"/>
              </a:spcAft>
              <a:buNone/>
            </a:pPr>
            <a:r>
              <a:rPr lang="en-US" sz="5700" b="1" spc="-114" kern="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Beauty</a:t>
            </a:r>
            <a:endParaRPr lang="en-US" sz="5700" dirty="0"/>
          </a:p>
        </p:txBody>
      </p:sp>
      <p:sp>
        <p:nvSpPr>
          <p:cNvPr id="9" name="Text 6"/>
          <p:cNvSpPr txBox="1"/>
          <p:nvPr/>
        </p:nvSpPr>
        <p:spPr>
          <a:xfrm>
            <a:off x="7116961" y="3051721"/>
            <a:ext cx="4541490" cy="4381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B1E1E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Clean, cruelty-free D2C for diverse Indian skin tones</a:t>
            </a:r>
            <a:endParaRPr lang="en-US" sz="1200" dirty="0"/>
          </a:p>
          <a:p>
            <a:pPr algn="l" indent="0" marL="0">
              <a:lnSpc>
                <a:spcPts val="1800"/>
              </a:lnSpc>
              <a:spcAft>
                <a:spcPts val="2100"/>
              </a:spcAft>
              <a:buNone/>
            </a:pPr>
            <a:r>
              <a:rPr lang="en-US" sz="1200" dirty="0">
                <a:solidFill>
                  <a:srgbClr val="2B1E1E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Shade, Your Story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115175" y="3752850"/>
            <a:ext cx="457200" cy="28575"/>
          </a:xfrm>
          <a:prstGeom prst="roundRect">
            <a:avLst>
              <a:gd name="adj" fmla="val 66667"/>
            </a:avLst>
          </a:prstGeom>
          <a:solidFill>
            <a:srgbClr val="D1886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116961" y="4061371"/>
            <a:ext cx="217542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225"/>
              </a:spcAft>
              <a:buNone/>
            </a:pPr>
            <a:r>
              <a:rPr lang="en-US" sz="750" b="1" spc="105" kern="0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</a:t>
            </a:r>
            <a:endParaRPr lang="en-US" sz="750" dirty="0"/>
          </a:p>
        </p:txBody>
      </p:sp>
      <p:sp>
        <p:nvSpPr>
          <p:cNvPr id="12" name="Text 9"/>
          <p:cNvSpPr txBox="1"/>
          <p:nvPr/>
        </p:nvSpPr>
        <p:spPr>
          <a:xfrm>
            <a:off x="7116961" y="4242346"/>
            <a:ext cx="2175421" cy="1809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Raheen Pathan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9482882" y="4061371"/>
            <a:ext cx="217557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225"/>
              </a:spcAft>
              <a:buNone/>
            </a:pPr>
            <a:r>
              <a:rPr lang="en-US" sz="750" b="1" spc="105" kern="0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</a:t>
            </a:r>
            <a:endParaRPr lang="en-US" sz="750" dirty="0"/>
          </a:p>
        </p:txBody>
      </p:sp>
      <p:sp>
        <p:nvSpPr>
          <p:cNvPr id="14" name="Text 11"/>
          <p:cNvSpPr txBox="1"/>
          <p:nvPr/>
        </p:nvSpPr>
        <p:spPr>
          <a:xfrm>
            <a:off x="9482882" y="4242346"/>
            <a:ext cx="2175570" cy="1809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 2026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7116961" y="4585246"/>
            <a:ext cx="217542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225"/>
              </a:spcAft>
              <a:buNone/>
            </a:pPr>
            <a:r>
              <a:rPr lang="en-US" sz="750" b="1" spc="105" kern="0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SUBMITTED TO</a:t>
            </a:r>
            <a:endParaRPr lang="en-US" sz="750" dirty="0"/>
          </a:p>
        </p:txBody>
      </p:sp>
      <p:sp>
        <p:nvSpPr>
          <p:cNvPr id="16" name="Text 13"/>
          <p:cNvSpPr txBox="1"/>
          <p:nvPr/>
        </p:nvSpPr>
        <p:spPr>
          <a:xfrm>
            <a:off x="7116961" y="4766221"/>
            <a:ext cx="2175421" cy="1809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Mr. Sanchit Khandelwal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9482882" y="4585246"/>
            <a:ext cx="217557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225"/>
              </a:spcAft>
              <a:buNone/>
            </a:pPr>
            <a:r>
              <a:rPr lang="en-US" sz="750" b="1" spc="105" kern="0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</a:t>
            </a:r>
            <a:endParaRPr lang="en-US" sz="750" dirty="0"/>
          </a:p>
        </p:txBody>
      </p:sp>
      <p:sp>
        <p:nvSpPr>
          <p:cNvPr id="18" name="Text 15"/>
          <p:cNvSpPr txBox="1"/>
          <p:nvPr/>
        </p:nvSpPr>
        <p:spPr>
          <a:xfrm>
            <a:off x="9482882" y="4766221"/>
            <a:ext cx="2175570" cy="1809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mrucha.com</a:t>
            </a:r>
            <a:endParaRPr lang="en-US" sz="105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6961" y="5194846"/>
            <a:ext cx="4541490" cy="376238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500342" y="5299621"/>
            <a:ext cx="4005709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spcBef>
                <a:spcPts val="1950"/>
              </a:spcBef>
              <a:buNone/>
            </a:pPr>
            <a:r>
              <a:rPr lang="en-US" sz="975" b="1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https://mrucha.com</a:t>
            </a:r>
            <a:endParaRPr lang="en-US" sz="975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361" y="5321052"/>
            <a:ext cx="154781" cy="123825"/>
          </a:xfrm>
          <a:prstGeom prst="rect">
            <a:avLst/>
          </a:prstGeom>
        </p:spPr>
      </p:pic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0900" y="1822400"/>
            <a:ext cx="4081760" cy="32131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876300"/>
            <a:ext cx="613410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900"/>
              </a:spcAft>
              <a:buNone/>
            </a:pPr>
            <a:r>
              <a:rPr lang="en-US" sz="825" b="1" spc="165" kern="0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825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1138238"/>
            <a:ext cx="6134100" cy="93255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72"/>
              </a:lnSpc>
              <a:spcAft>
                <a:spcPts val="1500"/>
              </a:spcAft>
              <a:buNone/>
            </a:pPr>
            <a:r>
              <a:rPr lang="en-US" sz="3600" b="1" spc="-72" kern="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this Case Study About?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33400" y="2280345"/>
            <a:ext cx="6134100" cy="45333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spcAft>
                <a:spcPts val="1050"/>
              </a:spcAft>
              <a:buNone/>
            </a:pPr>
            <a:r>
              <a:rPr lang="en-US" sz="1163" dirty="0">
                <a:solidFill>
                  <a:srgbClr val="2B1E1E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 case study </a:t>
            </a:r>
            <a:pPr indent="0" marL="0">
              <a:buNone/>
            </a:pPr>
            <a:r>
              <a:rPr lang="en-US" sz="1163" b="1" dirty="0">
                <a:solidFill>
                  <a:srgbClr val="4A2315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Mrucha Beauty</a:t>
            </a:r>
            <a:pPr indent="0" marL="0">
              <a:buNone/>
            </a:pPr>
            <a:r>
              <a:rPr lang="en-US" sz="1163" dirty="0">
                <a:solidFill>
                  <a:srgbClr val="2B1E1E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ke baare mein hai — ek naya Indian makeup brand jo famous creator </a:t>
            </a:r>
            <a:pPr indent="0" marL="0">
              <a:buNone/>
            </a:pPr>
            <a:r>
              <a:rPr lang="en-US" sz="1163" b="1" dirty="0">
                <a:solidFill>
                  <a:srgbClr val="4A2315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Mrunal Panchal (Mrunu)</a:t>
            </a:r>
            <a:pPr indent="0" marL="0">
              <a:buNone/>
            </a:pPr>
            <a:r>
              <a:rPr lang="en-US" sz="1163" dirty="0">
                <a:solidFill>
                  <a:srgbClr val="2B1E1E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ne launch kiya hai.</a:t>
            </a:r>
            <a:endParaRPr lang="en-US" sz="1163" dirty="0"/>
          </a:p>
        </p:txBody>
      </p:sp>
      <p:sp>
        <p:nvSpPr>
          <p:cNvPr id="5" name="Text 3"/>
          <p:cNvSpPr txBox="1"/>
          <p:nvPr/>
        </p:nvSpPr>
        <p:spPr>
          <a:xfrm>
            <a:off x="533400" y="2886075"/>
            <a:ext cx="6134100" cy="45333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spcAft>
                <a:spcPts val="1050"/>
              </a:spcAft>
              <a:buNone/>
            </a:pPr>
            <a:r>
              <a:rPr lang="en-US" sz="1163" dirty="0">
                <a:solidFill>
                  <a:srgbClr val="2B1E1E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Creator-led D2C brand kaise 5 mahine me ₹2 Cr sell karta hai — uski community strategy, gaps aur growth playbook.</a:t>
            </a:r>
            <a:endParaRPr lang="en-US" sz="1163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563243"/>
            <a:ext cx="5753100" cy="2143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900" b="1" dirty="0">
                <a:solidFill>
                  <a:srgbClr val="FFFBF7"/>
                </a:solidFill>
                <a:highlight>
                  <a:srgbClr val="4A2315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pPr indent="0" marL="0">
              <a:buNone/>
            </a:pPr>
            <a:r>
              <a:rPr lang="en-US" sz="1050" dirty="0">
                <a:solidFill>
                  <a:srgbClr val="585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Brand kya hai + kaise shuru hua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925193"/>
            <a:ext cx="5753100" cy="2143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900" b="1" dirty="0">
                <a:solidFill>
                  <a:srgbClr val="FFFBF7"/>
                </a:solidFill>
                <a:highlight>
                  <a:srgbClr val="4A2315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pPr indent="0" marL="0">
              <a:buNone/>
            </a:pPr>
            <a:r>
              <a:rPr lang="en-US" sz="1050" dirty="0">
                <a:solidFill>
                  <a:srgbClr val="585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Problem &amp; Gaps kya hai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287143"/>
            <a:ext cx="5753100" cy="2143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900" b="1" dirty="0">
                <a:solidFill>
                  <a:srgbClr val="FFFBF7"/>
                </a:solidFill>
                <a:highlight>
                  <a:srgbClr val="4A2315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pPr indent="0" marL="0">
              <a:buNone/>
            </a:pPr>
            <a:r>
              <a:rPr lang="en-US" sz="1050" dirty="0">
                <a:solidFill>
                  <a:srgbClr val="585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Customer, Competitors kaun hain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649093"/>
            <a:ext cx="5753100" cy="2143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900" b="1" dirty="0">
                <a:solidFill>
                  <a:srgbClr val="FFFBF7"/>
                </a:solidFill>
                <a:highlight>
                  <a:srgbClr val="4A2315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pPr indent="0" marL="0">
              <a:buNone/>
            </a:pPr>
            <a:r>
              <a:rPr lang="en-US" sz="1050" dirty="0">
                <a:solidFill>
                  <a:srgbClr val="5855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Digital marketing + Learning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523875"/>
            <a:ext cx="5067300" cy="230505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362825" y="1085850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DF0E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8550" y="1171575"/>
            <a:ext cx="171450" cy="17145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9906" y="1140619"/>
            <a:ext cx="740569" cy="23336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775156" y="1188244"/>
            <a:ext cx="550069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TRACTION</a:t>
            </a:r>
            <a:endParaRPr lang="en-US" sz="825" dirty="0"/>
          </a:p>
        </p:txBody>
      </p:sp>
      <p:sp>
        <p:nvSpPr>
          <p:cNvPr id="15" name="Text 10"/>
          <p:cNvSpPr txBox="1"/>
          <p:nvPr/>
        </p:nvSpPr>
        <p:spPr>
          <a:xfrm>
            <a:off x="7362825" y="1543050"/>
            <a:ext cx="4057650" cy="3048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₹2 Cr</a:t>
            </a:r>
            <a:endParaRPr lang="en-US" sz="2400" dirty="0"/>
          </a:p>
        </p:txBody>
      </p:sp>
      <p:sp>
        <p:nvSpPr>
          <p:cNvPr id="16" name="Text 11"/>
          <p:cNvSpPr txBox="1"/>
          <p:nvPr/>
        </p:nvSpPr>
        <p:spPr>
          <a:xfrm>
            <a:off x="7362825" y="1895475"/>
            <a:ext cx="405765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300"/>
              </a:spcBef>
              <a:buNone/>
            </a:pPr>
            <a:r>
              <a:rPr lang="en-US" sz="825" b="1" spc="66" kern="0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IN 5 MONTHS</a:t>
            </a:r>
            <a:endParaRPr lang="en-US" sz="825" dirty="0"/>
          </a:p>
        </p:txBody>
      </p:sp>
      <p:sp>
        <p:nvSpPr>
          <p:cNvPr id="17" name="Text 12"/>
          <p:cNvSpPr txBox="1"/>
          <p:nvPr/>
        </p:nvSpPr>
        <p:spPr>
          <a:xfrm>
            <a:off x="7362825" y="2109788"/>
            <a:ext cx="4057650" cy="1571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spcBef>
                <a:spcPts val="450"/>
              </a:spcBef>
              <a:buNone/>
            </a:pPr>
            <a:r>
              <a:rPr lang="en-US" sz="938" dirty="0">
                <a:solidFill>
                  <a:srgbClr val="2B1E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 2024 launch se Feb 2025 tak organic growth</a:t>
            </a:r>
            <a:endParaRPr lang="en-US" sz="938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2276475"/>
            <a:ext cx="5067300" cy="230505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7362825" y="2838450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DF0E9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9266" y="2924175"/>
            <a:ext cx="150019" cy="171450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67876" y="2893219"/>
            <a:ext cx="552599" cy="233362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0963126" y="2940844"/>
            <a:ext cx="362099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</a:t>
            </a:r>
            <a:endParaRPr lang="en-US" sz="825" dirty="0"/>
          </a:p>
        </p:txBody>
      </p:sp>
      <p:sp>
        <p:nvSpPr>
          <p:cNvPr id="23" name="Text 15"/>
          <p:cNvSpPr txBox="1"/>
          <p:nvPr/>
        </p:nvSpPr>
        <p:spPr>
          <a:xfrm>
            <a:off x="7362825" y="3295650"/>
            <a:ext cx="4057650" cy="3048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5.5M</a:t>
            </a:r>
            <a:endParaRPr lang="en-US" sz="2400" dirty="0"/>
          </a:p>
        </p:txBody>
      </p:sp>
      <p:sp>
        <p:nvSpPr>
          <p:cNvPr id="24" name="Text 16"/>
          <p:cNvSpPr txBox="1"/>
          <p:nvPr/>
        </p:nvSpPr>
        <p:spPr>
          <a:xfrm>
            <a:off x="7362825" y="3648075"/>
            <a:ext cx="405765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300"/>
              </a:spcBef>
              <a:buNone/>
            </a:pPr>
            <a:r>
              <a:rPr lang="en-US" sz="825" b="1" spc="66" kern="0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FOUNDER FOLLOWERS • @MRUNU</a:t>
            </a:r>
            <a:endParaRPr lang="en-US" sz="825" dirty="0"/>
          </a:p>
        </p:txBody>
      </p:sp>
      <p:sp>
        <p:nvSpPr>
          <p:cNvPr id="25" name="Text 17"/>
          <p:cNvSpPr txBox="1"/>
          <p:nvPr/>
        </p:nvSpPr>
        <p:spPr>
          <a:xfrm>
            <a:off x="7362825" y="3862387"/>
            <a:ext cx="4057650" cy="1571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spcBef>
                <a:spcPts val="450"/>
              </a:spcBef>
              <a:buNone/>
            </a:pPr>
            <a:r>
              <a:rPr lang="en-US" sz="938" dirty="0">
                <a:solidFill>
                  <a:srgbClr val="2B1E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Built-in focus group &amp; distribution channel</a:t>
            </a:r>
            <a:endParaRPr lang="en-US" sz="938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4029075"/>
            <a:ext cx="5067300" cy="2305050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7362825" y="4591050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DF0E9"/>
          </a:solidFill>
          <a:ln/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48550" y="4676775"/>
            <a:ext cx="171450" cy="171450"/>
          </a:xfrm>
          <a:prstGeom prst="rect">
            <a:avLst/>
          </a:prstGeom>
        </p:spPr>
      </p:pic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82151" y="4645819"/>
            <a:ext cx="638324" cy="233362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10877401" y="4693444"/>
            <a:ext cx="447824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</a:t>
            </a:r>
            <a:endParaRPr lang="en-US" sz="825" dirty="0"/>
          </a:p>
        </p:txBody>
      </p:sp>
      <p:sp>
        <p:nvSpPr>
          <p:cNvPr id="31" name="Text 20"/>
          <p:cNvSpPr txBox="1"/>
          <p:nvPr/>
        </p:nvSpPr>
        <p:spPr>
          <a:xfrm>
            <a:off x="7362825" y="5048250"/>
            <a:ext cx="4057650" cy="3048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 2024</a:t>
            </a:r>
            <a:endParaRPr lang="en-US" sz="2400" dirty="0"/>
          </a:p>
        </p:txBody>
      </p:sp>
      <p:sp>
        <p:nvSpPr>
          <p:cNvPr id="32" name="Text 21"/>
          <p:cNvSpPr txBox="1"/>
          <p:nvPr/>
        </p:nvSpPr>
        <p:spPr>
          <a:xfrm>
            <a:off x="7362825" y="5400675"/>
            <a:ext cx="405765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300"/>
              </a:spcBef>
              <a:buNone/>
            </a:pPr>
            <a:r>
              <a:rPr lang="en-US" sz="825" b="1" spc="66" kern="0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OFFICIALLY LAUNCHED • JAN 2024 INC.</a:t>
            </a:r>
            <a:endParaRPr lang="en-US" sz="825" dirty="0"/>
          </a:p>
        </p:txBody>
      </p:sp>
      <p:sp>
        <p:nvSpPr>
          <p:cNvPr id="33" name="Text 22"/>
          <p:cNvSpPr txBox="1"/>
          <p:nvPr/>
        </p:nvSpPr>
        <p:spPr>
          <a:xfrm>
            <a:off x="7362825" y="5614988"/>
            <a:ext cx="4057650" cy="1571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spcBef>
                <a:spcPts val="450"/>
              </a:spcBef>
              <a:buNone/>
            </a:pPr>
            <a:r>
              <a:rPr lang="en-US" sz="938" dirty="0">
                <a:solidFill>
                  <a:srgbClr val="2B1E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D2C via mrucha.com • Clean &amp; cruelty-free</a:t>
            </a:r>
            <a:endParaRPr lang="en-US" sz="938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1449735"/>
            <a:ext cx="769173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600"/>
              </a:spcAft>
              <a:buNone/>
            </a:pPr>
            <a:r>
              <a:rPr lang="en-US" sz="825" b="1" spc="165" kern="0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STORY — SIMPLE WORDS MEIN</a:t>
            </a:r>
            <a:endParaRPr lang="en-US" sz="825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1673572"/>
            <a:ext cx="7691735" cy="41999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8"/>
              </a:lnSpc>
              <a:buNone/>
            </a:pPr>
            <a:r>
              <a:rPr lang="en-US" sz="315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Skincare + Makeup, Indian Skin Ke Liye</a:t>
            </a:r>
            <a:endParaRPr lang="en-US" sz="3150" dirty="0"/>
          </a:p>
        </p:txBody>
      </p:sp>
      <p:sp>
        <p:nvSpPr>
          <p:cNvPr id="4" name="Text 2"/>
          <p:cNvSpPr txBox="1"/>
          <p:nvPr/>
        </p:nvSpPr>
        <p:spPr>
          <a:xfrm>
            <a:off x="9967466" y="1773585"/>
            <a:ext cx="1691134" cy="3199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2B1E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Mru + Cha = Mrucha</a:t>
            </a:r>
            <a:endParaRPr lang="en-US" sz="900" dirty="0"/>
          </a:p>
          <a:p>
            <a:pPr algn="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A2315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Mrunal Panchal 26yr • 5.5M IG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00" y="1998315"/>
            <a:ext cx="6505575" cy="376237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0575" y="2600325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4A231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81075" y="2790825"/>
            <a:ext cx="0" cy="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 txBox="1"/>
          <p:nvPr/>
        </p:nvSpPr>
        <p:spPr>
          <a:xfrm>
            <a:off x="1304925" y="2617440"/>
            <a:ext cx="4943475" cy="1809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Mrucha Beauty kya hai?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304925" y="2846040"/>
            <a:ext cx="4943475" cy="3619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1E1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Makeup jo skincare ingredients ke saath — lipstick sirf color nahi, nourish bhi karta hai. Peptides, Hyaluronic, Shea &amp; Kokum Butter.</a:t>
            </a:r>
            <a:endParaRPr lang="en-US" sz="975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25" y="3303240"/>
            <a:ext cx="672108" cy="29051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9225" y="3379440"/>
            <a:ext cx="443508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Peptides</a:t>
            </a:r>
            <a:endParaRPr lang="en-US" sz="825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3233" y="3303240"/>
            <a:ext cx="775841" cy="29051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167533" y="3379440"/>
            <a:ext cx="547241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Hyaluronic</a:t>
            </a:r>
            <a:endParaRPr lang="en-US" sz="825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5274" y="3303240"/>
            <a:ext cx="819448" cy="290513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019574" y="3379440"/>
            <a:ext cx="590848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Shea Butter</a:t>
            </a:r>
            <a:endParaRPr lang="en-US" sz="825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0921" y="3303240"/>
            <a:ext cx="580132" cy="290513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3915221" y="3379440"/>
            <a:ext cx="351532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Kokum</a:t>
            </a:r>
            <a:endParaRPr lang="en-US" sz="825" dirty="0"/>
          </a:p>
        </p:txBody>
      </p:sp>
      <p:sp>
        <p:nvSpPr>
          <p:cNvPr id="18" name="Shape 11"/>
          <p:cNvSpPr/>
          <p:nvPr/>
        </p:nvSpPr>
        <p:spPr>
          <a:xfrm>
            <a:off x="790575" y="3762375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4A2315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879503"/>
            <a:ext cx="133350" cy="15240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304925" y="3784253"/>
            <a:ext cx="4943475" cy="1809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Kab launch hua?</a:t>
            </a:r>
            <a:endParaRPr lang="en-US" sz="1050" dirty="0"/>
          </a:p>
        </p:txBody>
      </p:sp>
      <p:sp>
        <p:nvSpPr>
          <p:cNvPr id="21" name="Text 13"/>
          <p:cNvSpPr txBox="1"/>
          <p:nvPr/>
        </p:nvSpPr>
        <p:spPr>
          <a:xfrm>
            <a:off x="1304925" y="4012853"/>
            <a:ext cx="4943475" cy="3619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1E1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Company Jan 2024 registered • Products Nov 2024 launched — 5 mahine me ₹2Cr sales, Hurun ranking.</a:t>
            </a:r>
            <a:endParaRPr lang="en-US" sz="975" dirty="0"/>
          </a:p>
        </p:txBody>
      </p:sp>
      <p:sp>
        <p:nvSpPr>
          <p:cNvPr id="22" name="Shape 14"/>
          <p:cNvSpPr/>
          <p:nvPr/>
        </p:nvSpPr>
        <p:spPr>
          <a:xfrm>
            <a:off x="790575" y="4543425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4A2315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825" y="4660553"/>
            <a:ext cx="190500" cy="15240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304925" y="4565303"/>
            <a:ext cx="4943475" cy="1809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Kaun banaya?</a:t>
            </a:r>
            <a:endParaRPr lang="en-US" sz="1050" dirty="0"/>
          </a:p>
        </p:txBody>
      </p:sp>
      <p:sp>
        <p:nvSpPr>
          <p:cNvPr id="25" name="Text 16"/>
          <p:cNvSpPr txBox="1"/>
          <p:nvPr/>
        </p:nvSpPr>
        <p:spPr>
          <a:xfrm>
            <a:off x="1304925" y="4793903"/>
            <a:ext cx="4943475" cy="3619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B1E1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Mrunal Panchal (Mrunu)</a:t>
            </a:r>
            <a:pPr indent="0" marL="0">
              <a:buNone/>
            </a:pPr>
            <a:r>
              <a:rPr lang="en-US" sz="975" dirty="0">
                <a:solidFill>
                  <a:srgbClr val="2B1E1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26yr creator, 5.5M IG, Hurun Top Founder 2025 + </a:t>
            </a:r>
            <a:pPr indent="0" marL="0">
              <a:buNone/>
            </a:pPr>
            <a:r>
              <a:rPr lang="en-US" sz="975" b="1" dirty="0">
                <a:solidFill>
                  <a:srgbClr val="2B1E1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Anirudh Sharma</a:t>
            </a:r>
            <a:pPr indent="0" marL="0">
              <a:buNone/>
            </a:pPr>
            <a:r>
              <a:rPr lang="en-US" sz="975" dirty="0">
                <a:solidFill>
                  <a:srgbClr val="2B1E1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Co-founder.</a:t>
            </a:r>
            <a:endParaRPr lang="en-US" sz="975" dirty="0"/>
          </a:p>
        </p:txBody>
      </p:sp>
      <p:sp>
        <p:nvSpPr>
          <p:cNvPr id="26" name="Shape 17"/>
          <p:cNvSpPr/>
          <p:nvPr/>
        </p:nvSpPr>
        <p:spPr>
          <a:xfrm>
            <a:off x="6772275" y="2343150"/>
            <a:ext cx="4886325" cy="2124075"/>
          </a:xfrm>
          <a:prstGeom prst="roundRect">
            <a:avLst>
              <a:gd name="adj" fmla="val 9865"/>
            </a:avLst>
          </a:prstGeom>
          <a:solidFill>
            <a:srgbClr val="4A2315"/>
          </a:solidFill>
          <a:ln/>
        </p:spPr>
      </p:sp>
      <p:sp>
        <p:nvSpPr>
          <p:cNvPr id="27" name="Text 18"/>
          <p:cNvSpPr txBox="1"/>
          <p:nvPr/>
        </p:nvSpPr>
        <p:spPr>
          <a:xfrm>
            <a:off x="7019925" y="2598390"/>
            <a:ext cx="4391025" cy="2286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Kya Special Hai (USP)?</a:t>
            </a:r>
            <a:endParaRPr lang="en-US" sz="1350" dirty="0"/>
          </a:p>
        </p:txBody>
      </p:sp>
      <p:sp>
        <p:nvSpPr>
          <p:cNvPr id="28" name="Text 19"/>
          <p:cNvSpPr txBox="1"/>
          <p:nvPr/>
        </p:nvSpPr>
        <p:spPr>
          <a:xfrm>
            <a:off x="7305675" y="2953196"/>
            <a:ext cx="4105275" cy="1785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Indian skin tones ke liye banaya</a:t>
            </a:r>
            <a:endParaRPr lang="en-US" sz="975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9925" y="2941290"/>
            <a:ext cx="190500" cy="190500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7305675" y="3229421"/>
            <a:ext cx="4105275" cy="1785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Skincare + Makeup ek saath</a:t>
            </a:r>
            <a:endParaRPr lang="en-US" sz="975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19925" y="3217515"/>
            <a:ext cx="190500" cy="190500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7305675" y="3505646"/>
            <a:ext cx="4105275" cy="1785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Cruelty-free, Clean beauty</a:t>
            </a:r>
            <a:endParaRPr lang="en-US" sz="975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19925" y="3493740"/>
            <a:ext cx="190500" cy="190500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7305675" y="3781871"/>
            <a:ext cx="4105275" cy="1785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Price ₹389-₹1,649 Affordable Luxury</a:t>
            </a:r>
            <a:endParaRPr lang="en-US" sz="975" dirty="0"/>
          </a:p>
        </p:txBody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19925" y="3769965"/>
            <a:ext cx="190500" cy="190500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7305675" y="4058096"/>
            <a:ext cx="4105275" cy="1785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Creator-led authenticity</a:t>
            </a:r>
            <a:endParaRPr lang="en-US" sz="975" dirty="0"/>
          </a:p>
        </p:txBody>
      </p:sp>
      <p:pic>
        <p:nvPicPr>
          <p:cNvPr id="3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19925" y="4046190"/>
            <a:ext cx="190500" cy="190500"/>
          </a:xfrm>
          <a:prstGeom prst="rect">
            <a:avLst/>
          </a:prstGeom>
        </p:spPr>
      </p:pic>
      <p:pic>
        <p:nvPicPr>
          <p:cNvPr id="3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72275" y="4598640"/>
            <a:ext cx="4886325" cy="819150"/>
          </a:xfrm>
          <a:prstGeom prst="rect">
            <a:avLst/>
          </a:prstGeom>
        </p:spPr>
      </p:pic>
      <p:sp>
        <p:nvSpPr>
          <p:cNvPr id="39" name="Text 24"/>
          <p:cNvSpPr txBox="1"/>
          <p:nvPr/>
        </p:nvSpPr>
        <p:spPr>
          <a:xfrm>
            <a:off x="6972300" y="4817715"/>
            <a:ext cx="726877" cy="4191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₹2Cr</a:t>
            </a:r>
            <a:endParaRPr lang="en-US" sz="2400" dirty="0"/>
          </a:p>
        </p:txBody>
      </p:sp>
      <p:sp>
        <p:nvSpPr>
          <p:cNvPr id="40" name="Text 25"/>
          <p:cNvSpPr txBox="1"/>
          <p:nvPr/>
        </p:nvSpPr>
        <p:spPr>
          <a:xfrm>
            <a:off x="7832527" y="4851053"/>
            <a:ext cx="2248793" cy="3238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mahine me sales</a:t>
            </a:r>
            <a:endParaRPr lang="en-US" sz="938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PMF proof • Loyal Mrucha Circle</a:t>
            </a:r>
            <a:endParaRPr lang="en-US" sz="938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428625"/>
            <a:ext cx="1112520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600"/>
              </a:spcAft>
              <a:buNone/>
            </a:pPr>
            <a:r>
              <a:rPr lang="en-US" sz="825" b="1" spc="165" kern="0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 AUDIT</a:t>
            </a:r>
            <a:endParaRPr lang="en-US" sz="825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652463"/>
            <a:ext cx="11125200" cy="43993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65"/>
              </a:lnSpc>
              <a:spcAft>
                <a:spcPts val="1650"/>
              </a:spcAft>
              <a:buNone/>
            </a:pPr>
            <a:r>
              <a:rPr lang="en-US" sz="330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Kya Hai? 4 Key Gaps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33400" y="1304925"/>
            <a:ext cx="5486400" cy="2495550"/>
          </a:xfrm>
          <a:prstGeom prst="roundRect">
            <a:avLst>
              <a:gd name="adj" fmla="val 7634"/>
            </a:avLst>
          </a:prstGeom>
          <a:solidFill>
            <a:srgbClr val="4A2315"/>
          </a:solidFill>
          <a:ln/>
          <a:effectLst>
            <a:outerShdw sx="100000" sy="100000" kx="0" ky="0" algn="bl" rotWithShape="0" blurRad="228600" dist="76200" dir="5400000">
              <a:srgbClr val="4A2315">
                <a:alpha val="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556742"/>
            <a:ext cx="926306" cy="25241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57250" y="1613892"/>
            <a:ext cx="735806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66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01</a:t>
            </a:r>
            <a:endParaRPr lang="en-US" sz="825" dirty="0"/>
          </a:p>
        </p:txBody>
      </p:sp>
      <p:sp>
        <p:nvSpPr>
          <p:cNvPr id="7" name="Shape 4"/>
          <p:cNvSpPr/>
          <p:nvPr/>
        </p:nvSpPr>
        <p:spPr>
          <a:xfrm>
            <a:off x="5448300" y="1514475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7242" y="1611511"/>
            <a:ext cx="125016" cy="14287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62000" y="1968698"/>
            <a:ext cx="5029200" cy="19422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spcAft>
                <a:spcPts val="600"/>
              </a:spcAft>
              <a:buNone/>
            </a:pPr>
            <a:r>
              <a:rPr lang="en-US" sz="1275" b="1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Founder Dependency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762000" y="2248644"/>
            <a:ext cx="5029200" cy="3619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BF7">
                    <a:alpha val="64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Sirf Mrunal ke naam pe chal raha hai. Content = product marketing, single point of failure. Brand ko apni alag pehchaan banana hogi.</a:t>
            </a:r>
            <a:endParaRPr lang="en-US" sz="975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997148"/>
            <a:ext cx="5943600" cy="3101876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325" y="1566267"/>
            <a:ext cx="946845" cy="252413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505575" y="1623417"/>
            <a:ext cx="75634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66" kern="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02</a:t>
            </a:r>
            <a:endParaRPr lang="en-US" sz="825" dirty="0"/>
          </a:p>
        </p:txBody>
      </p:sp>
      <p:sp>
        <p:nvSpPr>
          <p:cNvPr id="14" name="Shape 8"/>
          <p:cNvSpPr/>
          <p:nvPr/>
        </p:nvSpPr>
        <p:spPr>
          <a:xfrm>
            <a:off x="11077575" y="1524000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DF0E9"/>
          </a:solidFill>
          <a:ln/>
        </p:spPr>
      </p:sp>
      <p:sp>
        <p:nvSpPr>
          <p:cNvPr id="15" name="Text 9"/>
          <p:cNvSpPr txBox="1"/>
          <p:nvPr/>
        </p:nvSpPr>
        <p:spPr>
          <a:xfrm>
            <a:off x="11249025" y="1695450"/>
            <a:ext cx="0" cy="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0"/>
          <p:cNvSpPr txBox="1"/>
          <p:nvPr/>
        </p:nvSpPr>
        <p:spPr>
          <a:xfrm>
            <a:off x="6410325" y="1978223"/>
            <a:ext cx="5010150" cy="19422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spcAft>
                <a:spcPts val="600"/>
              </a:spcAft>
              <a:buNone/>
            </a:pPr>
            <a:r>
              <a:rPr lang="en-US" sz="1275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Funding vs Giants</a:t>
            </a:r>
            <a:endParaRPr lang="en-US" sz="1275" dirty="0"/>
          </a:p>
        </p:txBody>
      </p:sp>
      <p:sp>
        <p:nvSpPr>
          <p:cNvPr id="17" name="Text 11"/>
          <p:cNvSpPr txBox="1"/>
          <p:nvPr/>
        </p:nvSpPr>
        <p:spPr>
          <a:xfrm>
            <a:off x="6410325" y="2258169"/>
            <a:ext cx="5010150" cy="3619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1E1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Mamaearth $89M, Pilgrim $50M, MCaffeine $50M — Mrucha unfunded. 4,325 competitors me lean organic growth hi raasta.</a:t>
            </a:r>
            <a:endParaRPr lang="en-US" sz="975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3641824"/>
            <a:ext cx="5943600" cy="3101876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4210943"/>
            <a:ext cx="948928" cy="252413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866775" y="4268093"/>
            <a:ext cx="758428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66" kern="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03</a:t>
            </a:r>
            <a:endParaRPr lang="en-US" sz="825" dirty="0"/>
          </a:p>
        </p:txBody>
      </p:sp>
      <p:sp>
        <p:nvSpPr>
          <p:cNvPr id="21" name="Shape 13"/>
          <p:cNvSpPr/>
          <p:nvPr/>
        </p:nvSpPr>
        <p:spPr>
          <a:xfrm>
            <a:off x="5438775" y="4162425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9E8DF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9858" y="4265712"/>
            <a:ext cx="160734" cy="142875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771525" y="4622899"/>
            <a:ext cx="5010150" cy="19422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spcAft>
                <a:spcPts val="600"/>
              </a:spcAft>
              <a:buNone/>
            </a:pPr>
            <a:r>
              <a:rPr lang="en-US" sz="1275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Mixed Reviews</a:t>
            </a:r>
            <a:endParaRPr lang="en-US" sz="1275" dirty="0"/>
          </a:p>
        </p:txBody>
      </p:sp>
      <p:sp>
        <p:nvSpPr>
          <p:cNvPr id="24" name="Text 15"/>
          <p:cNvSpPr txBox="1"/>
          <p:nvPr/>
        </p:nvSpPr>
        <p:spPr>
          <a:xfrm>
            <a:off x="771525" y="4902845"/>
            <a:ext cx="5010150" cy="3619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1E1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Reddit / IG pe mixed — “Toastie &amp; Whimsical didn't work”. Shade issues ko publicly handle karna zaroori, perception critical.</a:t>
            </a:r>
            <a:endParaRPr lang="en-US" sz="975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0" y="3641824"/>
            <a:ext cx="5943600" cy="3101876"/>
          </a:xfrm>
          <a:prstGeom prst="rect">
            <a:avLst/>
          </a:prstGeom>
        </p:spPr>
      </p:pic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0325" y="4210943"/>
            <a:ext cx="952202" cy="252413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6505575" y="4268093"/>
            <a:ext cx="761702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66" kern="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04</a:t>
            </a:r>
            <a:endParaRPr lang="en-US" sz="825" dirty="0"/>
          </a:p>
        </p:txBody>
      </p:sp>
      <p:sp>
        <p:nvSpPr>
          <p:cNvPr id="28" name="Shape 17"/>
          <p:cNvSpPr/>
          <p:nvPr/>
        </p:nvSpPr>
        <p:spPr>
          <a:xfrm>
            <a:off x="11077575" y="4162425"/>
            <a:ext cx="342900" cy="342900"/>
          </a:xfrm>
          <a:prstGeom prst="roundRect">
            <a:avLst>
              <a:gd name="adj" fmla="val 30556"/>
            </a:avLst>
          </a:prstGeom>
          <a:solidFill>
            <a:srgbClr val="FFFFFF"/>
          </a:solidFill>
          <a:ln/>
        </p:spPr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59728" y="4265712"/>
            <a:ext cx="178594" cy="142875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6410325" y="4622899"/>
            <a:ext cx="5010150" cy="19422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0"/>
              </a:lnSpc>
              <a:spcAft>
                <a:spcPts val="600"/>
              </a:spcAft>
              <a:buNone/>
            </a:pPr>
            <a:r>
              <a:rPr lang="en-US" sz="1275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Online — No Omnichannel</a:t>
            </a:r>
            <a:endParaRPr lang="en-US" sz="1275" dirty="0"/>
          </a:p>
        </p:txBody>
      </p:sp>
      <p:sp>
        <p:nvSpPr>
          <p:cNvPr id="31" name="Text 19"/>
          <p:cNvSpPr txBox="1"/>
          <p:nvPr/>
        </p:nvSpPr>
        <p:spPr>
          <a:xfrm>
            <a:off x="6410325" y="4902845"/>
            <a:ext cx="5010150" cy="3619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1E1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D2C only via own site. No offline, no Amazon/Flipkart. Discovery limited, non-digital-native tak reach mushkil.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1366391"/>
            <a:ext cx="4050506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600"/>
              </a:spcAft>
              <a:buNone/>
            </a:pPr>
            <a:r>
              <a:rPr lang="en-US" sz="825" b="1" spc="165" kern="0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AUDIENCE + BUYER PERSONA</a:t>
            </a:r>
            <a:endParaRPr lang="en-US" sz="825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1590229"/>
            <a:ext cx="4050506" cy="41999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8"/>
              </a:lnSpc>
              <a:buNone/>
            </a:pPr>
            <a:r>
              <a:rPr lang="en-US" sz="315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Kaun Hai?</a:t>
            </a:r>
            <a:endParaRPr lang="en-US" sz="3150" dirty="0"/>
          </a:p>
        </p:txBody>
      </p:sp>
      <p:sp>
        <p:nvSpPr>
          <p:cNvPr id="4" name="Text 2"/>
          <p:cNvSpPr txBox="1"/>
          <p:nvPr/>
        </p:nvSpPr>
        <p:spPr>
          <a:xfrm>
            <a:off x="8193584" y="1848296"/>
            <a:ext cx="3465016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B1E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 Z core 18-30 • Tier 1 &amp; 2 • Aspirational but value-conscious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914971"/>
            <a:ext cx="5614988" cy="3890962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2438846"/>
            <a:ext cx="685800" cy="6858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04441" y="2605534"/>
            <a:ext cx="452884" cy="519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b="1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2250" dirty="0"/>
          </a:p>
        </p:txBody>
      </p:sp>
      <p:sp>
        <p:nvSpPr>
          <p:cNvPr id="8" name="Text 4"/>
          <p:cNvSpPr txBox="1"/>
          <p:nvPr/>
        </p:nvSpPr>
        <p:spPr>
          <a:xfrm>
            <a:off x="1609725" y="2467421"/>
            <a:ext cx="3843338" cy="2571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Aanya, 23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609725" y="2762696"/>
            <a:ext cx="3843338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225"/>
              </a:spcBef>
              <a:buNone/>
            </a:pPr>
            <a:r>
              <a:rPr lang="en-US" sz="900" b="1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Bangalore • Junior Graphic Designer • ₹35k/mo</a:t>
            </a:r>
            <a:endParaRPr lang="en-US" sz="9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725" y="3067496"/>
            <a:ext cx="209550" cy="20955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914525" y="3067496"/>
            <a:ext cx="3538538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75"/>
              </a:spcAft>
              <a:buNone/>
            </a:pPr>
            <a:r>
              <a:rPr lang="en-US" sz="750" b="1" spc="60" kern="0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BEHAVIOUR</a:t>
            </a:r>
            <a:endParaRPr lang="en-US" sz="750" dirty="0"/>
          </a:p>
        </p:txBody>
      </p:sp>
      <p:sp>
        <p:nvSpPr>
          <p:cNvPr id="12" name="Text 7"/>
          <p:cNvSpPr txBox="1"/>
          <p:nvPr/>
        </p:nvSpPr>
        <p:spPr>
          <a:xfrm>
            <a:off x="1914525" y="3219896"/>
            <a:ext cx="3538538" cy="3357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9"/>
              </a:lnSpc>
              <a:buNone/>
            </a:pPr>
            <a:r>
              <a:rPr lang="en-US" sz="938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IG beauty creators follow, YouTube reviews, Reddit honest opinion dhundhti hai</a:t>
            </a:r>
            <a:endParaRPr lang="en-US" sz="938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9725" y="3708053"/>
            <a:ext cx="3843338" cy="707231"/>
          </a:xfrm>
          <a:prstGeom prst="rect">
            <a:avLst/>
          </a:prstGeom>
        </p:spPr>
      </p:pic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3550" y="3822353"/>
            <a:ext cx="209550" cy="20955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2038350" y="3822353"/>
            <a:ext cx="3290888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75"/>
              </a:spcAft>
              <a:buNone/>
            </a:pPr>
            <a:r>
              <a:rPr lang="en-US" sz="750" b="1" spc="60" kern="0" dirty="0">
                <a:solidFill>
                  <a:srgbClr val="D06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 POINT</a:t>
            </a:r>
            <a:endParaRPr lang="en-US" sz="750" dirty="0"/>
          </a:p>
        </p:txBody>
      </p:sp>
      <p:sp>
        <p:nvSpPr>
          <p:cNvPr id="16" name="Text 9"/>
          <p:cNvSpPr txBox="1"/>
          <p:nvPr/>
        </p:nvSpPr>
        <p:spPr>
          <a:xfrm>
            <a:off x="2038350" y="3974753"/>
            <a:ext cx="3290888" cy="3357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9"/>
              </a:lnSpc>
              <a:buNone/>
            </a:pPr>
            <a:r>
              <a:rPr lang="en-US" sz="938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Trendy Western makeup chahiye par ₹2,000 afford nahi. Indian skin ke liye shade sahi nahi milta.</a:t>
            </a:r>
            <a:endParaRPr lang="en-US" sz="938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9725" y="4520059"/>
            <a:ext cx="209550" cy="20955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1914525" y="4520059"/>
            <a:ext cx="3538538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75"/>
              </a:spcAft>
              <a:buNone/>
            </a:pPr>
            <a:r>
              <a:rPr lang="en-US" sz="750" b="1" spc="60" kern="0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BUY MRUCHA?</a:t>
            </a:r>
            <a:endParaRPr lang="en-US" sz="750" dirty="0"/>
          </a:p>
        </p:txBody>
      </p:sp>
      <p:sp>
        <p:nvSpPr>
          <p:cNvPr id="19" name="Text 11"/>
          <p:cNvSpPr txBox="1"/>
          <p:nvPr/>
        </p:nvSpPr>
        <p:spPr>
          <a:xfrm>
            <a:off x="1914525" y="4672459"/>
            <a:ext cx="3538538" cy="3357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9"/>
              </a:lnSpc>
              <a:buNone/>
            </a:pPr>
            <a:r>
              <a:rPr lang="en-US" sz="938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Mrunal pasand + Indian skin tones + real reviews + ₹389 se start</a:t>
            </a:r>
            <a:endParaRPr lang="en-US" sz="938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9288" y="1914971"/>
            <a:ext cx="6157913" cy="3157538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6176963" y="2429321"/>
            <a:ext cx="5262563" cy="190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4A231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Target Audience Dimensions</a:t>
            </a:r>
            <a:endParaRPr lang="en-US" sz="105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6963" y="2696021"/>
            <a:ext cx="5262563" cy="366713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6176963" y="2800796"/>
            <a:ext cx="1047750" cy="1571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50" kern="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</a:t>
            </a:r>
            <a:endParaRPr lang="en-US" sz="825" dirty="0"/>
          </a:p>
        </p:txBody>
      </p:sp>
      <p:sp>
        <p:nvSpPr>
          <p:cNvPr id="24" name="Text 14"/>
          <p:cNvSpPr txBox="1"/>
          <p:nvPr/>
        </p:nvSpPr>
        <p:spPr>
          <a:xfrm>
            <a:off x="7339012" y="2800796"/>
            <a:ext cx="4100513" cy="1571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18-30</a:t>
            </a:r>
            <a:pPr indent="0" marL="0">
              <a:buNone/>
            </a:pPr>
            <a:r>
              <a:rPr lang="en-US" sz="938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core Gen Z, secondary 30-35</a:t>
            </a:r>
            <a:endParaRPr lang="en-US" sz="938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6963" y="3062734"/>
            <a:ext cx="5262563" cy="366713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6176963" y="3167509"/>
            <a:ext cx="1047750" cy="1571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50" kern="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</a:t>
            </a:r>
            <a:endParaRPr lang="en-US" sz="825" dirty="0"/>
          </a:p>
        </p:txBody>
      </p:sp>
      <p:sp>
        <p:nvSpPr>
          <p:cNvPr id="27" name="Text 16"/>
          <p:cNvSpPr txBox="1"/>
          <p:nvPr/>
        </p:nvSpPr>
        <p:spPr>
          <a:xfrm>
            <a:off x="7339012" y="3167509"/>
            <a:ext cx="4100513" cy="1571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Mumbai, Delhi, Bangalore, Pune — Tier 1 &amp; 2</a:t>
            </a:r>
            <a:endParaRPr lang="en-US" sz="938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6963" y="3429446"/>
            <a:ext cx="5262563" cy="366713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6176963" y="3534221"/>
            <a:ext cx="1047750" cy="1571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50" kern="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INCOME</a:t>
            </a:r>
            <a:endParaRPr lang="en-US" sz="825" dirty="0"/>
          </a:p>
        </p:txBody>
      </p:sp>
      <p:sp>
        <p:nvSpPr>
          <p:cNvPr id="30" name="Text 18"/>
          <p:cNvSpPr txBox="1"/>
          <p:nvPr/>
        </p:nvSpPr>
        <p:spPr>
          <a:xfrm>
            <a:off x="7339012" y="3534221"/>
            <a:ext cx="4100513" cy="1571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₹20,000-₹60,000/month individual</a:t>
            </a:r>
            <a:endParaRPr lang="en-US" sz="938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76963" y="3796159"/>
            <a:ext cx="5262563" cy="366713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6176963" y="3900934"/>
            <a:ext cx="1047750" cy="1571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50" kern="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MOTIVATION</a:t>
            </a:r>
            <a:endParaRPr lang="en-US" sz="825" dirty="0"/>
          </a:p>
        </p:txBody>
      </p:sp>
      <p:sp>
        <p:nvSpPr>
          <p:cNvPr id="33" name="Text 20"/>
          <p:cNvSpPr txBox="1"/>
          <p:nvPr/>
        </p:nvSpPr>
        <p:spPr>
          <a:xfrm>
            <a:off x="7339012" y="3900934"/>
            <a:ext cx="4100513" cy="1571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Self-expression, community, creator-led support</a:t>
            </a:r>
            <a:endParaRPr lang="en-US" sz="938" dirty="0"/>
          </a:p>
        </p:txBody>
      </p:sp>
      <p:pic>
        <p:nvPicPr>
          <p:cNvPr id="3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76963" y="4277171"/>
            <a:ext cx="927050" cy="290513"/>
          </a:xfrm>
          <a:prstGeom prst="rect">
            <a:avLst/>
          </a:prstGeom>
        </p:spPr>
      </p:pic>
      <p:sp>
        <p:nvSpPr>
          <p:cNvPr id="35" name="Text 21"/>
          <p:cNvSpPr txBox="1"/>
          <p:nvPr/>
        </p:nvSpPr>
        <p:spPr>
          <a:xfrm>
            <a:off x="6449616" y="4353371"/>
            <a:ext cx="530572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IG Primary</a:t>
            </a:r>
            <a:endParaRPr lang="en-US" sz="825" dirty="0"/>
          </a:p>
        </p:txBody>
      </p:sp>
      <p:pic>
        <p:nvPicPr>
          <p:cNvPr id="3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00788" y="4370040"/>
            <a:ext cx="91678" cy="104775"/>
          </a:xfrm>
          <a:prstGeom prst="rect">
            <a:avLst/>
          </a:prstGeom>
        </p:spPr>
      </p:pic>
      <p:pic>
        <p:nvPicPr>
          <p:cNvPr id="3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80213" y="4277171"/>
            <a:ext cx="862757" cy="290513"/>
          </a:xfrm>
          <a:prstGeom prst="rect">
            <a:avLst/>
          </a:prstGeom>
        </p:spPr>
      </p:pic>
      <p:sp>
        <p:nvSpPr>
          <p:cNvPr id="38" name="Text 22"/>
          <p:cNvSpPr txBox="1"/>
          <p:nvPr/>
        </p:nvSpPr>
        <p:spPr>
          <a:xfrm>
            <a:off x="7479060" y="4353371"/>
            <a:ext cx="44008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YouTube</a:t>
            </a:r>
            <a:endParaRPr lang="en-US" sz="825" dirty="0"/>
          </a:p>
        </p:txBody>
      </p:sp>
      <p:pic>
        <p:nvPicPr>
          <p:cNvPr id="3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04038" y="4370040"/>
            <a:ext cx="117872" cy="104775"/>
          </a:xfrm>
          <a:prstGeom prst="rect">
            <a:avLst/>
          </a:prstGeom>
        </p:spPr>
      </p:pic>
      <p:pic>
        <p:nvPicPr>
          <p:cNvPr id="40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19170" y="4277171"/>
            <a:ext cx="733723" cy="290513"/>
          </a:xfrm>
          <a:prstGeom prst="rect">
            <a:avLst/>
          </a:prstGeom>
        </p:spPr>
      </p:pic>
      <p:sp>
        <p:nvSpPr>
          <p:cNvPr id="41" name="Text 23"/>
          <p:cNvSpPr txBox="1"/>
          <p:nvPr/>
        </p:nvSpPr>
        <p:spPr>
          <a:xfrm>
            <a:off x="8404920" y="4353371"/>
            <a:ext cx="324148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Reddit</a:t>
            </a:r>
            <a:endParaRPr lang="en-US" sz="825" dirty="0"/>
          </a:p>
        </p:txBody>
      </p:sp>
      <p:pic>
        <p:nvPicPr>
          <p:cNvPr id="4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42995" y="4370040"/>
            <a:ext cx="104775" cy="104775"/>
          </a:xfrm>
          <a:prstGeom prst="rect">
            <a:avLst/>
          </a:prstGeom>
        </p:spPr>
      </p:pic>
      <p:sp>
        <p:nvSpPr>
          <p:cNvPr id="43" name="Shape 24"/>
          <p:cNvSpPr/>
          <p:nvPr/>
        </p:nvSpPr>
        <p:spPr>
          <a:xfrm>
            <a:off x="5962650" y="4905375"/>
            <a:ext cx="5705475" cy="600075"/>
          </a:xfrm>
          <a:prstGeom prst="roundRect">
            <a:avLst>
              <a:gd name="adj" fmla="val 25397"/>
            </a:avLst>
          </a:prstGeom>
          <a:solidFill>
            <a:srgbClr val="4A2315"/>
          </a:solidFill>
          <a:ln/>
        </p:spPr>
      </p:sp>
      <p:pic>
        <p:nvPicPr>
          <p:cNvPr id="44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129338" y="5067746"/>
            <a:ext cx="254347" cy="266700"/>
          </a:xfrm>
          <a:prstGeom prst="rect">
            <a:avLst/>
          </a:prstGeom>
        </p:spPr>
      </p:pic>
      <p:sp>
        <p:nvSpPr>
          <p:cNvPr id="45" name="Text 25"/>
          <p:cNvSpPr txBox="1"/>
          <p:nvPr/>
        </p:nvSpPr>
        <p:spPr>
          <a:xfrm>
            <a:off x="6497985" y="5043934"/>
            <a:ext cx="4989165" cy="3238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b="1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Insight:</a:t>
            </a:r>
            <a:pPr indent="0" marL="0">
              <a:buNone/>
            </a:pPr>
            <a:r>
              <a:rPr lang="en-US" sz="938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Aanya ko Western vibe @ ₹499 chahiye — Mrucha aspirational + affordable balance.</a:t>
            </a:r>
            <a:endParaRPr lang="en-US" sz="938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4325"/>
            <a:ext cx="1127760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450"/>
              </a:spcAft>
              <a:buNone/>
            </a:pPr>
            <a:r>
              <a:rPr lang="en-US" sz="825" b="1" spc="165" kern="0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COMPETITOR ANALYSIS</a:t>
            </a:r>
            <a:endParaRPr lang="en-US" sz="825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19113"/>
            <a:ext cx="11277600" cy="37995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92"/>
              </a:lnSpc>
              <a:spcAft>
                <a:spcPts val="1050"/>
              </a:spcAft>
              <a:buNone/>
            </a:pPr>
            <a:r>
              <a:rPr lang="en-US" sz="285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Competitors Kaun Hain?</a:t>
            </a:r>
            <a:endParaRPr lang="en-US" sz="2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727621"/>
            <a:ext cx="11734800" cy="522223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66725" y="1038225"/>
            <a:ext cx="11258550" cy="400050"/>
          </a:xfrm>
          <a:prstGeom prst="rect">
            <a:avLst/>
          </a:prstGeom>
          <a:solidFill>
            <a:srgbClr val="4A231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" y="1041946"/>
            <a:ext cx="1524000" cy="40005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00075" y="1165771"/>
            <a:ext cx="1247775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36" kern="0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PARAMETER</a:t>
            </a:r>
            <a:endParaRPr lang="en-US" sz="9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725" y="1041946"/>
            <a:ext cx="2433638" cy="40005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2124075" y="1165771"/>
            <a:ext cx="2157413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36" kern="0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MRUCHA BEAUTY</a:t>
            </a:r>
            <a:endParaRPr lang="en-US" sz="9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4363" y="1041946"/>
            <a:ext cx="2433638" cy="40005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4557713" y="1165771"/>
            <a:ext cx="2157413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36" kern="0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MAMAEARTH</a:t>
            </a:r>
            <a:endParaRPr lang="en-US" sz="9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1041946"/>
            <a:ext cx="2433638" cy="40005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6991350" y="1165771"/>
            <a:ext cx="2157413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36" kern="0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PILGRIM</a:t>
            </a:r>
            <a:endParaRPr lang="en-US" sz="9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1638" y="1041946"/>
            <a:ext cx="2433638" cy="400050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9424988" y="1165771"/>
            <a:ext cx="2157413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36" kern="0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MCAFFEINE</a:t>
            </a:r>
            <a:endParaRPr lang="en-US" sz="9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725" y="1441996"/>
            <a:ext cx="11258550" cy="700385"/>
          </a:xfrm>
          <a:prstGeom prst="rect">
            <a:avLst/>
          </a:prstGeom>
        </p:spPr>
      </p:pic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725" y="1441996"/>
            <a:ext cx="1524000" cy="690860"/>
          </a:xfrm>
          <a:prstGeom prst="rect">
            <a:avLst/>
          </a:prstGeom>
        </p:spPr>
      </p:pic>
      <p:sp>
        <p:nvSpPr>
          <p:cNvPr id="18" name="Text 8"/>
          <p:cNvSpPr txBox="1"/>
          <p:nvPr/>
        </p:nvSpPr>
        <p:spPr>
          <a:xfrm>
            <a:off x="600075" y="1714798"/>
            <a:ext cx="1247775" cy="32280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863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Positioning</a:t>
            </a:r>
            <a:endParaRPr lang="en-US" sz="863" dirty="0"/>
          </a:p>
        </p:txBody>
      </p:sp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90725" y="1441996"/>
            <a:ext cx="2433638" cy="690860"/>
          </a:xfrm>
          <a:prstGeom prst="rect">
            <a:avLst/>
          </a:prstGeom>
        </p:spPr>
      </p:pic>
      <p:sp>
        <p:nvSpPr>
          <p:cNvPr id="20" name="Text 9"/>
          <p:cNvSpPr txBox="1"/>
          <p:nvPr/>
        </p:nvSpPr>
        <p:spPr>
          <a:xfrm>
            <a:off x="2124075" y="1713458"/>
            <a:ext cx="2157413" cy="3241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Skincare-infused makeup, Gen Z</a:t>
            </a:r>
            <a:endParaRPr lang="en-US" sz="863" dirty="0"/>
          </a:p>
        </p:txBody>
      </p:sp>
      <p:pic>
        <p:nvPicPr>
          <p:cNvPr id="2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24363" y="1441996"/>
            <a:ext cx="2433638" cy="690860"/>
          </a:xfrm>
          <a:prstGeom prst="rect">
            <a:avLst/>
          </a:prstGeom>
        </p:spPr>
      </p:pic>
      <p:sp>
        <p:nvSpPr>
          <p:cNvPr id="22" name="Text 10"/>
          <p:cNvSpPr txBox="1"/>
          <p:nvPr/>
        </p:nvSpPr>
        <p:spPr>
          <a:xfrm>
            <a:off x="4557713" y="1713458"/>
            <a:ext cx="2157413" cy="3241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Toxin-free beauty</a:t>
            </a:r>
            <a:endParaRPr lang="en-US" sz="863" dirty="0"/>
          </a:p>
        </p:txBody>
      </p:sp>
      <p:pic>
        <p:nvPicPr>
          <p:cNvPr id="2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0" y="1441996"/>
            <a:ext cx="2433638" cy="690860"/>
          </a:xfrm>
          <a:prstGeom prst="rect">
            <a:avLst/>
          </a:prstGeom>
        </p:spPr>
      </p:pic>
      <p:sp>
        <p:nvSpPr>
          <p:cNvPr id="24" name="Text 11"/>
          <p:cNvSpPr txBox="1"/>
          <p:nvPr/>
        </p:nvSpPr>
        <p:spPr>
          <a:xfrm>
            <a:off x="6991350" y="1713458"/>
            <a:ext cx="2157413" cy="3241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Multi-category natural</a:t>
            </a:r>
            <a:endParaRPr lang="en-US" sz="863" dirty="0"/>
          </a:p>
        </p:txBody>
      </p:sp>
      <p:pic>
        <p:nvPicPr>
          <p:cNvPr id="2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91638" y="1441996"/>
            <a:ext cx="2433638" cy="690860"/>
          </a:xfrm>
          <a:prstGeom prst="rect">
            <a:avLst/>
          </a:prstGeom>
        </p:spPr>
      </p:pic>
      <p:sp>
        <p:nvSpPr>
          <p:cNvPr id="26" name="Text 12"/>
          <p:cNvSpPr txBox="1"/>
          <p:nvPr/>
        </p:nvSpPr>
        <p:spPr>
          <a:xfrm>
            <a:off x="9424988" y="1713458"/>
            <a:ext cx="2157413" cy="3241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Caffeinated skincare</a:t>
            </a:r>
            <a:endParaRPr lang="en-US" sz="863" dirty="0"/>
          </a:p>
        </p:txBody>
      </p:sp>
      <p:pic>
        <p:nvPicPr>
          <p:cNvPr id="2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6725" y="2142381"/>
            <a:ext cx="11258550" cy="700534"/>
          </a:xfrm>
          <a:prstGeom prst="rect">
            <a:avLst/>
          </a:prstGeom>
        </p:spPr>
      </p:pic>
      <p:pic>
        <p:nvPicPr>
          <p:cNvPr id="2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6725" y="2142381"/>
            <a:ext cx="1524000" cy="691009"/>
          </a:xfrm>
          <a:prstGeom prst="rect">
            <a:avLst/>
          </a:prstGeom>
        </p:spPr>
      </p:pic>
      <p:sp>
        <p:nvSpPr>
          <p:cNvPr id="29" name="Text 13"/>
          <p:cNvSpPr txBox="1"/>
          <p:nvPr/>
        </p:nvSpPr>
        <p:spPr>
          <a:xfrm>
            <a:off x="600075" y="2415183"/>
            <a:ext cx="1247775" cy="32295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863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Funding</a:t>
            </a:r>
            <a:endParaRPr lang="en-US" sz="863" dirty="0"/>
          </a:p>
        </p:txBody>
      </p:sp>
      <p:pic>
        <p:nvPicPr>
          <p:cNvPr id="3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90725" y="2142381"/>
            <a:ext cx="2433638" cy="691009"/>
          </a:xfrm>
          <a:prstGeom prst="rect">
            <a:avLst/>
          </a:prstGeom>
        </p:spPr>
      </p:pic>
      <p:pic>
        <p:nvPicPr>
          <p:cNvPr id="3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24075" y="2394942"/>
            <a:ext cx="614809" cy="185738"/>
          </a:xfrm>
          <a:prstGeom prst="rect">
            <a:avLst/>
          </a:prstGeom>
        </p:spPr>
      </p:pic>
      <p:sp>
        <p:nvSpPr>
          <p:cNvPr id="32" name="Text 14"/>
          <p:cNvSpPr txBox="1"/>
          <p:nvPr/>
        </p:nvSpPr>
        <p:spPr>
          <a:xfrm>
            <a:off x="2200275" y="2423517"/>
            <a:ext cx="462409" cy="1285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50" b="1" dirty="0">
                <a:solidFill>
                  <a:srgbClr val="D1886B"/>
                </a:solidFill>
                <a:highlight>
                  <a:srgbClr val="FDF0E9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Unfunded</a:t>
            </a:r>
            <a:endParaRPr lang="en-US" sz="750" dirty="0"/>
          </a:p>
        </p:txBody>
      </p:sp>
      <p:pic>
        <p:nvPicPr>
          <p:cNvPr id="33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24363" y="2142381"/>
            <a:ext cx="2433638" cy="691009"/>
          </a:xfrm>
          <a:prstGeom prst="rect">
            <a:avLst/>
          </a:prstGeom>
        </p:spPr>
      </p:pic>
      <p:pic>
        <p:nvPicPr>
          <p:cNvPr id="34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57713" y="2394942"/>
            <a:ext cx="515838" cy="185738"/>
          </a:xfrm>
          <a:prstGeom prst="rect">
            <a:avLst/>
          </a:prstGeom>
        </p:spPr>
      </p:pic>
      <p:sp>
        <p:nvSpPr>
          <p:cNvPr id="35" name="Text 15"/>
          <p:cNvSpPr txBox="1"/>
          <p:nvPr/>
        </p:nvSpPr>
        <p:spPr>
          <a:xfrm>
            <a:off x="4633913" y="2423517"/>
            <a:ext cx="363438" cy="1285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50" b="1" dirty="0">
                <a:solidFill>
                  <a:srgbClr val="4A2315"/>
                </a:solidFill>
                <a:highlight>
                  <a:srgbClr val="F5E0D6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$89.3M</a:t>
            </a:r>
            <a:endParaRPr lang="en-US" sz="750" dirty="0"/>
          </a:p>
        </p:txBody>
      </p:sp>
      <p:pic>
        <p:nvPicPr>
          <p:cNvPr id="36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58000" y="2142381"/>
            <a:ext cx="2433638" cy="691009"/>
          </a:xfrm>
          <a:prstGeom prst="rect">
            <a:avLst/>
          </a:prstGeom>
        </p:spPr>
      </p:pic>
      <p:pic>
        <p:nvPicPr>
          <p:cNvPr id="37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991350" y="2394942"/>
            <a:ext cx="426988" cy="185738"/>
          </a:xfrm>
          <a:prstGeom prst="rect">
            <a:avLst/>
          </a:prstGeom>
        </p:spPr>
      </p:pic>
      <p:sp>
        <p:nvSpPr>
          <p:cNvPr id="38" name="Text 16"/>
          <p:cNvSpPr txBox="1"/>
          <p:nvPr/>
        </p:nvSpPr>
        <p:spPr>
          <a:xfrm>
            <a:off x="7067550" y="2423517"/>
            <a:ext cx="274588" cy="1285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50" b="1" dirty="0">
                <a:solidFill>
                  <a:srgbClr val="4A2315"/>
                </a:solidFill>
                <a:highlight>
                  <a:srgbClr val="F5E0D6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$50M</a:t>
            </a:r>
            <a:endParaRPr lang="en-US" sz="750" dirty="0"/>
          </a:p>
        </p:txBody>
      </p:sp>
      <p:pic>
        <p:nvPicPr>
          <p:cNvPr id="39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291638" y="2142381"/>
            <a:ext cx="2433638" cy="691009"/>
          </a:xfrm>
          <a:prstGeom prst="rect">
            <a:avLst/>
          </a:prstGeom>
        </p:spPr>
      </p:pic>
      <p:pic>
        <p:nvPicPr>
          <p:cNvPr id="40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424988" y="2394942"/>
            <a:ext cx="515243" cy="185738"/>
          </a:xfrm>
          <a:prstGeom prst="rect">
            <a:avLst/>
          </a:prstGeom>
        </p:spPr>
      </p:pic>
      <p:sp>
        <p:nvSpPr>
          <p:cNvPr id="41" name="Text 17"/>
          <p:cNvSpPr txBox="1"/>
          <p:nvPr/>
        </p:nvSpPr>
        <p:spPr>
          <a:xfrm>
            <a:off x="9501188" y="2423517"/>
            <a:ext cx="362843" cy="1285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750" b="1" dirty="0">
                <a:solidFill>
                  <a:srgbClr val="4A2315"/>
                </a:solidFill>
                <a:highlight>
                  <a:srgbClr val="F5E0D6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$50.6M</a:t>
            </a:r>
            <a:endParaRPr lang="en-US" sz="750" dirty="0"/>
          </a:p>
        </p:txBody>
      </p:sp>
      <p:pic>
        <p:nvPicPr>
          <p:cNvPr id="42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66725" y="2842915"/>
            <a:ext cx="11258550" cy="700534"/>
          </a:xfrm>
          <a:prstGeom prst="rect">
            <a:avLst/>
          </a:prstGeom>
        </p:spPr>
      </p:pic>
      <p:pic>
        <p:nvPicPr>
          <p:cNvPr id="43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66725" y="2842915"/>
            <a:ext cx="1524000" cy="691009"/>
          </a:xfrm>
          <a:prstGeom prst="rect">
            <a:avLst/>
          </a:prstGeom>
        </p:spPr>
      </p:pic>
      <p:sp>
        <p:nvSpPr>
          <p:cNvPr id="44" name="Text 18"/>
          <p:cNvSpPr txBox="1"/>
          <p:nvPr/>
        </p:nvSpPr>
        <p:spPr>
          <a:xfrm>
            <a:off x="600075" y="3115717"/>
            <a:ext cx="1247775" cy="32295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863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Range</a:t>
            </a:r>
            <a:endParaRPr lang="en-US" sz="863" dirty="0"/>
          </a:p>
        </p:txBody>
      </p:sp>
      <p:pic>
        <p:nvPicPr>
          <p:cNvPr id="45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990725" y="2842915"/>
            <a:ext cx="2433638" cy="691009"/>
          </a:xfrm>
          <a:prstGeom prst="rect">
            <a:avLst/>
          </a:prstGeom>
        </p:spPr>
      </p:pic>
      <p:sp>
        <p:nvSpPr>
          <p:cNvPr id="46" name="Text 19"/>
          <p:cNvSpPr txBox="1"/>
          <p:nvPr/>
        </p:nvSpPr>
        <p:spPr>
          <a:xfrm>
            <a:off x="2124075" y="3114526"/>
            <a:ext cx="2157413" cy="3241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₹389–₹2,099</a:t>
            </a:r>
            <a:endParaRPr lang="en-US" sz="863" dirty="0"/>
          </a:p>
        </p:txBody>
      </p:sp>
      <p:pic>
        <p:nvPicPr>
          <p:cNvPr id="4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424363" y="2842915"/>
            <a:ext cx="2433638" cy="691009"/>
          </a:xfrm>
          <a:prstGeom prst="rect">
            <a:avLst/>
          </a:prstGeom>
        </p:spPr>
      </p:pic>
      <p:sp>
        <p:nvSpPr>
          <p:cNvPr id="48" name="Text 20"/>
          <p:cNvSpPr txBox="1"/>
          <p:nvPr/>
        </p:nvSpPr>
        <p:spPr>
          <a:xfrm>
            <a:off x="4557713" y="3114526"/>
            <a:ext cx="2157413" cy="3241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₹199–₹999</a:t>
            </a:r>
            <a:endParaRPr lang="en-US" sz="863" dirty="0"/>
          </a:p>
        </p:txBody>
      </p:sp>
      <p:pic>
        <p:nvPicPr>
          <p:cNvPr id="49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858000" y="2842915"/>
            <a:ext cx="2433638" cy="691009"/>
          </a:xfrm>
          <a:prstGeom prst="rect">
            <a:avLst/>
          </a:prstGeom>
        </p:spPr>
      </p:pic>
      <p:sp>
        <p:nvSpPr>
          <p:cNvPr id="50" name="Text 21"/>
          <p:cNvSpPr txBox="1"/>
          <p:nvPr/>
        </p:nvSpPr>
        <p:spPr>
          <a:xfrm>
            <a:off x="6991350" y="3114526"/>
            <a:ext cx="2157413" cy="3241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₹350–₹1,500</a:t>
            </a:r>
            <a:endParaRPr lang="en-US" sz="863" dirty="0"/>
          </a:p>
        </p:txBody>
      </p:sp>
      <p:pic>
        <p:nvPicPr>
          <p:cNvPr id="51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291638" y="2842915"/>
            <a:ext cx="2433638" cy="691009"/>
          </a:xfrm>
          <a:prstGeom prst="rect">
            <a:avLst/>
          </a:prstGeom>
        </p:spPr>
      </p:pic>
      <p:sp>
        <p:nvSpPr>
          <p:cNvPr id="52" name="Text 22"/>
          <p:cNvSpPr txBox="1"/>
          <p:nvPr/>
        </p:nvSpPr>
        <p:spPr>
          <a:xfrm>
            <a:off x="9424988" y="3114526"/>
            <a:ext cx="2157413" cy="3241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₹199–₹999</a:t>
            </a:r>
            <a:endParaRPr lang="en-US" sz="863" dirty="0"/>
          </a:p>
        </p:txBody>
      </p:sp>
      <p:pic>
        <p:nvPicPr>
          <p:cNvPr id="53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66725" y="3543449"/>
            <a:ext cx="11258550" cy="700534"/>
          </a:xfrm>
          <a:prstGeom prst="rect">
            <a:avLst/>
          </a:prstGeom>
        </p:spPr>
      </p:pic>
      <p:pic>
        <p:nvPicPr>
          <p:cNvPr id="54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66725" y="3543449"/>
            <a:ext cx="1524000" cy="691009"/>
          </a:xfrm>
          <a:prstGeom prst="rect">
            <a:avLst/>
          </a:prstGeom>
        </p:spPr>
      </p:pic>
      <p:sp>
        <p:nvSpPr>
          <p:cNvPr id="55" name="Text 23"/>
          <p:cNvSpPr txBox="1"/>
          <p:nvPr/>
        </p:nvSpPr>
        <p:spPr>
          <a:xfrm>
            <a:off x="600075" y="3816251"/>
            <a:ext cx="1247775" cy="32295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863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Strength</a:t>
            </a:r>
            <a:endParaRPr lang="en-US" sz="863" dirty="0"/>
          </a:p>
        </p:txBody>
      </p:sp>
      <p:pic>
        <p:nvPicPr>
          <p:cNvPr id="56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990725" y="3543449"/>
            <a:ext cx="2433638" cy="691009"/>
          </a:xfrm>
          <a:prstGeom prst="rect">
            <a:avLst/>
          </a:prstGeom>
        </p:spPr>
      </p:pic>
      <p:sp>
        <p:nvSpPr>
          <p:cNvPr id="57" name="Text 24"/>
          <p:cNvSpPr txBox="1"/>
          <p:nvPr/>
        </p:nvSpPr>
        <p:spPr>
          <a:xfrm>
            <a:off x="2124075" y="3815060"/>
            <a:ext cx="2157413" cy="3241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Founder trust, shade diversity</a:t>
            </a:r>
            <a:endParaRPr lang="en-US" sz="863" dirty="0"/>
          </a:p>
        </p:txBody>
      </p:sp>
      <p:pic>
        <p:nvPicPr>
          <p:cNvPr id="58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424363" y="3543449"/>
            <a:ext cx="2433638" cy="691009"/>
          </a:xfrm>
          <a:prstGeom prst="rect">
            <a:avLst/>
          </a:prstGeom>
        </p:spPr>
      </p:pic>
      <p:sp>
        <p:nvSpPr>
          <p:cNvPr id="59" name="Text 25"/>
          <p:cNvSpPr txBox="1"/>
          <p:nvPr/>
        </p:nvSpPr>
        <p:spPr>
          <a:xfrm>
            <a:off x="4557713" y="3815060"/>
            <a:ext cx="2157413" cy="3241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Mass distribution</a:t>
            </a:r>
            <a:endParaRPr lang="en-US" sz="863" dirty="0"/>
          </a:p>
        </p:txBody>
      </p:sp>
      <p:pic>
        <p:nvPicPr>
          <p:cNvPr id="60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858000" y="3543449"/>
            <a:ext cx="2433638" cy="691009"/>
          </a:xfrm>
          <a:prstGeom prst="rect">
            <a:avLst/>
          </a:prstGeom>
        </p:spPr>
      </p:pic>
      <p:sp>
        <p:nvSpPr>
          <p:cNvPr id="61" name="Text 26"/>
          <p:cNvSpPr txBox="1"/>
          <p:nvPr/>
        </p:nvSpPr>
        <p:spPr>
          <a:xfrm>
            <a:off x="6991350" y="3815060"/>
            <a:ext cx="2157413" cy="3241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Natural ingredient story</a:t>
            </a:r>
            <a:endParaRPr lang="en-US" sz="863" dirty="0"/>
          </a:p>
        </p:txBody>
      </p:sp>
      <p:pic>
        <p:nvPicPr>
          <p:cNvPr id="62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291638" y="3543449"/>
            <a:ext cx="2433638" cy="691009"/>
          </a:xfrm>
          <a:prstGeom prst="rect">
            <a:avLst/>
          </a:prstGeom>
        </p:spPr>
      </p:pic>
      <p:sp>
        <p:nvSpPr>
          <p:cNvPr id="63" name="Text 27"/>
          <p:cNvSpPr txBox="1"/>
          <p:nvPr/>
        </p:nvSpPr>
        <p:spPr>
          <a:xfrm>
            <a:off x="9424988" y="3815060"/>
            <a:ext cx="2157413" cy="3241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Caffeine proposition</a:t>
            </a:r>
            <a:endParaRPr lang="en-US" sz="863" dirty="0"/>
          </a:p>
        </p:txBody>
      </p:sp>
      <p:pic>
        <p:nvPicPr>
          <p:cNvPr id="64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66725" y="4243983"/>
            <a:ext cx="11258550" cy="700534"/>
          </a:xfrm>
          <a:prstGeom prst="rect">
            <a:avLst/>
          </a:prstGeom>
        </p:spPr>
      </p:pic>
      <p:pic>
        <p:nvPicPr>
          <p:cNvPr id="65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66725" y="4243983"/>
            <a:ext cx="1524000" cy="691009"/>
          </a:xfrm>
          <a:prstGeom prst="rect">
            <a:avLst/>
          </a:prstGeom>
        </p:spPr>
      </p:pic>
      <p:sp>
        <p:nvSpPr>
          <p:cNvPr id="66" name="Text 28"/>
          <p:cNvSpPr txBox="1"/>
          <p:nvPr/>
        </p:nvSpPr>
        <p:spPr>
          <a:xfrm>
            <a:off x="600075" y="4516785"/>
            <a:ext cx="1247775" cy="32295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863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Weakness</a:t>
            </a:r>
            <a:endParaRPr lang="en-US" sz="863" dirty="0"/>
          </a:p>
        </p:txBody>
      </p:sp>
      <p:pic>
        <p:nvPicPr>
          <p:cNvPr id="67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990725" y="4243983"/>
            <a:ext cx="2433638" cy="691009"/>
          </a:xfrm>
          <a:prstGeom prst="rect">
            <a:avLst/>
          </a:prstGeom>
        </p:spPr>
      </p:pic>
      <p:sp>
        <p:nvSpPr>
          <p:cNvPr id="68" name="Text 29"/>
          <p:cNvSpPr txBox="1"/>
          <p:nvPr/>
        </p:nvSpPr>
        <p:spPr>
          <a:xfrm>
            <a:off x="2124075" y="4515594"/>
            <a:ext cx="2157413" cy="3241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scale, founder dep.</a:t>
            </a:r>
            <a:endParaRPr lang="en-US" sz="863" dirty="0"/>
          </a:p>
        </p:txBody>
      </p:sp>
      <p:pic>
        <p:nvPicPr>
          <p:cNvPr id="69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4424363" y="4243983"/>
            <a:ext cx="2433638" cy="691009"/>
          </a:xfrm>
          <a:prstGeom prst="rect">
            <a:avLst/>
          </a:prstGeom>
        </p:spPr>
      </p:pic>
      <p:sp>
        <p:nvSpPr>
          <p:cNvPr id="70" name="Text 30"/>
          <p:cNvSpPr txBox="1"/>
          <p:nvPr/>
        </p:nvSpPr>
        <p:spPr>
          <a:xfrm>
            <a:off x="4557713" y="4515594"/>
            <a:ext cx="2157413" cy="3241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perception gap</a:t>
            </a:r>
            <a:endParaRPr lang="en-US" sz="863" dirty="0"/>
          </a:p>
        </p:txBody>
      </p:sp>
      <p:pic>
        <p:nvPicPr>
          <p:cNvPr id="71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858000" y="4243983"/>
            <a:ext cx="2433638" cy="691009"/>
          </a:xfrm>
          <a:prstGeom prst="rect">
            <a:avLst/>
          </a:prstGeom>
        </p:spPr>
      </p:pic>
      <p:sp>
        <p:nvSpPr>
          <p:cNvPr id="72" name="Text 31"/>
          <p:cNvSpPr txBox="1"/>
          <p:nvPr/>
        </p:nvSpPr>
        <p:spPr>
          <a:xfrm>
            <a:off x="6991350" y="4515594"/>
            <a:ext cx="2157413" cy="3241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 Gen Z resonance</a:t>
            </a:r>
            <a:endParaRPr lang="en-US" sz="863" dirty="0"/>
          </a:p>
        </p:txBody>
      </p:sp>
      <p:pic>
        <p:nvPicPr>
          <p:cNvPr id="73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291638" y="4243983"/>
            <a:ext cx="2433638" cy="691009"/>
          </a:xfrm>
          <a:prstGeom prst="rect">
            <a:avLst/>
          </a:prstGeom>
        </p:spPr>
      </p:pic>
      <p:sp>
        <p:nvSpPr>
          <p:cNvPr id="74" name="Text 32"/>
          <p:cNvSpPr txBox="1"/>
          <p:nvPr/>
        </p:nvSpPr>
        <p:spPr>
          <a:xfrm>
            <a:off x="9424988" y="4515594"/>
            <a:ext cx="2157413" cy="3241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Narrow category</a:t>
            </a:r>
            <a:endParaRPr lang="en-US" sz="863" dirty="0"/>
          </a:p>
        </p:txBody>
      </p:sp>
      <p:pic>
        <p:nvPicPr>
          <p:cNvPr id="75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466725" y="4944517"/>
            <a:ext cx="1524000" cy="691009"/>
          </a:xfrm>
          <a:prstGeom prst="rect">
            <a:avLst/>
          </a:prstGeom>
        </p:spPr>
      </p:pic>
      <p:sp>
        <p:nvSpPr>
          <p:cNvPr id="76" name="Text 33"/>
          <p:cNvSpPr txBox="1"/>
          <p:nvPr/>
        </p:nvSpPr>
        <p:spPr>
          <a:xfrm>
            <a:off x="600075" y="5217319"/>
            <a:ext cx="1247775" cy="32295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863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IG Focus</a:t>
            </a:r>
            <a:endParaRPr lang="en-US" sz="863" dirty="0"/>
          </a:p>
        </p:txBody>
      </p:sp>
      <p:pic>
        <p:nvPicPr>
          <p:cNvPr id="77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990725" y="4944517"/>
            <a:ext cx="2433638" cy="691009"/>
          </a:xfrm>
          <a:prstGeom prst="rect">
            <a:avLst/>
          </a:prstGeom>
        </p:spPr>
      </p:pic>
      <p:sp>
        <p:nvSpPr>
          <p:cNvPr id="78" name="Text 34"/>
          <p:cNvSpPr txBox="1"/>
          <p:nvPr/>
        </p:nvSpPr>
        <p:spPr>
          <a:xfrm>
            <a:off x="2124075" y="5216128"/>
            <a:ext cx="2157413" cy="3241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Community-led UGC-heavy</a:t>
            </a:r>
            <a:endParaRPr lang="en-US" sz="863" dirty="0"/>
          </a:p>
        </p:txBody>
      </p:sp>
      <p:pic>
        <p:nvPicPr>
          <p:cNvPr id="79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424363" y="4944517"/>
            <a:ext cx="2433638" cy="691009"/>
          </a:xfrm>
          <a:prstGeom prst="rect">
            <a:avLst/>
          </a:prstGeom>
        </p:spPr>
      </p:pic>
      <p:sp>
        <p:nvSpPr>
          <p:cNvPr id="80" name="Text 35"/>
          <p:cNvSpPr txBox="1"/>
          <p:nvPr/>
        </p:nvSpPr>
        <p:spPr>
          <a:xfrm>
            <a:off x="4557713" y="5216128"/>
            <a:ext cx="2157413" cy="3241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Campaign, celebrity</a:t>
            </a:r>
            <a:endParaRPr lang="en-US" sz="863" dirty="0"/>
          </a:p>
        </p:txBody>
      </p:sp>
      <p:pic>
        <p:nvPicPr>
          <p:cNvPr id="81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858000" y="4944517"/>
            <a:ext cx="2433638" cy="691009"/>
          </a:xfrm>
          <a:prstGeom prst="rect">
            <a:avLst/>
          </a:prstGeom>
        </p:spPr>
      </p:pic>
      <p:sp>
        <p:nvSpPr>
          <p:cNvPr id="82" name="Text 36"/>
          <p:cNvSpPr txBox="1"/>
          <p:nvPr/>
        </p:nvSpPr>
        <p:spPr>
          <a:xfrm>
            <a:off x="6991350" y="5216128"/>
            <a:ext cx="2157413" cy="3241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Educational</a:t>
            </a:r>
            <a:endParaRPr lang="en-US" sz="863" dirty="0"/>
          </a:p>
        </p:txBody>
      </p:sp>
      <p:pic>
        <p:nvPicPr>
          <p:cNvPr id="83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9291638" y="4944517"/>
            <a:ext cx="2433638" cy="691009"/>
          </a:xfrm>
          <a:prstGeom prst="rect">
            <a:avLst/>
          </a:prstGeom>
        </p:spPr>
      </p:pic>
      <p:sp>
        <p:nvSpPr>
          <p:cNvPr id="84" name="Text 37"/>
          <p:cNvSpPr txBox="1"/>
          <p:nvPr/>
        </p:nvSpPr>
        <p:spPr>
          <a:xfrm>
            <a:off x="9424988" y="5216128"/>
            <a:ext cx="2157413" cy="3241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Meme-heavy</a:t>
            </a:r>
            <a:endParaRPr lang="en-US" sz="863" dirty="0"/>
          </a:p>
        </p:txBody>
      </p:sp>
      <p:pic>
        <p:nvPicPr>
          <p:cNvPr id="85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457200" y="5759351"/>
            <a:ext cx="6697861" cy="793849"/>
          </a:xfrm>
          <a:prstGeom prst="rect">
            <a:avLst/>
          </a:prstGeom>
        </p:spPr>
      </p:pic>
      <p:pic>
        <p:nvPicPr>
          <p:cNvPr id="86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666750" y="5892701"/>
            <a:ext cx="304800" cy="304800"/>
          </a:xfrm>
          <a:prstGeom prst="rect">
            <a:avLst/>
          </a:prstGeom>
        </p:spPr>
      </p:pic>
      <p:sp>
        <p:nvSpPr>
          <p:cNvPr id="87" name="Text 38"/>
          <p:cNvSpPr txBox="1"/>
          <p:nvPr/>
        </p:nvSpPr>
        <p:spPr>
          <a:xfrm>
            <a:off x="712143" y="5945088"/>
            <a:ext cx="259407" cy="2524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💡</a:t>
            </a:r>
            <a:endParaRPr lang="en-US" sz="1350" dirty="0"/>
          </a:p>
        </p:txBody>
      </p:sp>
      <p:sp>
        <p:nvSpPr>
          <p:cNvPr id="88" name="Text 39"/>
          <p:cNvSpPr txBox="1"/>
          <p:nvPr/>
        </p:nvSpPr>
        <p:spPr>
          <a:xfrm>
            <a:off x="1085850" y="5902226"/>
            <a:ext cx="5897761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Insight</a:t>
            </a:r>
            <a:endParaRPr lang="en-US" sz="900" dirty="0"/>
          </a:p>
        </p:txBody>
      </p:sp>
      <p:sp>
        <p:nvSpPr>
          <p:cNvPr id="89" name="Text 40"/>
          <p:cNvSpPr txBox="1"/>
          <p:nvPr/>
        </p:nvSpPr>
        <p:spPr>
          <a:xfrm>
            <a:off x="1085850" y="6111776"/>
            <a:ext cx="5897761" cy="30807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1"/>
              </a:lnSpc>
              <a:buNone/>
            </a:pPr>
            <a:r>
              <a:rPr lang="en-US" sz="863" dirty="0">
                <a:solidFill>
                  <a:srgbClr val="2B1E1E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Mrucha advantage </a:t>
            </a:r>
            <a:pPr indent="0" marL="0">
              <a:buNone/>
            </a:pPr>
            <a:r>
              <a:rPr lang="en-US" sz="863" b="1" dirty="0">
                <a:solidFill>
                  <a:srgbClr val="2B1E1E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authenticity + community</a:t>
            </a:r>
            <a:pPr indent="0" marL="0">
              <a:buNone/>
            </a:pPr>
            <a:r>
              <a:rPr lang="en-US" sz="863" dirty="0">
                <a:solidFill>
                  <a:srgbClr val="2B1E1E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Competitors have scale, but Mrucha can win via creator relatability, 5.5M audience &amp; feedback loops. 4,325 competitors — differentiation is moat.</a:t>
            </a:r>
            <a:endParaRPr lang="en-US" sz="863" dirty="0"/>
          </a:p>
        </p:txBody>
      </p:sp>
      <p:sp>
        <p:nvSpPr>
          <p:cNvPr id="90" name="Shape 41"/>
          <p:cNvSpPr/>
          <p:nvPr/>
        </p:nvSpPr>
        <p:spPr>
          <a:xfrm>
            <a:off x="7267575" y="5762625"/>
            <a:ext cx="2181225" cy="790575"/>
          </a:xfrm>
          <a:prstGeom prst="roundRect">
            <a:avLst>
              <a:gd name="adj" fmla="val 14458"/>
            </a:avLst>
          </a:prstGeom>
          <a:solidFill>
            <a:srgbClr val="4A2315"/>
          </a:solidFill>
          <a:ln/>
        </p:spPr>
      </p:sp>
      <p:sp>
        <p:nvSpPr>
          <p:cNvPr id="91" name="Text 42"/>
          <p:cNvSpPr txBox="1"/>
          <p:nvPr/>
        </p:nvSpPr>
        <p:spPr>
          <a:xfrm>
            <a:off x="7402711" y="5883176"/>
            <a:ext cx="1918395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spc="75" kern="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FAYDA</a:t>
            </a:r>
            <a:endParaRPr lang="en-US" sz="750" dirty="0"/>
          </a:p>
        </p:txBody>
      </p:sp>
      <p:sp>
        <p:nvSpPr>
          <p:cNvPr id="92" name="Text 43"/>
          <p:cNvSpPr txBox="1"/>
          <p:nvPr/>
        </p:nvSpPr>
        <p:spPr>
          <a:xfrm>
            <a:off x="7402711" y="6083201"/>
            <a:ext cx="1918395" cy="29706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5.5M audience • Honest community • Indian skin specific</a:t>
            </a:r>
            <a:endParaRPr lang="en-US" sz="863" dirty="0"/>
          </a:p>
        </p:txBody>
      </p:sp>
      <p:pic>
        <p:nvPicPr>
          <p:cNvPr id="93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9549705" y="5759351"/>
            <a:ext cx="2185095" cy="793849"/>
          </a:xfrm>
          <a:prstGeom prst="rect">
            <a:avLst/>
          </a:prstGeom>
        </p:spPr>
      </p:pic>
      <p:sp>
        <p:nvSpPr>
          <p:cNvPr id="94" name="Text 44"/>
          <p:cNvSpPr txBox="1"/>
          <p:nvPr/>
        </p:nvSpPr>
        <p:spPr>
          <a:xfrm>
            <a:off x="9692580" y="5892701"/>
            <a:ext cx="1899345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spc="75" kern="0" dirty="0">
                <a:solidFill>
                  <a:srgbClr val="2B1E1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KAMZORI</a:t>
            </a:r>
            <a:endParaRPr lang="en-US" sz="750" dirty="0"/>
          </a:p>
        </p:txBody>
      </p:sp>
      <p:sp>
        <p:nvSpPr>
          <p:cNvPr id="95" name="Text 45"/>
          <p:cNvSpPr txBox="1"/>
          <p:nvPr/>
        </p:nvSpPr>
        <p:spPr>
          <a:xfrm>
            <a:off x="9692580" y="6092726"/>
            <a:ext cx="1899345" cy="29706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Chhota scale • No funding • Only online</a:t>
            </a:r>
            <a:endParaRPr lang="en-US" sz="86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390525"/>
            <a:ext cx="1112520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600"/>
              </a:spcAft>
              <a:buNone/>
            </a:pPr>
            <a:r>
              <a:rPr lang="en-US" sz="825" b="1" spc="165" kern="0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 PRESENCE AUDIT</a:t>
            </a:r>
            <a:endParaRPr lang="en-US" sz="825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614363"/>
            <a:ext cx="3709988" cy="8399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8"/>
              </a:lnSpc>
              <a:buNone/>
            </a:pPr>
            <a:r>
              <a:rPr lang="en-US" sz="315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Presence —</a:t>
            </a:r>
            <a:endParaRPr lang="en-US" sz="3150" dirty="0"/>
          </a:p>
          <a:p>
            <a:pPr algn="l" indent="0" marL="0">
              <a:lnSpc>
                <a:spcPts val="3308"/>
              </a:lnSpc>
              <a:buNone/>
            </a:pPr>
            <a:r>
              <a:rPr lang="en-US" sz="315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 Kahan Hai?</a:t>
            </a:r>
            <a:endParaRPr lang="en-US" sz="3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5317" y="1130498"/>
            <a:ext cx="2453283" cy="3238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557742" y="1216223"/>
            <a:ext cx="1967508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mrucha.com • 294 reviews on Brew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8667" y="1235273"/>
            <a:ext cx="142875" cy="1143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33400" y="1647825"/>
            <a:ext cx="2686050" cy="3895725"/>
          </a:xfrm>
          <a:prstGeom prst="roundRect">
            <a:avLst>
              <a:gd name="adj" fmla="val 6383"/>
            </a:avLst>
          </a:prstGeom>
          <a:solidFill>
            <a:srgbClr val="4A2315"/>
          </a:solidFill>
          <a:ln/>
          <a:effectLst>
            <a:outerShdw sx="100000" sy="100000" kx="0" ky="0" algn="bl" rotWithShape="0" blurRad="171450" dist="57150" dir="5400000">
              <a:srgbClr val="4A2315">
                <a:alpha val="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704850" y="1819275"/>
            <a:ext cx="323850" cy="323850"/>
          </a:xfrm>
          <a:prstGeom prst="roundRect">
            <a:avLst>
              <a:gd name="adj" fmla="val 29412"/>
            </a:avLst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434" y="1911548"/>
            <a:ext cx="116681" cy="13335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2371" y="1868686"/>
            <a:ext cx="740866" cy="219075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2378571" y="1916311"/>
            <a:ext cx="588466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STRONGEST</a:t>
            </a:r>
            <a:endParaRPr lang="en-US" sz="750" dirty="0"/>
          </a:p>
        </p:txBody>
      </p:sp>
      <p:sp>
        <p:nvSpPr>
          <p:cNvPr id="12" name="Text 6"/>
          <p:cNvSpPr txBox="1"/>
          <p:nvPr/>
        </p:nvSpPr>
        <p:spPr>
          <a:xfrm>
            <a:off x="704850" y="2254448"/>
            <a:ext cx="2338388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Instagram — 5.5M+ Founder</a:t>
            </a:r>
            <a:endParaRPr lang="en-US" sz="1050" dirty="0"/>
          </a:p>
        </p:txBody>
      </p:sp>
      <p:sp>
        <p:nvSpPr>
          <p:cNvPr id="13" name="Text 7"/>
          <p:cNvSpPr txBox="1"/>
          <p:nvPr/>
        </p:nvSpPr>
        <p:spPr>
          <a:xfrm>
            <a:off x="704850" y="2462064"/>
            <a:ext cx="2338388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600"/>
              </a:spcAft>
              <a:buNone/>
            </a:pPr>
            <a:r>
              <a:rPr lang="en-US" sz="825" b="1" spc="50" kern="0" dirty="0">
                <a:solidFill>
                  <a:srgbClr val="FFFBF7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@MRUNU • REELS + UGC</a:t>
            </a:r>
            <a:endParaRPr lang="en-US" sz="825" dirty="0"/>
          </a:p>
        </p:txBody>
      </p:sp>
      <p:sp>
        <p:nvSpPr>
          <p:cNvPr id="14" name="Text 8"/>
          <p:cNvSpPr txBox="1"/>
          <p:nvPr/>
        </p:nvSpPr>
        <p:spPr>
          <a:xfrm>
            <a:off x="704850" y="2695426"/>
            <a:ext cx="2338388" cy="50839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9"/>
              </a:lnSpc>
              <a:buNone/>
            </a:pPr>
            <a:r>
              <a:rPr lang="en-US" sz="938" dirty="0">
                <a:solidFill>
                  <a:srgbClr val="FFFBF7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leverages founder audience; brand account smaller but Mrucha Circle active. Gen Z primary.</a:t>
            </a:r>
            <a:endParaRPr lang="en-US" sz="938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6588" y="1416248"/>
            <a:ext cx="3024188" cy="435411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3533775" y="1828800"/>
            <a:ext cx="323850" cy="323850"/>
          </a:xfrm>
          <a:prstGeom prst="roundRect">
            <a:avLst>
              <a:gd name="adj" fmla="val 29412"/>
            </a:avLst>
          </a:prstGeom>
          <a:solidFill>
            <a:srgbClr val="FDF0E9"/>
          </a:solidFill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5928" y="1921073"/>
            <a:ext cx="150019" cy="133350"/>
          </a:xfrm>
          <a:prstGeom prst="rect">
            <a:avLst/>
          </a:prstGeom>
        </p:spPr>
      </p:pic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6669" y="1878211"/>
            <a:ext cx="351681" cy="219075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5572869" y="1925836"/>
            <a:ext cx="19928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D2C</a:t>
            </a:r>
            <a:endParaRPr lang="en-US" sz="750" dirty="0"/>
          </a:p>
        </p:txBody>
      </p:sp>
      <p:sp>
        <p:nvSpPr>
          <p:cNvPr id="20" name="Text 11"/>
          <p:cNvSpPr txBox="1"/>
          <p:nvPr/>
        </p:nvSpPr>
        <p:spPr>
          <a:xfrm>
            <a:off x="3529013" y="2263973"/>
            <a:ext cx="2319338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Website — mrucha.com</a:t>
            </a:r>
            <a:endParaRPr lang="en-US" sz="1050" dirty="0"/>
          </a:p>
        </p:txBody>
      </p:sp>
      <p:sp>
        <p:nvSpPr>
          <p:cNvPr id="21" name="Text 12"/>
          <p:cNvSpPr txBox="1"/>
          <p:nvPr/>
        </p:nvSpPr>
        <p:spPr>
          <a:xfrm>
            <a:off x="3529013" y="2471589"/>
            <a:ext cx="2319338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600"/>
              </a:spcAft>
              <a:buNone/>
            </a:pPr>
            <a:r>
              <a:rPr lang="en-US" sz="825" b="1" spc="50" kern="0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RAZORPAY • COMMUNITY</a:t>
            </a:r>
            <a:endParaRPr lang="en-US" sz="825" dirty="0"/>
          </a:p>
        </p:txBody>
      </p:sp>
      <p:sp>
        <p:nvSpPr>
          <p:cNvPr id="22" name="Text 13"/>
          <p:cNvSpPr txBox="1"/>
          <p:nvPr/>
        </p:nvSpPr>
        <p:spPr>
          <a:xfrm>
            <a:off x="3529013" y="2704951"/>
            <a:ext cx="2319338" cy="3357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9"/>
              </a:lnSpc>
              <a:buNone/>
            </a:pPr>
            <a:r>
              <a:rPr lang="en-US" sz="938" dirty="0">
                <a:solidFill>
                  <a:srgbClr val="2B1E1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product detail, ingredient transparency, active review system.</a:t>
            </a:r>
            <a:endParaRPr lang="en-US" sz="938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1225" y="1416248"/>
            <a:ext cx="3024188" cy="4354116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6343650" y="1828800"/>
            <a:ext cx="323850" cy="323850"/>
          </a:xfrm>
          <a:prstGeom prst="roundRect">
            <a:avLst>
              <a:gd name="adj" fmla="val 29412"/>
            </a:avLst>
          </a:prstGeom>
          <a:solidFill>
            <a:srgbClr val="F9E8DF"/>
          </a:solidFill>
          <a:ln/>
        </p:spPr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0566" y="1921073"/>
            <a:ext cx="150019" cy="133350"/>
          </a:xfrm>
          <a:prstGeom prst="rect">
            <a:avLst/>
          </a:prstGeom>
        </p:spPr>
      </p:pic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24639" y="1878211"/>
            <a:ext cx="838349" cy="219075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7900839" y="1925836"/>
            <a:ext cx="685949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FOUNDER-LED</a:t>
            </a:r>
            <a:endParaRPr lang="en-US" sz="750" dirty="0"/>
          </a:p>
        </p:txBody>
      </p:sp>
      <p:sp>
        <p:nvSpPr>
          <p:cNvPr id="28" name="Text 16"/>
          <p:cNvSpPr txBox="1"/>
          <p:nvPr/>
        </p:nvSpPr>
        <p:spPr>
          <a:xfrm>
            <a:off x="6343650" y="2263973"/>
            <a:ext cx="2319338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YouTube — Tutorials</a:t>
            </a:r>
            <a:endParaRPr lang="en-US" sz="1050" dirty="0"/>
          </a:p>
        </p:txBody>
      </p:sp>
      <p:sp>
        <p:nvSpPr>
          <p:cNvPr id="29" name="Text 17"/>
          <p:cNvSpPr txBox="1"/>
          <p:nvPr/>
        </p:nvSpPr>
        <p:spPr>
          <a:xfrm>
            <a:off x="6343650" y="2471589"/>
            <a:ext cx="2319338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600"/>
              </a:spcAft>
              <a:buNone/>
            </a:pPr>
            <a:r>
              <a:rPr lang="en-US" sz="825" b="1" spc="50" kern="0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FOUNDER CONTENT DOMINANT</a:t>
            </a:r>
            <a:endParaRPr lang="en-US" sz="825" dirty="0"/>
          </a:p>
        </p:txBody>
      </p:sp>
      <p:sp>
        <p:nvSpPr>
          <p:cNvPr id="30" name="Text 18"/>
          <p:cNvSpPr txBox="1"/>
          <p:nvPr/>
        </p:nvSpPr>
        <p:spPr>
          <a:xfrm>
            <a:off x="6343650" y="2704951"/>
            <a:ext cx="2319338" cy="3357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9"/>
              </a:lnSpc>
              <a:buNone/>
            </a:pPr>
            <a:r>
              <a:rPr lang="en-US" sz="938" dirty="0">
                <a:solidFill>
                  <a:srgbClr val="2B1E1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Reviews, unboxings, GRWM. Brand channel unclear — opportunity.</a:t>
            </a:r>
            <a:endParaRPr lang="en-US" sz="938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05863" y="1416248"/>
            <a:ext cx="3024188" cy="4354116"/>
          </a:xfrm>
          <a:prstGeom prst="rect">
            <a:avLst/>
          </a:prstGeom>
        </p:spPr>
      </p:pic>
      <p:sp>
        <p:nvSpPr>
          <p:cNvPr id="32" name="Shape 19"/>
          <p:cNvSpPr/>
          <p:nvPr/>
        </p:nvSpPr>
        <p:spPr>
          <a:xfrm>
            <a:off x="9163050" y="1828800"/>
            <a:ext cx="323850" cy="323850"/>
          </a:xfrm>
          <a:prstGeom prst="roundRect">
            <a:avLst>
              <a:gd name="adj" fmla="val 29412"/>
            </a:avLst>
          </a:prstGeom>
          <a:solidFill>
            <a:srgbClr val="F5E0D6"/>
          </a:solidFill>
          <a:ln/>
        </p:spPr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53538" y="1921073"/>
            <a:ext cx="133350" cy="133350"/>
          </a:xfrm>
          <a:prstGeom prst="rect">
            <a:avLst/>
          </a:prstGeom>
        </p:spPr>
      </p:pic>
      <p:pic>
        <p:nvPicPr>
          <p:cNvPr id="3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38867" y="1878211"/>
            <a:ext cx="538758" cy="219075"/>
          </a:xfrm>
          <a:prstGeom prst="rect">
            <a:avLst/>
          </a:prstGeom>
        </p:spPr>
      </p:pic>
      <p:sp>
        <p:nvSpPr>
          <p:cNvPr id="35" name="Text 20"/>
          <p:cNvSpPr txBox="1"/>
          <p:nvPr/>
        </p:nvSpPr>
        <p:spPr>
          <a:xfrm>
            <a:off x="11015067" y="1925836"/>
            <a:ext cx="386358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</a:t>
            </a:r>
            <a:endParaRPr lang="en-US" sz="750" dirty="0"/>
          </a:p>
        </p:txBody>
      </p:sp>
      <p:sp>
        <p:nvSpPr>
          <p:cNvPr id="36" name="Text 21"/>
          <p:cNvSpPr txBox="1"/>
          <p:nvPr/>
        </p:nvSpPr>
        <p:spPr>
          <a:xfrm>
            <a:off x="9158288" y="2263973"/>
            <a:ext cx="2319338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Facebook — Cross-post</a:t>
            </a:r>
            <a:endParaRPr lang="en-US" sz="1050" dirty="0"/>
          </a:p>
        </p:txBody>
      </p:sp>
      <p:sp>
        <p:nvSpPr>
          <p:cNvPr id="37" name="Text 22"/>
          <p:cNvSpPr txBox="1"/>
          <p:nvPr/>
        </p:nvSpPr>
        <p:spPr>
          <a:xfrm>
            <a:off x="9158288" y="2471589"/>
            <a:ext cx="2319338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600"/>
              </a:spcAft>
              <a:buNone/>
            </a:pPr>
            <a:r>
              <a:rPr lang="en-US" sz="825" b="1" spc="50" kern="0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GEN Z PRIMARY</a:t>
            </a:r>
            <a:endParaRPr lang="en-US" sz="825" dirty="0"/>
          </a:p>
        </p:txBody>
      </p:sp>
      <p:sp>
        <p:nvSpPr>
          <p:cNvPr id="38" name="Text 23"/>
          <p:cNvSpPr txBox="1"/>
          <p:nvPr/>
        </p:nvSpPr>
        <p:spPr>
          <a:xfrm>
            <a:off x="9158288" y="2704951"/>
            <a:ext cx="2319338" cy="3357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9"/>
              </a:lnSpc>
              <a:buNone/>
            </a:pPr>
            <a:r>
              <a:rPr lang="en-US" sz="938" dirty="0">
                <a:solidFill>
                  <a:srgbClr val="2B1E1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presence, secondary. Low ROI for TG 18-28.</a:t>
            </a:r>
            <a:endParaRPr lang="en-US" sz="938" dirty="0"/>
          </a:p>
        </p:txBody>
      </p:sp>
      <p:pic>
        <p:nvPicPr>
          <p:cNvPr id="3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3400" y="5675114"/>
            <a:ext cx="5495925" cy="801886"/>
          </a:xfrm>
          <a:prstGeom prst="rect">
            <a:avLst/>
          </a:prstGeom>
        </p:spPr>
      </p:pic>
      <p:sp>
        <p:nvSpPr>
          <p:cNvPr id="40" name="Shape 24"/>
          <p:cNvSpPr/>
          <p:nvPr/>
        </p:nvSpPr>
        <p:spPr>
          <a:xfrm>
            <a:off x="714375" y="581977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DF0E9"/>
          </a:solidFill>
          <a:ln/>
        </p:spPr>
      </p:sp>
      <p:pic>
        <p:nvPicPr>
          <p:cNvPr id="41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0575" y="5894189"/>
            <a:ext cx="114300" cy="114300"/>
          </a:xfrm>
          <a:prstGeom prst="rect">
            <a:avLst/>
          </a:prstGeom>
        </p:spPr>
      </p:pic>
      <p:sp>
        <p:nvSpPr>
          <p:cNvPr id="42" name="Text 25"/>
          <p:cNvSpPr txBox="1"/>
          <p:nvPr/>
        </p:nvSpPr>
        <p:spPr>
          <a:xfrm>
            <a:off x="1095375" y="5998369"/>
            <a:ext cx="4752975" cy="3357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9"/>
              </a:lnSpc>
              <a:buNone/>
            </a:pPr>
            <a:r>
              <a:rPr lang="en-US" sz="825" b="1" spc="50" kern="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ACHHI BAAT</a:t>
            </a:r>
            <a:pPr indent="0" marL="0">
              <a:buNone/>
            </a:pPr>
            <a:r>
              <a:rPr lang="en-US" sz="938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Mrucha Circle community = retention asset. 294 reviews on single product show deep engagement.</a:t>
            </a:r>
            <a:endParaRPr lang="en-US" sz="825" dirty="0"/>
          </a:p>
        </p:txBody>
      </p:sp>
      <p:pic>
        <p:nvPicPr>
          <p:cNvPr id="4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62675" y="5675114"/>
            <a:ext cx="5495925" cy="801886"/>
          </a:xfrm>
          <a:prstGeom prst="rect">
            <a:avLst/>
          </a:prstGeom>
        </p:spPr>
      </p:pic>
      <p:sp>
        <p:nvSpPr>
          <p:cNvPr id="44" name="Shape 26"/>
          <p:cNvSpPr/>
          <p:nvPr/>
        </p:nvSpPr>
        <p:spPr>
          <a:xfrm>
            <a:off x="6343650" y="581977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FF2EE"/>
          </a:solidFill>
          <a:ln/>
        </p:spPr>
      </p:sp>
      <p:sp>
        <p:nvSpPr>
          <p:cNvPr id="45" name="Text 27"/>
          <p:cNvSpPr txBox="1"/>
          <p:nvPr/>
        </p:nvSpPr>
        <p:spPr>
          <a:xfrm>
            <a:off x="6477000" y="5953125"/>
            <a:ext cx="0" cy="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28"/>
          <p:cNvSpPr txBox="1"/>
          <p:nvPr/>
        </p:nvSpPr>
        <p:spPr>
          <a:xfrm>
            <a:off x="6724650" y="5998369"/>
            <a:ext cx="4580632" cy="16311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9"/>
              </a:lnSpc>
              <a:buNone/>
            </a:pPr>
            <a:r>
              <a:rPr lang="en-US" sz="825" b="1" spc="50" kern="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 SUDHAAR KI ZAROORAT</a:t>
            </a:r>
            <a:pPr indent="0" marL="0">
              <a:buNone/>
            </a:pPr>
            <a:r>
              <a:rPr lang="en-US" sz="938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Brand ka apna Instagram identity strong karna hoga Mrunal ke personal ke alawa.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1080046"/>
            <a:ext cx="483483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750"/>
              </a:spcAft>
              <a:buNone/>
            </a:pPr>
            <a:r>
              <a:rPr lang="en-US" sz="825" b="1" spc="165" kern="0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 IDEA</a:t>
            </a:r>
            <a:endParaRPr lang="en-US" sz="825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1322933"/>
            <a:ext cx="4834830" cy="83998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8"/>
              </a:lnSpc>
              <a:spcAft>
                <a:spcPts val="1200"/>
              </a:spcAft>
              <a:buNone/>
            </a:pPr>
            <a:r>
              <a:rPr lang="en-US" sz="315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Strategy — #MruchaCircle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533400" y="2314575"/>
            <a:ext cx="4838700" cy="1066800"/>
          </a:xfrm>
          <a:prstGeom prst="roundRect">
            <a:avLst>
              <a:gd name="adj" fmla="val 17857"/>
            </a:avLst>
          </a:prstGeom>
          <a:solidFill>
            <a:srgbClr val="4A231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10983" y="2029569"/>
            <a:ext cx="1143000" cy="11430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2534394"/>
            <a:ext cx="437763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spc="113" kern="0" dirty="0">
                <a:solidFill>
                  <a:srgbClr val="FFFBF7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 HOOK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33400" y="3561011"/>
            <a:ext cx="483483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750"/>
              </a:spcAft>
              <a:buNone/>
            </a:pPr>
            <a:r>
              <a:rPr lang="en-US" sz="825" b="1" spc="99" kern="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PLATFORMS</a:t>
            </a:r>
            <a:endParaRPr lang="en-US" sz="825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3803898"/>
            <a:ext cx="4834830" cy="597694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" y="3950345"/>
            <a:ext cx="304800" cy="3048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95375" y="3937248"/>
            <a:ext cx="1590080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Instagram — Primary</a:t>
            </a:r>
            <a:endParaRPr lang="en-US" sz="975" dirty="0"/>
          </a:p>
        </p:txBody>
      </p:sp>
      <p:sp>
        <p:nvSpPr>
          <p:cNvPr id="11" name="Text 7"/>
          <p:cNvSpPr txBox="1"/>
          <p:nvPr/>
        </p:nvSpPr>
        <p:spPr>
          <a:xfrm>
            <a:off x="1095375" y="4122986"/>
            <a:ext cx="1590080" cy="15478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863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Reels, Stories, Carousels, UGC</a:t>
            </a:r>
            <a:endParaRPr lang="en-US" sz="863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496842"/>
            <a:ext cx="4834830" cy="597694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5" y="4643289"/>
            <a:ext cx="304800" cy="3048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95375" y="4630192"/>
            <a:ext cx="1476673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YouTube — Founder-led</a:t>
            </a:r>
            <a:endParaRPr lang="en-US" sz="975" dirty="0"/>
          </a:p>
        </p:txBody>
      </p:sp>
      <p:sp>
        <p:nvSpPr>
          <p:cNvPr id="15" name="Text 9"/>
          <p:cNvSpPr txBox="1"/>
          <p:nvPr/>
        </p:nvSpPr>
        <p:spPr>
          <a:xfrm>
            <a:off x="1095375" y="4815929"/>
            <a:ext cx="1476673" cy="15478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863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GRWM tutorials, shade story</a:t>
            </a:r>
            <a:endParaRPr lang="en-US" sz="863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5189786"/>
            <a:ext cx="4834830" cy="597694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275" y="5336232"/>
            <a:ext cx="304800" cy="30480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1095375" y="5323136"/>
            <a:ext cx="1832074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Reddit r/IndianMakeupAddicts</a:t>
            </a:r>
            <a:endParaRPr lang="en-US" sz="975" dirty="0"/>
          </a:p>
        </p:txBody>
      </p:sp>
      <p:sp>
        <p:nvSpPr>
          <p:cNvPr id="19" name="Text 11"/>
          <p:cNvSpPr txBox="1"/>
          <p:nvPr/>
        </p:nvSpPr>
        <p:spPr>
          <a:xfrm>
            <a:off x="1095375" y="5508873"/>
            <a:ext cx="1832074" cy="15478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863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Honest feedback loop</a:t>
            </a:r>
            <a:endParaRPr lang="en-US" sz="863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0630" y="765721"/>
            <a:ext cx="6366421" cy="5326559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6006405" y="1339602"/>
            <a:ext cx="3257401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A231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Content Buckets — Your Shade, Your Story</a:t>
            </a:r>
            <a:endParaRPr lang="en-US" sz="12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19073" y="1308646"/>
            <a:ext cx="482203" cy="252413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11014323" y="1365796"/>
            <a:ext cx="291703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MIX</a:t>
            </a:r>
            <a:endParaRPr lang="en-US" sz="825" dirty="0"/>
          </a:p>
        </p:txBody>
      </p:sp>
      <p:sp>
        <p:nvSpPr>
          <p:cNvPr id="24" name="Text 14"/>
          <p:cNvSpPr txBox="1"/>
          <p:nvPr/>
        </p:nvSpPr>
        <p:spPr>
          <a:xfrm>
            <a:off x="6158805" y="1722983"/>
            <a:ext cx="4594771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Educational</a:t>
            </a:r>
            <a:endParaRPr lang="en-US" sz="975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06405" y="1768227"/>
            <a:ext cx="76200" cy="76200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6010275" y="1771650"/>
            <a:ext cx="76200" cy="76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16"/>
          <p:cNvSpPr txBox="1"/>
          <p:nvPr/>
        </p:nvSpPr>
        <p:spPr>
          <a:xfrm>
            <a:off x="6006405" y="1927771"/>
            <a:ext cx="4747171" cy="15478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4"/>
              </a:lnSpc>
              <a:spcBef>
                <a:spcPts val="150"/>
              </a:spcBef>
              <a:buNone/>
            </a:pPr>
            <a:r>
              <a:rPr lang="en-US" sz="863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Ingredients, layering, tone-match</a:t>
            </a:r>
            <a:endParaRPr lang="en-US" sz="863" dirty="0"/>
          </a:p>
        </p:txBody>
      </p:sp>
      <p:sp>
        <p:nvSpPr>
          <p:cNvPr id="28" name="Shape 17"/>
          <p:cNvSpPr/>
          <p:nvPr/>
        </p:nvSpPr>
        <p:spPr>
          <a:xfrm>
            <a:off x="6010275" y="2124075"/>
            <a:ext cx="4743450" cy="57150"/>
          </a:xfrm>
          <a:prstGeom prst="roundRect">
            <a:avLst>
              <a:gd name="adj" fmla="val 1666667"/>
            </a:avLst>
          </a:prstGeom>
          <a:solidFill>
            <a:srgbClr val="F5E0D6"/>
          </a:solidFill>
          <a:ln/>
        </p:spPr>
      </p:sp>
      <p:sp>
        <p:nvSpPr>
          <p:cNvPr id="29" name="Shape 18"/>
          <p:cNvSpPr/>
          <p:nvPr/>
        </p:nvSpPr>
        <p:spPr>
          <a:xfrm>
            <a:off x="6010275" y="2124075"/>
            <a:ext cx="4743450" cy="57150"/>
          </a:xfrm>
          <a:prstGeom prst="roundRect">
            <a:avLst>
              <a:gd name="adj" fmla="val 1666667"/>
            </a:avLst>
          </a:prstGeom>
          <a:solidFill>
            <a:srgbClr val="4A2315"/>
          </a:solidFill>
          <a:ln/>
        </p:spPr>
      </p:sp>
      <p:sp>
        <p:nvSpPr>
          <p:cNvPr id="30" name="Text 19"/>
          <p:cNvSpPr txBox="1"/>
          <p:nvPr/>
        </p:nvSpPr>
        <p:spPr>
          <a:xfrm>
            <a:off x="10867876" y="1831330"/>
            <a:ext cx="533400" cy="2571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30%</a:t>
            </a:r>
            <a:endParaRPr lang="en-US" sz="1500" dirty="0"/>
          </a:p>
        </p:txBody>
      </p:sp>
      <p:sp>
        <p:nvSpPr>
          <p:cNvPr id="31" name="Text 20"/>
          <p:cNvSpPr txBox="1"/>
          <p:nvPr/>
        </p:nvSpPr>
        <p:spPr>
          <a:xfrm>
            <a:off x="6158805" y="2282577"/>
            <a:ext cx="4594771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Community</a:t>
            </a:r>
            <a:endParaRPr lang="en-US" sz="975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06405" y="2327821"/>
            <a:ext cx="76200" cy="76200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6010275" y="2324100"/>
            <a:ext cx="76200" cy="76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2"/>
          <p:cNvSpPr txBox="1"/>
          <p:nvPr/>
        </p:nvSpPr>
        <p:spPr>
          <a:xfrm>
            <a:off x="6006405" y="2487364"/>
            <a:ext cx="4747171" cy="15478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4"/>
              </a:lnSpc>
              <a:spcBef>
                <a:spcPts val="150"/>
              </a:spcBef>
              <a:buNone/>
            </a:pPr>
            <a:r>
              <a:rPr lang="en-US" sz="863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UGC, Mrucha Circle spotlights</a:t>
            </a:r>
            <a:endParaRPr lang="en-US" sz="863" dirty="0"/>
          </a:p>
        </p:txBody>
      </p:sp>
      <p:sp>
        <p:nvSpPr>
          <p:cNvPr id="35" name="Shape 23"/>
          <p:cNvSpPr/>
          <p:nvPr/>
        </p:nvSpPr>
        <p:spPr>
          <a:xfrm>
            <a:off x="6010275" y="2676525"/>
            <a:ext cx="4743450" cy="57150"/>
          </a:xfrm>
          <a:prstGeom prst="roundRect">
            <a:avLst>
              <a:gd name="adj" fmla="val 1666667"/>
            </a:avLst>
          </a:prstGeom>
          <a:solidFill>
            <a:srgbClr val="F5E0D6"/>
          </a:solidFill>
          <a:ln/>
        </p:spPr>
      </p:sp>
      <p:sp>
        <p:nvSpPr>
          <p:cNvPr id="36" name="Shape 24"/>
          <p:cNvSpPr/>
          <p:nvPr/>
        </p:nvSpPr>
        <p:spPr>
          <a:xfrm>
            <a:off x="6010275" y="2676525"/>
            <a:ext cx="3943350" cy="57150"/>
          </a:xfrm>
          <a:prstGeom prst="roundRect">
            <a:avLst>
              <a:gd name="adj" fmla="val 1666667"/>
            </a:avLst>
          </a:prstGeom>
          <a:solidFill>
            <a:srgbClr val="D1886B"/>
          </a:solidFill>
          <a:ln/>
        </p:spPr>
      </p:sp>
      <p:sp>
        <p:nvSpPr>
          <p:cNvPr id="37" name="Text 25"/>
          <p:cNvSpPr txBox="1"/>
          <p:nvPr/>
        </p:nvSpPr>
        <p:spPr>
          <a:xfrm>
            <a:off x="10867876" y="2390924"/>
            <a:ext cx="533400" cy="2571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25%</a:t>
            </a:r>
            <a:endParaRPr lang="en-US" sz="1500" dirty="0"/>
          </a:p>
        </p:txBody>
      </p:sp>
      <p:sp>
        <p:nvSpPr>
          <p:cNvPr id="38" name="Text 26"/>
          <p:cNvSpPr txBox="1"/>
          <p:nvPr/>
        </p:nvSpPr>
        <p:spPr>
          <a:xfrm>
            <a:off x="6158805" y="2842171"/>
            <a:ext cx="4594771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Entertainment</a:t>
            </a:r>
            <a:endParaRPr lang="en-US" sz="975" dirty="0"/>
          </a:p>
        </p:txBody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06405" y="2887414"/>
            <a:ext cx="76200" cy="76200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6010275" y="2886075"/>
            <a:ext cx="76200" cy="76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28"/>
          <p:cNvSpPr txBox="1"/>
          <p:nvPr/>
        </p:nvSpPr>
        <p:spPr>
          <a:xfrm>
            <a:off x="6006405" y="3046958"/>
            <a:ext cx="4747171" cy="15478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4"/>
              </a:lnSpc>
              <a:spcBef>
                <a:spcPts val="150"/>
              </a:spcBef>
              <a:buNone/>
            </a:pPr>
            <a:r>
              <a:rPr lang="en-US" sz="863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Trending reels, meme relatability</a:t>
            </a:r>
            <a:endParaRPr lang="en-US" sz="863" dirty="0"/>
          </a:p>
        </p:txBody>
      </p:sp>
      <p:sp>
        <p:nvSpPr>
          <p:cNvPr id="42" name="Shape 29"/>
          <p:cNvSpPr/>
          <p:nvPr/>
        </p:nvSpPr>
        <p:spPr>
          <a:xfrm>
            <a:off x="6010275" y="3238500"/>
            <a:ext cx="4743450" cy="57150"/>
          </a:xfrm>
          <a:prstGeom prst="roundRect">
            <a:avLst>
              <a:gd name="adj" fmla="val 1666667"/>
            </a:avLst>
          </a:prstGeom>
          <a:solidFill>
            <a:srgbClr val="F5E0D6"/>
          </a:solidFill>
          <a:ln/>
        </p:spPr>
      </p:sp>
      <p:sp>
        <p:nvSpPr>
          <p:cNvPr id="43" name="Shape 30"/>
          <p:cNvSpPr/>
          <p:nvPr/>
        </p:nvSpPr>
        <p:spPr>
          <a:xfrm>
            <a:off x="6010275" y="3238500"/>
            <a:ext cx="3133725" cy="57150"/>
          </a:xfrm>
          <a:prstGeom prst="roundRect">
            <a:avLst>
              <a:gd name="adj" fmla="val 1666667"/>
            </a:avLst>
          </a:prstGeom>
          <a:solidFill>
            <a:srgbClr val="E6B39E"/>
          </a:solidFill>
          <a:ln/>
        </p:spPr>
      </p:sp>
      <p:sp>
        <p:nvSpPr>
          <p:cNvPr id="44" name="Text 31"/>
          <p:cNvSpPr txBox="1"/>
          <p:nvPr/>
        </p:nvSpPr>
        <p:spPr>
          <a:xfrm>
            <a:off x="10867876" y="2950518"/>
            <a:ext cx="533400" cy="2571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20%</a:t>
            </a:r>
            <a:endParaRPr lang="en-US" sz="1500" dirty="0"/>
          </a:p>
        </p:txBody>
      </p:sp>
      <p:sp>
        <p:nvSpPr>
          <p:cNvPr id="45" name="Text 32"/>
          <p:cNvSpPr txBox="1"/>
          <p:nvPr/>
        </p:nvSpPr>
        <p:spPr>
          <a:xfrm>
            <a:off x="6158805" y="3401764"/>
            <a:ext cx="4594771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Product Edu</a:t>
            </a:r>
            <a:endParaRPr lang="en-US" sz="975" dirty="0"/>
          </a:p>
        </p:txBody>
      </p:sp>
      <p:pic>
        <p:nvPicPr>
          <p:cNvPr id="4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06405" y="3447008"/>
            <a:ext cx="76200" cy="76200"/>
          </a:xfrm>
          <a:prstGeom prst="rect">
            <a:avLst/>
          </a:prstGeom>
        </p:spPr>
      </p:pic>
      <p:sp>
        <p:nvSpPr>
          <p:cNvPr id="47" name="Text 33"/>
          <p:cNvSpPr txBox="1"/>
          <p:nvPr/>
        </p:nvSpPr>
        <p:spPr>
          <a:xfrm>
            <a:off x="6010275" y="3448050"/>
            <a:ext cx="76200" cy="76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34"/>
          <p:cNvSpPr txBox="1"/>
          <p:nvPr/>
        </p:nvSpPr>
        <p:spPr>
          <a:xfrm>
            <a:off x="6006405" y="3606552"/>
            <a:ext cx="4747171" cy="15478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4"/>
              </a:lnSpc>
              <a:spcBef>
                <a:spcPts val="150"/>
              </a:spcBef>
              <a:buNone/>
            </a:pPr>
            <a:r>
              <a:rPr lang="en-US" sz="863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Launches: Freckle Pen, Aura</a:t>
            </a:r>
            <a:endParaRPr lang="en-US" sz="863" dirty="0"/>
          </a:p>
        </p:txBody>
      </p:sp>
      <p:sp>
        <p:nvSpPr>
          <p:cNvPr id="49" name="Shape 35"/>
          <p:cNvSpPr/>
          <p:nvPr/>
        </p:nvSpPr>
        <p:spPr>
          <a:xfrm>
            <a:off x="6010275" y="3800475"/>
            <a:ext cx="4743450" cy="57150"/>
          </a:xfrm>
          <a:prstGeom prst="roundRect">
            <a:avLst>
              <a:gd name="adj" fmla="val 1666667"/>
            </a:avLst>
          </a:prstGeom>
          <a:solidFill>
            <a:srgbClr val="F5E0D6"/>
          </a:solidFill>
          <a:ln/>
        </p:spPr>
      </p:sp>
      <p:sp>
        <p:nvSpPr>
          <p:cNvPr id="50" name="Shape 36"/>
          <p:cNvSpPr/>
          <p:nvPr/>
        </p:nvSpPr>
        <p:spPr>
          <a:xfrm>
            <a:off x="6010275" y="3800475"/>
            <a:ext cx="2371725" cy="57150"/>
          </a:xfrm>
          <a:prstGeom prst="roundRect">
            <a:avLst>
              <a:gd name="adj" fmla="val 1666667"/>
            </a:avLst>
          </a:prstGeom>
          <a:solidFill>
            <a:srgbClr val="D6C0B6"/>
          </a:solidFill>
          <a:ln/>
        </p:spPr>
      </p:sp>
      <p:sp>
        <p:nvSpPr>
          <p:cNvPr id="51" name="Text 37"/>
          <p:cNvSpPr txBox="1"/>
          <p:nvPr/>
        </p:nvSpPr>
        <p:spPr>
          <a:xfrm>
            <a:off x="10867876" y="3510111"/>
            <a:ext cx="533400" cy="2571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endParaRPr lang="en-US" sz="1500" dirty="0"/>
          </a:p>
        </p:txBody>
      </p:sp>
      <p:sp>
        <p:nvSpPr>
          <p:cNvPr id="52" name="Text 38"/>
          <p:cNvSpPr txBox="1"/>
          <p:nvPr/>
        </p:nvSpPr>
        <p:spPr>
          <a:xfrm>
            <a:off x="6158805" y="3961358"/>
            <a:ext cx="4594771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BTS</a:t>
            </a:r>
            <a:endParaRPr lang="en-US" sz="975" dirty="0"/>
          </a:p>
        </p:txBody>
      </p:sp>
      <p:pic>
        <p:nvPicPr>
          <p:cNvPr id="5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06405" y="4006602"/>
            <a:ext cx="76200" cy="76200"/>
          </a:xfrm>
          <a:prstGeom prst="rect">
            <a:avLst/>
          </a:prstGeom>
        </p:spPr>
      </p:pic>
      <p:sp>
        <p:nvSpPr>
          <p:cNvPr id="54" name="Text 39"/>
          <p:cNvSpPr txBox="1"/>
          <p:nvPr/>
        </p:nvSpPr>
        <p:spPr>
          <a:xfrm>
            <a:off x="6010275" y="4010025"/>
            <a:ext cx="76200" cy="76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40"/>
          <p:cNvSpPr txBox="1"/>
          <p:nvPr/>
        </p:nvSpPr>
        <p:spPr>
          <a:xfrm>
            <a:off x="6006405" y="4166146"/>
            <a:ext cx="4747171" cy="15478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4"/>
              </a:lnSpc>
              <a:spcBef>
                <a:spcPts val="150"/>
              </a:spcBef>
              <a:buNone/>
            </a:pPr>
            <a:r>
              <a:rPr lang="en-US" sz="863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Mrunal journey, feedback→launch</a:t>
            </a:r>
            <a:endParaRPr lang="en-US" sz="863" dirty="0"/>
          </a:p>
        </p:txBody>
      </p:sp>
      <p:sp>
        <p:nvSpPr>
          <p:cNvPr id="56" name="Shape 41"/>
          <p:cNvSpPr/>
          <p:nvPr/>
        </p:nvSpPr>
        <p:spPr>
          <a:xfrm>
            <a:off x="6010275" y="4362450"/>
            <a:ext cx="4743450" cy="57150"/>
          </a:xfrm>
          <a:prstGeom prst="roundRect">
            <a:avLst>
              <a:gd name="adj" fmla="val 1666667"/>
            </a:avLst>
          </a:prstGeom>
          <a:solidFill>
            <a:srgbClr val="F5E0D6"/>
          </a:solidFill>
          <a:ln/>
        </p:spPr>
      </p:sp>
      <p:sp>
        <p:nvSpPr>
          <p:cNvPr id="57" name="Shape 42"/>
          <p:cNvSpPr/>
          <p:nvPr/>
        </p:nvSpPr>
        <p:spPr>
          <a:xfrm>
            <a:off x="6010275" y="4362450"/>
            <a:ext cx="1562100" cy="57150"/>
          </a:xfrm>
          <a:prstGeom prst="roundRect">
            <a:avLst>
              <a:gd name="adj" fmla="val 1666667"/>
            </a:avLst>
          </a:prstGeom>
          <a:solidFill>
            <a:srgbClr val="E8D9D1"/>
          </a:solidFill>
          <a:ln/>
        </p:spPr>
      </p:sp>
      <p:sp>
        <p:nvSpPr>
          <p:cNvPr id="58" name="Text 43"/>
          <p:cNvSpPr txBox="1"/>
          <p:nvPr/>
        </p:nvSpPr>
        <p:spPr>
          <a:xfrm>
            <a:off x="10867876" y="4069705"/>
            <a:ext cx="533400" cy="2571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</a:t>
            </a:r>
            <a:endParaRPr lang="en-US" sz="1500" dirty="0"/>
          </a:p>
        </p:txBody>
      </p:sp>
      <p:pic>
        <p:nvPicPr>
          <p:cNvPr id="5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06405" y="4587627"/>
            <a:ext cx="5394871" cy="419100"/>
          </a:xfrm>
          <a:prstGeom prst="rect">
            <a:avLst/>
          </a:prstGeom>
        </p:spPr>
      </p:pic>
      <p:pic>
        <p:nvPicPr>
          <p:cNvPr id="6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49280" y="4711452"/>
            <a:ext cx="171450" cy="171450"/>
          </a:xfrm>
          <a:prstGeom prst="rect">
            <a:avLst/>
          </a:prstGeom>
        </p:spPr>
      </p:pic>
      <p:sp>
        <p:nvSpPr>
          <p:cNvPr id="61" name="Text 44"/>
          <p:cNvSpPr txBox="1"/>
          <p:nvPr/>
        </p:nvSpPr>
        <p:spPr>
          <a:xfrm>
            <a:off x="6396930" y="4717107"/>
            <a:ext cx="3155305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Goal:</a:t>
            </a:r>
            <a:pPr indent="0" marL="0">
              <a:buNone/>
            </a:pPr>
            <a:r>
              <a:rPr lang="en-US" sz="900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Build brand equity beyond founder via UGC + Circle.</a:t>
            </a:r>
            <a:endParaRPr lang="en-US" sz="900" dirty="0"/>
          </a:p>
        </p:txBody>
      </p:sp>
      <p:sp>
        <p:nvSpPr>
          <p:cNvPr id="62" name="Text 45"/>
          <p:cNvSpPr txBox="1"/>
          <p:nvPr/>
        </p:nvSpPr>
        <p:spPr>
          <a:xfrm>
            <a:off x="762000" y="2734419"/>
            <a:ext cx="4377630" cy="43606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“Makeup that loves your skin back. Skincare-infused. Made for your tone. Built with you.”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150" y="276225"/>
            <a:ext cx="3928467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450"/>
              </a:spcAft>
              <a:buNone/>
            </a:pPr>
            <a:r>
              <a:rPr lang="en-US" sz="825" b="1" spc="165" kern="0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CALENDAR — 15 DIN KA PLAN</a:t>
            </a:r>
            <a:endParaRPr lang="en-US" sz="825" dirty="0"/>
          </a:p>
        </p:txBody>
      </p:sp>
      <p:sp>
        <p:nvSpPr>
          <p:cNvPr id="3" name="Text 1"/>
          <p:cNvSpPr txBox="1"/>
          <p:nvPr/>
        </p:nvSpPr>
        <p:spPr>
          <a:xfrm>
            <a:off x="438150" y="481012"/>
            <a:ext cx="3928467" cy="36001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70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Storytelling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3504" y="576709"/>
            <a:ext cx="860673" cy="26431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992939" y="643384"/>
            <a:ext cx="506462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IG Primary</a:t>
            </a:r>
            <a:endParaRPr lang="en-US" sz="788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8279" y="658862"/>
            <a:ext cx="87511" cy="100013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0377" y="576709"/>
            <a:ext cx="915591" cy="264319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9954816" y="643384"/>
            <a:ext cx="536377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YT / Reddit</a:t>
            </a:r>
            <a:endParaRPr lang="en-US" sz="788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5152" y="658862"/>
            <a:ext cx="112514" cy="100013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167" y="576709"/>
            <a:ext cx="1081683" cy="264319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10776942" y="643384"/>
            <a:ext cx="872133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Focus: UGC + Edu</a:t>
            </a:r>
            <a:endParaRPr lang="en-US" sz="788" dirty="0"/>
          </a:p>
        </p:txBody>
      </p:sp>
      <p:sp>
        <p:nvSpPr>
          <p:cNvPr id="12" name="Shape 5"/>
          <p:cNvSpPr/>
          <p:nvPr/>
        </p:nvSpPr>
        <p:spPr>
          <a:xfrm>
            <a:off x="438150" y="971550"/>
            <a:ext cx="2190750" cy="1619250"/>
          </a:xfrm>
          <a:prstGeom prst="roundRect">
            <a:avLst>
              <a:gd name="adj" fmla="val 8235"/>
            </a:avLst>
          </a:prstGeom>
          <a:solidFill>
            <a:srgbClr val="4A2315"/>
          </a:solidFill>
          <a:ln/>
          <a:effectLst>
            <a:outerShdw sx="100000" sy="100000" kx="0" ky="0" algn="bl" rotWithShape="0" blurRad="114300" dist="38100" dir="5400000">
              <a:srgbClr val="4A2315">
                <a:alpha val="4000"/>
              </a:srgbClr>
            </a:outerShdw>
          </a:effectLst>
        </p:spPr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25" y="1069628"/>
            <a:ext cx="509736" cy="200025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609600" y="1107728"/>
            <a:ext cx="376386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01</a:t>
            </a:r>
            <a:endParaRPr lang="en-US" sz="750" dirty="0"/>
          </a:p>
        </p:txBody>
      </p:sp>
      <p:sp>
        <p:nvSpPr>
          <p:cNvPr id="15" name="Text 7"/>
          <p:cNvSpPr txBox="1"/>
          <p:nvPr/>
        </p:nvSpPr>
        <p:spPr>
          <a:xfrm>
            <a:off x="688181" y="1561951"/>
            <a:ext cx="1839664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REEL • 30S</a:t>
            </a:r>
            <a:endParaRPr lang="en-US" sz="75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925" y="1576239"/>
            <a:ext cx="107156" cy="95250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542925" y="1959173"/>
            <a:ext cx="1984921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Lipstick skincare bhi hona chahiye</a:t>
            </a:r>
            <a:endParaRPr lang="en-US" sz="863" dirty="0"/>
          </a:p>
        </p:txBody>
      </p:sp>
      <p:sp>
        <p:nvSpPr>
          <p:cNvPr id="18" name="Text 9"/>
          <p:cNvSpPr txBox="1"/>
          <p:nvPr/>
        </p:nvSpPr>
        <p:spPr>
          <a:xfrm>
            <a:off x="542925" y="2370683"/>
            <a:ext cx="1984921" cy="12992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spcBef>
                <a:spcPts val="300"/>
              </a:spcBef>
              <a:buNone/>
            </a:pPr>
            <a:r>
              <a:rPr lang="en-US" sz="788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Peptides demo hook</a:t>
            </a:r>
            <a:endParaRPr lang="en-US" sz="788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04046" y="821978"/>
            <a:ext cx="2423220" cy="1926282"/>
          </a:xfrm>
          <a:prstGeom prst="rect">
            <a:avLst/>
          </a:prstGeom>
        </p:spPr>
      </p:pic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32646" y="1079153"/>
            <a:ext cx="528340" cy="200025"/>
          </a:xfrm>
          <a:prstGeom prst="rect">
            <a:avLst/>
          </a:prstGeom>
        </p:spPr>
      </p:pic>
      <p:sp>
        <p:nvSpPr>
          <p:cNvPr id="21" name="Text 10"/>
          <p:cNvSpPr txBox="1"/>
          <p:nvPr/>
        </p:nvSpPr>
        <p:spPr>
          <a:xfrm>
            <a:off x="2899321" y="1117253"/>
            <a:ext cx="39499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spc="60" kern="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02</a:t>
            </a:r>
            <a:endParaRPr lang="en-US" sz="750" dirty="0"/>
          </a:p>
        </p:txBody>
      </p:sp>
      <p:sp>
        <p:nvSpPr>
          <p:cNvPr id="22" name="Text 11"/>
          <p:cNvSpPr txBox="1"/>
          <p:nvPr/>
        </p:nvSpPr>
        <p:spPr>
          <a:xfrm>
            <a:off x="2954089" y="1565225"/>
            <a:ext cx="1844576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STORY POLL</a:t>
            </a:r>
            <a:endParaRPr lang="en-US" sz="750" dirty="0"/>
          </a:p>
        </p:txBody>
      </p:sp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32646" y="1579513"/>
            <a:ext cx="83344" cy="95250"/>
          </a:xfrm>
          <a:prstGeom prst="rect">
            <a:avLst/>
          </a:prstGeom>
        </p:spPr>
      </p:pic>
      <p:sp>
        <p:nvSpPr>
          <p:cNvPr id="24" name="Text 12"/>
          <p:cNvSpPr txBox="1"/>
          <p:nvPr/>
        </p:nvSpPr>
        <p:spPr>
          <a:xfrm>
            <a:off x="2832646" y="1955899"/>
            <a:ext cx="1966020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Brew vs Sparkling?</a:t>
            </a:r>
            <a:endParaRPr lang="en-US" sz="863" dirty="0"/>
          </a:p>
        </p:txBody>
      </p:sp>
      <p:sp>
        <p:nvSpPr>
          <p:cNvPr id="25" name="Text 13"/>
          <p:cNvSpPr txBox="1"/>
          <p:nvPr/>
        </p:nvSpPr>
        <p:spPr>
          <a:xfrm>
            <a:off x="2832646" y="2361158"/>
            <a:ext cx="1966020" cy="12992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spcBef>
                <a:spcPts val="300"/>
              </a:spcBef>
              <a:buNone/>
            </a:pPr>
            <a:r>
              <a:rPr lang="en-US" sz="788" dirty="0">
                <a:solidFill>
                  <a:srgbClr val="2B1E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Shade vibe poll</a:t>
            </a:r>
            <a:endParaRPr lang="en-US" sz="788" dirty="0"/>
          </a:p>
        </p:txBody>
      </p:sp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84390" y="821978"/>
            <a:ext cx="2423071" cy="1926282"/>
          </a:xfrm>
          <a:prstGeom prst="rect">
            <a:avLst/>
          </a:prstGeom>
        </p:spPr>
      </p:pic>
      <p:pic>
        <p:nvPicPr>
          <p:cNvPr id="2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12990" y="1079153"/>
            <a:ext cx="530126" cy="200025"/>
          </a:xfrm>
          <a:prstGeom prst="rect">
            <a:avLst/>
          </a:prstGeom>
        </p:spPr>
      </p:pic>
      <p:sp>
        <p:nvSpPr>
          <p:cNvPr id="28" name="Text 14"/>
          <p:cNvSpPr txBox="1"/>
          <p:nvPr/>
        </p:nvSpPr>
        <p:spPr>
          <a:xfrm>
            <a:off x="5179665" y="1117253"/>
            <a:ext cx="396776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spc="60" kern="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03</a:t>
            </a:r>
            <a:endParaRPr lang="en-US" sz="750" dirty="0"/>
          </a:p>
        </p:txBody>
      </p:sp>
      <p:sp>
        <p:nvSpPr>
          <p:cNvPr id="29" name="Text 15"/>
          <p:cNvSpPr txBox="1"/>
          <p:nvPr/>
        </p:nvSpPr>
        <p:spPr>
          <a:xfrm>
            <a:off x="5258246" y="1565225"/>
            <a:ext cx="1820614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CAROUSEL</a:t>
            </a:r>
            <a:endParaRPr lang="en-US" sz="750" dirty="0"/>
          </a:p>
        </p:txBody>
      </p:sp>
      <p:pic>
        <p:nvPicPr>
          <p:cNvPr id="3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12990" y="1579513"/>
            <a:ext cx="107156" cy="95250"/>
          </a:xfrm>
          <a:prstGeom prst="rect">
            <a:avLst/>
          </a:prstGeom>
        </p:spPr>
      </p:pic>
      <p:sp>
        <p:nvSpPr>
          <p:cNvPr id="31" name="Text 16"/>
          <p:cNvSpPr txBox="1"/>
          <p:nvPr/>
        </p:nvSpPr>
        <p:spPr>
          <a:xfrm>
            <a:off x="5112990" y="1955899"/>
            <a:ext cx="1965871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ingredients in lip</a:t>
            </a:r>
            <a:endParaRPr lang="en-US" sz="863" dirty="0"/>
          </a:p>
        </p:txBody>
      </p:sp>
      <p:sp>
        <p:nvSpPr>
          <p:cNvPr id="32" name="Text 17"/>
          <p:cNvSpPr txBox="1"/>
          <p:nvPr/>
        </p:nvSpPr>
        <p:spPr>
          <a:xfrm>
            <a:off x="5112990" y="2361158"/>
            <a:ext cx="1965871" cy="12992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spcBef>
                <a:spcPts val="300"/>
              </a:spcBef>
              <a:buNone/>
            </a:pPr>
            <a:r>
              <a:rPr lang="en-US" sz="788" dirty="0">
                <a:solidFill>
                  <a:srgbClr val="2B1E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 breakdown</a:t>
            </a:r>
            <a:endParaRPr lang="en-US" sz="788" dirty="0"/>
          </a:p>
        </p:txBody>
      </p:sp>
      <p:pic>
        <p:nvPicPr>
          <p:cNvPr id="3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64586" y="821978"/>
            <a:ext cx="2423220" cy="1926282"/>
          </a:xfrm>
          <a:prstGeom prst="rect">
            <a:avLst/>
          </a:prstGeom>
        </p:spPr>
      </p:pic>
      <p:pic>
        <p:nvPicPr>
          <p:cNvPr id="3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93186" y="1079153"/>
            <a:ext cx="533251" cy="200025"/>
          </a:xfrm>
          <a:prstGeom prst="rect">
            <a:avLst/>
          </a:prstGeom>
        </p:spPr>
      </p:pic>
      <p:sp>
        <p:nvSpPr>
          <p:cNvPr id="35" name="Text 18"/>
          <p:cNvSpPr txBox="1"/>
          <p:nvPr/>
        </p:nvSpPr>
        <p:spPr>
          <a:xfrm>
            <a:off x="7459861" y="1117253"/>
            <a:ext cx="39990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spc="60" kern="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04</a:t>
            </a:r>
            <a:endParaRPr lang="en-US" sz="750" dirty="0"/>
          </a:p>
        </p:txBody>
      </p:sp>
      <p:sp>
        <p:nvSpPr>
          <p:cNvPr id="36" name="Text 19"/>
          <p:cNvSpPr txBox="1"/>
          <p:nvPr/>
        </p:nvSpPr>
        <p:spPr>
          <a:xfrm>
            <a:off x="7550348" y="1565225"/>
            <a:ext cx="1808857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REEL UGC</a:t>
            </a:r>
            <a:endParaRPr lang="en-US" sz="750" dirty="0"/>
          </a:p>
        </p:txBody>
      </p:sp>
      <p:pic>
        <p:nvPicPr>
          <p:cNvPr id="3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93186" y="1579513"/>
            <a:ext cx="119063" cy="95250"/>
          </a:xfrm>
          <a:prstGeom prst="rect">
            <a:avLst/>
          </a:prstGeom>
        </p:spPr>
      </p:pic>
      <p:sp>
        <p:nvSpPr>
          <p:cNvPr id="38" name="Text 20"/>
          <p:cNvSpPr txBox="1"/>
          <p:nvPr/>
        </p:nvSpPr>
        <p:spPr>
          <a:xfrm>
            <a:off x="7393186" y="1955899"/>
            <a:ext cx="1966020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Mrucha Circle speaks</a:t>
            </a:r>
            <a:endParaRPr lang="en-US" sz="863" dirty="0"/>
          </a:p>
        </p:txBody>
      </p:sp>
      <p:sp>
        <p:nvSpPr>
          <p:cNvPr id="39" name="Text 21"/>
          <p:cNvSpPr txBox="1"/>
          <p:nvPr/>
        </p:nvSpPr>
        <p:spPr>
          <a:xfrm>
            <a:off x="7393186" y="2361158"/>
            <a:ext cx="1966020" cy="12992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spcBef>
                <a:spcPts val="300"/>
              </a:spcBef>
              <a:buNone/>
            </a:pPr>
            <a:r>
              <a:rPr lang="en-US" sz="788" dirty="0">
                <a:solidFill>
                  <a:srgbClr val="2B1E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Reviews comp</a:t>
            </a:r>
            <a:endParaRPr lang="en-US" sz="788" dirty="0"/>
          </a:p>
        </p:txBody>
      </p:sp>
      <p:pic>
        <p:nvPicPr>
          <p:cNvPr id="4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44930" y="821978"/>
            <a:ext cx="2423071" cy="1926282"/>
          </a:xfrm>
          <a:prstGeom prst="rect">
            <a:avLst/>
          </a:prstGeom>
        </p:spPr>
      </p:pic>
      <p:pic>
        <p:nvPicPr>
          <p:cNvPr id="41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673530" y="1079153"/>
            <a:ext cx="528042" cy="200025"/>
          </a:xfrm>
          <a:prstGeom prst="rect">
            <a:avLst/>
          </a:prstGeom>
        </p:spPr>
      </p:pic>
      <p:sp>
        <p:nvSpPr>
          <p:cNvPr id="42" name="Text 22"/>
          <p:cNvSpPr txBox="1"/>
          <p:nvPr/>
        </p:nvSpPr>
        <p:spPr>
          <a:xfrm>
            <a:off x="9740205" y="1117253"/>
            <a:ext cx="394692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spc="60" kern="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05</a:t>
            </a:r>
            <a:endParaRPr lang="en-US" sz="750" dirty="0"/>
          </a:p>
        </p:txBody>
      </p:sp>
      <p:sp>
        <p:nvSpPr>
          <p:cNvPr id="43" name="Text 23"/>
          <p:cNvSpPr txBox="1"/>
          <p:nvPr/>
        </p:nvSpPr>
        <p:spPr>
          <a:xfrm>
            <a:off x="9818787" y="1565225"/>
            <a:ext cx="1820614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YT SHORT</a:t>
            </a:r>
            <a:endParaRPr lang="en-US" sz="750" dirty="0"/>
          </a:p>
        </p:txBody>
      </p:sp>
      <p:pic>
        <p:nvPicPr>
          <p:cNvPr id="44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673530" y="1579513"/>
            <a:ext cx="107156" cy="95250"/>
          </a:xfrm>
          <a:prstGeom prst="rect">
            <a:avLst/>
          </a:prstGeom>
        </p:spPr>
      </p:pic>
      <p:sp>
        <p:nvSpPr>
          <p:cNvPr id="45" name="Text 24"/>
          <p:cNvSpPr txBox="1"/>
          <p:nvPr/>
        </p:nvSpPr>
        <p:spPr>
          <a:xfrm>
            <a:off x="9673530" y="1955899"/>
            <a:ext cx="1965871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se shade</a:t>
            </a:r>
            <a:endParaRPr lang="en-US" sz="863" dirty="0"/>
          </a:p>
        </p:txBody>
      </p:sp>
      <p:sp>
        <p:nvSpPr>
          <p:cNvPr id="46" name="Text 25"/>
          <p:cNvSpPr txBox="1"/>
          <p:nvPr/>
        </p:nvSpPr>
        <p:spPr>
          <a:xfrm>
            <a:off x="9673530" y="2361158"/>
            <a:ext cx="1965871" cy="12992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spcBef>
                <a:spcPts val="300"/>
              </a:spcBef>
              <a:buNone/>
            </a:pPr>
            <a:r>
              <a:rPr lang="en-US" sz="788" dirty="0">
                <a:solidFill>
                  <a:srgbClr val="2B1E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Mrunal story</a:t>
            </a:r>
            <a:endParaRPr lang="en-US" sz="788" dirty="0"/>
          </a:p>
        </p:txBody>
      </p:sp>
      <p:pic>
        <p:nvPicPr>
          <p:cNvPr id="47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23850" y="2529185"/>
            <a:ext cx="2423071" cy="1926282"/>
          </a:xfrm>
          <a:prstGeom prst="rect">
            <a:avLst/>
          </a:prstGeom>
        </p:spPr>
      </p:pic>
      <p:pic>
        <p:nvPicPr>
          <p:cNvPr id="48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52450" y="2786360"/>
            <a:ext cx="530572" cy="200025"/>
          </a:xfrm>
          <a:prstGeom prst="rect">
            <a:avLst/>
          </a:prstGeom>
        </p:spPr>
      </p:pic>
      <p:sp>
        <p:nvSpPr>
          <p:cNvPr id="49" name="Text 26"/>
          <p:cNvSpPr txBox="1"/>
          <p:nvPr/>
        </p:nvSpPr>
        <p:spPr>
          <a:xfrm>
            <a:off x="619125" y="2824460"/>
            <a:ext cx="397222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spc="60" kern="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06</a:t>
            </a:r>
            <a:endParaRPr lang="en-US" sz="750" dirty="0"/>
          </a:p>
        </p:txBody>
      </p:sp>
      <p:sp>
        <p:nvSpPr>
          <p:cNvPr id="50" name="Text 27"/>
          <p:cNvSpPr txBox="1"/>
          <p:nvPr/>
        </p:nvSpPr>
        <p:spPr>
          <a:xfrm>
            <a:off x="697706" y="3272433"/>
            <a:ext cx="1820614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REEL GRWM</a:t>
            </a:r>
            <a:endParaRPr lang="en-US" sz="750" dirty="0"/>
          </a:p>
        </p:txBody>
      </p:sp>
      <p:pic>
        <p:nvPicPr>
          <p:cNvPr id="51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52450" y="3286720"/>
            <a:ext cx="107156" cy="95250"/>
          </a:xfrm>
          <a:prstGeom prst="rect">
            <a:avLst/>
          </a:prstGeom>
        </p:spPr>
      </p:pic>
      <p:sp>
        <p:nvSpPr>
          <p:cNvPr id="52" name="Text 28"/>
          <p:cNvSpPr txBox="1"/>
          <p:nvPr/>
        </p:nvSpPr>
        <p:spPr>
          <a:xfrm>
            <a:off x="552450" y="3663107"/>
            <a:ext cx="1965871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Trending audio GRWM</a:t>
            </a:r>
            <a:endParaRPr lang="en-US" sz="863" dirty="0"/>
          </a:p>
        </p:txBody>
      </p:sp>
      <p:sp>
        <p:nvSpPr>
          <p:cNvPr id="53" name="Text 29"/>
          <p:cNvSpPr txBox="1"/>
          <p:nvPr/>
        </p:nvSpPr>
        <p:spPr>
          <a:xfrm>
            <a:off x="552450" y="4068366"/>
            <a:ext cx="1965871" cy="12992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spcBef>
                <a:spcPts val="300"/>
              </a:spcBef>
              <a:buNone/>
            </a:pPr>
            <a:r>
              <a:rPr lang="en-US" sz="788" dirty="0">
                <a:solidFill>
                  <a:srgbClr val="2B1E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place</a:t>
            </a:r>
            <a:endParaRPr lang="en-US" sz="788" dirty="0"/>
          </a:p>
        </p:txBody>
      </p:sp>
      <p:pic>
        <p:nvPicPr>
          <p:cNvPr id="5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604046" y="2529185"/>
            <a:ext cx="2423220" cy="1926282"/>
          </a:xfrm>
          <a:prstGeom prst="rect">
            <a:avLst/>
          </a:prstGeom>
        </p:spPr>
      </p:pic>
      <p:pic>
        <p:nvPicPr>
          <p:cNvPr id="5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832646" y="2786360"/>
            <a:ext cx="521791" cy="200025"/>
          </a:xfrm>
          <a:prstGeom prst="rect">
            <a:avLst/>
          </a:prstGeom>
        </p:spPr>
      </p:pic>
      <p:sp>
        <p:nvSpPr>
          <p:cNvPr id="56" name="Text 30"/>
          <p:cNvSpPr txBox="1"/>
          <p:nvPr/>
        </p:nvSpPr>
        <p:spPr>
          <a:xfrm>
            <a:off x="2899321" y="2824460"/>
            <a:ext cx="38844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spc="60" kern="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07</a:t>
            </a:r>
            <a:endParaRPr lang="en-US" sz="750" dirty="0"/>
          </a:p>
        </p:txBody>
      </p:sp>
      <p:sp>
        <p:nvSpPr>
          <p:cNvPr id="57" name="Text 31"/>
          <p:cNvSpPr txBox="1"/>
          <p:nvPr/>
        </p:nvSpPr>
        <p:spPr>
          <a:xfrm>
            <a:off x="2965996" y="3272433"/>
            <a:ext cx="183267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CAROUSEL</a:t>
            </a:r>
            <a:endParaRPr lang="en-US" sz="750" dirty="0"/>
          </a:p>
        </p:txBody>
      </p:sp>
      <p:pic>
        <p:nvPicPr>
          <p:cNvPr id="58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832646" y="3286720"/>
            <a:ext cx="95250" cy="95250"/>
          </a:xfrm>
          <a:prstGeom prst="rect">
            <a:avLst/>
          </a:prstGeom>
        </p:spPr>
      </p:pic>
      <p:sp>
        <p:nvSpPr>
          <p:cNvPr id="59" name="Text 32"/>
          <p:cNvSpPr txBox="1"/>
          <p:nvPr/>
        </p:nvSpPr>
        <p:spPr>
          <a:xfrm>
            <a:off x="2832646" y="3663107"/>
            <a:ext cx="1966020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Aura Palette 3 looks</a:t>
            </a:r>
            <a:endParaRPr lang="en-US" sz="863" dirty="0"/>
          </a:p>
        </p:txBody>
      </p:sp>
      <p:sp>
        <p:nvSpPr>
          <p:cNvPr id="60" name="Text 33"/>
          <p:cNvSpPr txBox="1"/>
          <p:nvPr/>
        </p:nvSpPr>
        <p:spPr>
          <a:xfrm>
            <a:off x="2832646" y="4068366"/>
            <a:ext cx="1966020" cy="12992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spcBef>
                <a:spcPts val="300"/>
              </a:spcBef>
              <a:buNone/>
            </a:pPr>
            <a:r>
              <a:rPr lang="en-US" sz="788" dirty="0">
                <a:solidFill>
                  <a:srgbClr val="2B1E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to night</a:t>
            </a:r>
            <a:endParaRPr lang="en-US" sz="788" dirty="0"/>
          </a:p>
        </p:txBody>
      </p:sp>
      <p:pic>
        <p:nvPicPr>
          <p:cNvPr id="61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884390" y="2529185"/>
            <a:ext cx="2423071" cy="1926282"/>
          </a:xfrm>
          <a:prstGeom prst="rect">
            <a:avLst/>
          </a:prstGeom>
        </p:spPr>
      </p:pic>
      <p:pic>
        <p:nvPicPr>
          <p:cNvPr id="62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112990" y="2786360"/>
            <a:ext cx="530870" cy="200025"/>
          </a:xfrm>
          <a:prstGeom prst="rect">
            <a:avLst/>
          </a:prstGeom>
        </p:spPr>
      </p:pic>
      <p:sp>
        <p:nvSpPr>
          <p:cNvPr id="63" name="Text 34"/>
          <p:cNvSpPr txBox="1"/>
          <p:nvPr/>
        </p:nvSpPr>
        <p:spPr>
          <a:xfrm>
            <a:off x="5179665" y="2824460"/>
            <a:ext cx="39752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spc="60" kern="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08</a:t>
            </a:r>
            <a:endParaRPr lang="en-US" sz="750" dirty="0"/>
          </a:p>
        </p:txBody>
      </p:sp>
      <p:sp>
        <p:nvSpPr>
          <p:cNvPr id="64" name="Text 35"/>
          <p:cNvSpPr txBox="1"/>
          <p:nvPr/>
        </p:nvSpPr>
        <p:spPr>
          <a:xfrm>
            <a:off x="5270153" y="3272433"/>
            <a:ext cx="1808708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STORY Q&amp;A</a:t>
            </a:r>
            <a:endParaRPr lang="en-US" sz="750" dirty="0"/>
          </a:p>
        </p:txBody>
      </p:sp>
      <p:pic>
        <p:nvPicPr>
          <p:cNvPr id="65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112990" y="3286720"/>
            <a:ext cx="119063" cy="95250"/>
          </a:xfrm>
          <a:prstGeom prst="rect">
            <a:avLst/>
          </a:prstGeom>
        </p:spPr>
      </p:pic>
      <p:sp>
        <p:nvSpPr>
          <p:cNvPr id="66" name="Text 36"/>
          <p:cNvSpPr txBox="1"/>
          <p:nvPr/>
        </p:nvSpPr>
        <p:spPr>
          <a:xfrm>
            <a:off x="5112990" y="3663107"/>
            <a:ext cx="1965871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Mrunu anything</a:t>
            </a:r>
            <a:endParaRPr lang="en-US" sz="863" dirty="0"/>
          </a:p>
        </p:txBody>
      </p:sp>
      <p:sp>
        <p:nvSpPr>
          <p:cNvPr id="67" name="Text 37"/>
          <p:cNvSpPr txBox="1"/>
          <p:nvPr/>
        </p:nvSpPr>
        <p:spPr>
          <a:xfrm>
            <a:off x="5112990" y="4068366"/>
            <a:ext cx="1965871" cy="12992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spcBef>
                <a:spcPts val="300"/>
              </a:spcBef>
              <a:buNone/>
            </a:pPr>
            <a:r>
              <a:rPr lang="en-US" sz="788" dirty="0">
                <a:solidFill>
                  <a:srgbClr val="2B1E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Skincare-makeup</a:t>
            </a:r>
            <a:endParaRPr lang="en-US" sz="788" dirty="0"/>
          </a:p>
        </p:txBody>
      </p:sp>
      <p:pic>
        <p:nvPicPr>
          <p:cNvPr id="68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164586" y="2529185"/>
            <a:ext cx="2423220" cy="1926282"/>
          </a:xfrm>
          <a:prstGeom prst="rect">
            <a:avLst/>
          </a:prstGeom>
        </p:spPr>
      </p:pic>
      <p:pic>
        <p:nvPicPr>
          <p:cNvPr id="69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393186" y="2786360"/>
            <a:ext cx="530572" cy="200025"/>
          </a:xfrm>
          <a:prstGeom prst="rect">
            <a:avLst/>
          </a:prstGeom>
        </p:spPr>
      </p:pic>
      <p:sp>
        <p:nvSpPr>
          <p:cNvPr id="70" name="Text 38"/>
          <p:cNvSpPr txBox="1"/>
          <p:nvPr/>
        </p:nvSpPr>
        <p:spPr>
          <a:xfrm>
            <a:off x="7459861" y="2824460"/>
            <a:ext cx="397222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spc="60" kern="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09</a:t>
            </a:r>
            <a:endParaRPr lang="en-US" sz="750" dirty="0"/>
          </a:p>
        </p:txBody>
      </p:sp>
      <p:sp>
        <p:nvSpPr>
          <p:cNvPr id="71" name="Text 39"/>
          <p:cNvSpPr txBox="1"/>
          <p:nvPr/>
        </p:nvSpPr>
        <p:spPr>
          <a:xfrm>
            <a:off x="7526536" y="3272433"/>
            <a:ext cx="183267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REEL B/A</a:t>
            </a:r>
            <a:endParaRPr lang="en-US" sz="750" dirty="0"/>
          </a:p>
        </p:txBody>
      </p:sp>
      <p:pic>
        <p:nvPicPr>
          <p:cNvPr id="72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393186" y="3286720"/>
            <a:ext cx="95250" cy="95250"/>
          </a:xfrm>
          <a:prstGeom prst="rect">
            <a:avLst/>
          </a:prstGeom>
        </p:spPr>
      </p:pic>
      <p:sp>
        <p:nvSpPr>
          <p:cNvPr id="73" name="Text 40"/>
          <p:cNvSpPr txBox="1"/>
          <p:nvPr/>
        </p:nvSpPr>
        <p:spPr>
          <a:xfrm>
            <a:off x="7393186" y="3663107"/>
            <a:ext cx="1966020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Before/After lips</a:t>
            </a:r>
            <a:endParaRPr lang="en-US" sz="863" dirty="0"/>
          </a:p>
        </p:txBody>
      </p:sp>
      <p:sp>
        <p:nvSpPr>
          <p:cNvPr id="74" name="Text 41"/>
          <p:cNvSpPr txBox="1"/>
          <p:nvPr/>
        </p:nvSpPr>
        <p:spPr>
          <a:xfrm>
            <a:off x="7393186" y="4068366"/>
            <a:ext cx="1966020" cy="12992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spcBef>
                <a:spcPts val="300"/>
              </a:spcBef>
              <a:buNone/>
            </a:pPr>
            <a:r>
              <a:rPr lang="en-US" sz="788" dirty="0">
                <a:solidFill>
                  <a:srgbClr val="2B1E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Melts transform</a:t>
            </a:r>
            <a:endParaRPr lang="en-US" sz="788" dirty="0"/>
          </a:p>
        </p:txBody>
      </p:sp>
      <p:pic>
        <p:nvPicPr>
          <p:cNvPr id="75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444930" y="2529185"/>
            <a:ext cx="2423071" cy="1926282"/>
          </a:xfrm>
          <a:prstGeom prst="rect">
            <a:avLst/>
          </a:prstGeom>
        </p:spPr>
      </p:pic>
      <p:pic>
        <p:nvPicPr>
          <p:cNvPr id="76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673530" y="2786360"/>
            <a:ext cx="509736" cy="200025"/>
          </a:xfrm>
          <a:prstGeom prst="rect">
            <a:avLst/>
          </a:prstGeom>
        </p:spPr>
      </p:pic>
      <p:sp>
        <p:nvSpPr>
          <p:cNvPr id="77" name="Text 42"/>
          <p:cNvSpPr txBox="1"/>
          <p:nvPr/>
        </p:nvSpPr>
        <p:spPr>
          <a:xfrm>
            <a:off x="9740205" y="2824460"/>
            <a:ext cx="376386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spc="60" kern="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10</a:t>
            </a:r>
            <a:endParaRPr lang="en-US" sz="750" dirty="0"/>
          </a:p>
        </p:txBody>
      </p:sp>
      <p:sp>
        <p:nvSpPr>
          <p:cNvPr id="78" name="Text 43"/>
          <p:cNvSpPr txBox="1"/>
          <p:nvPr/>
        </p:nvSpPr>
        <p:spPr>
          <a:xfrm>
            <a:off x="9806880" y="3272433"/>
            <a:ext cx="183252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REDDIT</a:t>
            </a:r>
            <a:endParaRPr lang="en-US" sz="750" dirty="0"/>
          </a:p>
        </p:txBody>
      </p:sp>
      <p:pic>
        <p:nvPicPr>
          <p:cNvPr id="79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673530" y="3286720"/>
            <a:ext cx="95250" cy="95250"/>
          </a:xfrm>
          <a:prstGeom prst="rect">
            <a:avLst/>
          </a:prstGeom>
        </p:spPr>
      </p:pic>
      <p:sp>
        <p:nvSpPr>
          <p:cNvPr id="80" name="Text 44"/>
          <p:cNvSpPr txBox="1"/>
          <p:nvPr/>
        </p:nvSpPr>
        <p:spPr>
          <a:xfrm>
            <a:off x="9673530" y="3663107"/>
            <a:ext cx="1965871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suna, badla</a:t>
            </a:r>
            <a:endParaRPr lang="en-US" sz="863" dirty="0"/>
          </a:p>
        </p:txBody>
      </p:sp>
      <p:sp>
        <p:nvSpPr>
          <p:cNvPr id="81" name="Text 45"/>
          <p:cNvSpPr txBox="1"/>
          <p:nvPr/>
        </p:nvSpPr>
        <p:spPr>
          <a:xfrm>
            <a:off x="9673530" y="4068366"/>
            <a:ext cx="1965871" cy="12992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spcBef>
                <a:spcPts val="300"/>
              </a:spcBef>
              <a:buNone/>
            </a:pPr>
            <a:r>
              <a:rPr lang="en-US" sz="788" dirty="0">
                <a:solidFill>
                  <a:srgbClr val="2B1E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Transparency</a:t>
            </a:r>
            <a:endParaRPr lang="en-US" sz="788" dirty="0"/>
          </a:p>
        </p:txBody>
      </p:sp>
      <p:pic>
        <p:nvPicPr>
          <p:cNvPr id="82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23850" y="4236393"/>
            <a:ext cx="2423071" cy="1926282"/>
          </a:xfrm>
          <a:prstGeom prst="rect">
            <a:avLst/>
          </a:prstGeom>
        </p:spPr>
      </p:pic>
      <p:pic>
        <p:nvPicPr>
          <p:cNvPr id="83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52450" y="4493568"/>
            <a:ext cx="485775" cy="200025"/>
          </a:xfrm>
          <a:prstGeom prst="rect">
            <a:avLst/>
          </a:prstGeom>
        </p:spPr>
      </p:pic>
      <p:sp>
        <p:nvSpPr>
          <p:cNvPr id="84" name="Text 46"/>
          <p:cNvSpPr txBox="1"/>
          <p:nvPr/>
        </p:nvSpPr>
        <p:spPr>
          <a:xfrm>
            <a:off x="619125" y="4531668"/>
            <a:ext cx="352425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spc="60" kern="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11</a:t>
            </a:r>
            <a:endParaRPr lang="en-US" sz="750" dirty="0"/>
          </a:p>
        </p:txBody>
      </p:sp>
      <p:sp>
        <p:nvSpPr>
          <p:cNvPr id="85" name="Text 47"/>
          <p:cNvSpPr txBox="1"/>
          <p:nvPr/>
        </p:nvSpPr>
        <p:spPr>
          <a:xfrm>
            <a:off x="685800" y="4979640"/>
            <a:ext cx="183252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CAROUSEL</a:t>
            </a:r>
            <a:endParaRPr lang="en-US" sz="750" dirty="0"/>
          </a:p>
        </p:txBody>
      </p:sp>
      <p:pic>
        <p:nvPicPr>
          <p:cNvPr id="86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52450" y="4993928"/>
            <a:ext cx="95250" cy="95250"/>
          </a:xfrm>
          <a:prstGeom prst="rect">
            <a:avLst/>
          </a:prstGeom>
        </p:spPr>
      </p:pic>
      <p:sp>
        <p:nvSpPr>
          <p:cNvPr id="87" name="Text 48"/>
          <p:cNvSpPr txBox="1"/>
          <p:nvPr/>
        </p:nvSpPr>
        <p:spPr>
          <a:xfrm>
            <a:off x="552450" y="5370314"/>
            <a:ext cx="1965871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Faces of Mrucha Circle</a:t>
            </a:r>
            <a:endParaRPr lang="en-US" sz="863" dirty="0"/>
          </a:p>
        </p:txBody>
      </p:sp>
      <p:sp>
        <p:nvSpPr>
          <p:cNvPr id="88" name="Text 49"/>
          <p:cNvSpPr txBox="1"/>
          <p:nvPr/>
        </p:nvSpPr>
        <p:spPr>
          <a:xfrm>
            <a:off x="552450" y="5775573"/>
            <a:ext cx="1965871" cy="12992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spcBef>
                <a:spcPts val="300"/>
              </a:spcBef>
              <a:buNone/>
            </a:pPr>
            <a:r>
              <a:rPr lang="en-US" sz="788" dirty="0">
                <a:solidFill>
                  <a:srgbClr val="2B1E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Member spotlight</a:t>
            </a:r>
            <a:endParaRPr lang="en-US" sz="788" dirty="0"/>
          </a:p>
        </p:txBody>
      </p:sp>
      <p:pic>
        <p:nvPicPr>
          <p:cNvPr id="89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2604046" y="4236393"/>
            <a:ext cx="2423220" cy="1926282"/>
          </a:xfrm>
          <a:prstGeom prst="rect">
            <a:avLst/>
          </a:prstGeom>
        </p:spPr>
      </p:pic>
      <p:pic>
        <p:nvPicPr>
          <p:cNvPr id="90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2832646" y="4493568"/>
            <a:ext cx="504527" cy="200025"/>
          </a:xfrm>
          <a:prstGeom prst="rect">
            <a:avLst/>
          </a:prstGeom>
        </p:spPr>
      </p:pic>
      <p:sp>
        <p:nvSpPr>
          <p:cNvPr id="91" name="Text 50"/>
          <p:cNvSpPr txBox="1"/>
          <p:nvPr/>
        </p:nvSpPr>
        <p:spPr>
          <a:xfrm>
            <a:off x="2899321" y="4531668"/>
            <a:ext cx="371177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spc="60" kern="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12</a:t>
            </a:r>
            <a:endParaRPr lang="en-US" sz="750" dirty="0"/>
          </a:p>
        </p:txBody>
      </p:sp>
      <p:sp>
        <p:nvSpPr>
          <p:cNvPr id="92" name="Text 51"/>
          <p:cNvSpPr txBox="1"/>
          <p:nvPr/>
        </p:nvSpPr>
        <p:spPr>
          <a:xfrm>
            <a:off x="2977902" y="4979640"/>
            <a:ext cx="1820763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REEL BTS</a:t>
            </a:r>
            <a:endParaRPr lang="en-US" sz="750" dirty="0"/>
          </a:p>
        </p:txBody>
      </p:sp>
      <p:pic>
        <p:nvPicPr>
          <p:cNvPr id="93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832646" y="4993928"/>
            <a:ext cx="107156" cy="95250"/>
          </a:xfrm>
          <a:prstGeom prst="rect">
            <a:avLst/>
          </a:prstGeom>
        </p:spPr>
      </p:pic>
      <p:sp>
        <p:nvSpPr>
          <p:cNvPr id="94" name="Text 52"/>
          <p:cNvSpPr txBox="1"/>
          <p:nvPr/>
        </p:nvSpPr>
        <p:spPr>
          <a:xfrm>
            <a:off x="2832646" y="5370314"/>
            <a:ext cx="1966020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Freckle Pen making</a:t>
            </a:r>
            <a:endParaRPr lang="en-US" sz="863" dirty="0"/>
          </a:p>
        </p:txBody>
      </p:sp>
      <p:sp>
        <p:nvSpPr>
          <p:cNvPr id="95" name="Text 53"/>
          <p:cNvSpPr txBox="1"/>
          <p:nvPr/>
        </p:nvSpPr>
        <p:spPr>
          <a:xfrm>
            <a:off x="2832646" y="5775573"/>
            <a:ext cx="1966020" cy="12992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spcBef>
                <a:spcPts val="300"/>
              </a:spcBef>
              <a:buNone/>
            </a:pPr>
            <a:r>
              <a:rPr lang="en-US" sz="788" dirty="0">
                <a:solidFill>
                  <a:srgbClr val="2B1E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 story</a:t>
            </a:r>
            <a:endParaRPr lang="en-US" sz="788" dirty="0"/>
          </a:p>
        </p:txBody>
      </p:sp>
      <p:pic>
        <p:nvPicPr>
          <p:cNvPr id="96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4884390" y="4236393"/>
            <a:ext cx="2423071" cy="1926282"/>
          </a:xfrm>
          <a:prstGeom prst="rect">
            <a:avLst/>
          </a:prstGeom>
        </p:spPr>
      </p:pic>
      <p:pic>
        <p:nvPicPr>
          <p:cNvPr id="97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5112990" y="4493568"/>
            <a:ext cx="506313" cy="200025"/>
          </a:xfrm>
          <a:prstGeom prst="rect">
            <a:avLst/>
          </a:prstGeom>
        </p:spPr>
      </p:pic>
      <p:sp>
        <p:nvSpPr>
          <p:cNvPr id="98" name="Text 54"/>
          <p:cNvSpPr txBox="1"/>
          <p:nvPr/>
        </p:nvSpPr>
        <p:spPr>
          <a:xfrm>
            <a:off x="5179665" y="4531668"/>
            <a:ext cx="372963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spc="60" kern="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13</a:t>
            </a:r>
            <a:endParaRPr lang="en-US" sz="750" dirty="0"/>
          </a:p>
        </p:txBody>
      </p:sp>
      <p:sp>
        <p:nvSpPr>
          <p:cNvPr id="99" name="Text 55"/>
          <p:cNvSpPr txBox="1"/>
          <p:nvPr/>
        </p:nvSpPr>
        <p:spPr>
          <a:xfrm>
            <a:off x="5258246" y="4979640"/>
            <a:ext cx="1820614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YT SHORT</a:t>
            </a:r>
            <a:endParaRPr lang="en-US" sz="750" dirty="0"/>
          </a:p>
        </p:txBody>
      </p:sp>
      <p:pic>
        <p:nvPicPr>
          <p:cNvPr id="100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112990" y="4993928"/>
            <a:ext cx="107156" cy="95250"/>
          </a:xfrm>
          <a:prstGeom prst="rect">
            <a:avLst/>
          </a:prstGeom>
        </p:spPr>
      </p:pic>
      <p:sp>
        <p:nvSpPr>
          <p:cNvPr id="101" name="Text 56"/>
          <p:cNvSpPr txBox="1"/>
          <p:nvPr/>
        </p:nvSpPr>
        <p:spPr>
          <a:xfrm>
            <a:off x="5112990" y="5370314"/>
            <a:ext cx="1965871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Lip combo kaise</a:t>
            </a:r>
            <a:endParaRPr lang="en-US" sz="863" dirty="0"/>
          </a:p>
        </p:txBody>
      </p:sp>
      <p:sp>
        <p:nvSpPr>
          <p:cNvPr id="102" name="Text 57"/>
          <p:cNvSpPr txBox="1"/>
          <p:nvPr/>
        </p:nvSpPr>
        <p:spPr>
          <a:xfrm>
            <a:off x="5112990" y="5775573"/>
            <a:ext cx="1965871" cy="12992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spcBef>
                <a:spcPts val="300"/>
              </a:spcBef>
              <a:buNone/>
            </a:pPr>
            <a:r>
              <a:rPr lang="en-US" sz="788" dirty="0">
                <a:solidFill>
                  <a:srgbClr val="2B1E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Layering tut</a:t>
            </a:r>
            <a:endParaRPr lang="en-US" sz="788" dirty="0"/>
          </a:p>
        </p:txBody>
      </p:sp>
      <p:pic>
        <p:nvPicPr>
          <p:cNvPr id="103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164586" y="4236393"/>
            <a:ext cx="2423220" cy="1926282"/>
          </a:xfrm>
          <a:prstGeom prst="rect">
            <a:avLst/>
          </a:prstGeom>
        </p:spPr>
      </p:pic>
      <p:pic>
        <p:nvPicPr>
          <p:cNvPr id="104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393186" y="4493568"/>
            <a:ext cx="509290" cy="200025"/>
          </a:xfrm>
          <a:prstGeom prst="rect">
            <a:avLst/>
          </a:prstGeom>
        </p:spPr>
      </p:pic>
      <p:sp>
        <p:nvSpPr>
          <p:cNvPr id="105" name="Text 58"/>
          <p:cNvSpPr txBox="1"/>
          <p:nvPr/>
        </p:nvSpPr>
        <p:spPr>
          <a:xfrm>
            <a:off x="7459861" y="4531668"/>
            <a:ext cx="37594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spc="60" kern="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14</a:t>
            </a:r>
            <a:endParaRPr lang="en-US" sz="750" dirty="0"/>
          </a:p>
        </p:txBody>
      </p:sp>
      <p:sp>
        <p:nvSpPr>
          <p:cNvPr id="106" name="Text 59"/>
          <p:cNvSpPr txBox="1"/>
          <p:nvPr/>
        </p:nvSpPr>
        <p:spPr>
          <a:xfrm>
            <a:off x="7526536" y="4979640"/>
            <a:ext cx="183267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REEL TEASER</a:t>
            </a:r>
            <a:endParaRPr lang="en-US" sz="750" dirty="0"/>
          </a:p>
        </p:txBody>
      </p:sp>
      <p:pic>
        <p:nvPicPr>
          <p:cNvPr id="107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393186" y="4993928"/>
            <a:ext cx="95250" cy="95250"/>
          </a:xfrm>
          <a:prstGeom prst="rect">
            <a:avLst/>
          </a:prstGeom>
        </p:spPr>
      </p:pic>
      <p:sp>
        <p:nvSpPr>
          <p:cNvPr id="108" name="Text 60"/>
          <p:cNvSpPr txBox="1"/>
          <p:nvPr/>
        </p:nvSpPr>
        <p:spPr>
          <a:xfrm>
            <a:off x="7393186" y="5370314"/>
            <a:ext cx="1966020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Naye product hint</a:t>
            </a:r>
            <a:endParaRPr lang="en-US" sz="863" dirty="0"/>
          </a:p>
        </p:txBody>
      </p:sp>
      <p:sp>
        <p:nvSpPr>
          <p:cNvPr id="109" name="Text 61"/>
          <p:cNvSpPr txBox="1"/>
          <p:nvPr/>
        </p:nvSpPr>
        <p:spPr>
          <a:xfrm>
            <a:off x="7393186" y="5775573"/>
            <a:ext cx="1966020" cy="12992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spcBef>
                <a:spcPts val="300"/>
              </a:spcBef>
              <a:buNone/>
            </a:pPr>
            <a:r>
              <a:rPr lang="en-US" sz="788" dirty="0">
                <a:solidFill>
                  <a:srgbClr val="2B1E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Drop date</a:t>
            </a:r>
            <a:endParaRPr lang="en-US" sz="788" dirty="0"/>
          </a:p>
        </p:txBody>
      </p:sp>
      <p:sp>
        <p:nvSpPr>
          <p:cNvPr id="110" name="Shape 62"/>
          <p:cNvSpPr/>
          <p:nvPr/>
        </p:nvSpPr>
        <p:spPr>
          <a:xfrm>
            <a:off x="9563100" y="4391025"/>
            <a:ext cx="2190750" cy="1619250"/>
          </a:xfrm>
          <a:prstGeom prst="roundRect">
            <a:avLst>
              <a:gd name="adj" fmla="val 8235"/>
            </a:avLst>
          </a:prstGeom>
          <a:solidFill>
            <a:srgbClr val="D1886B"/>
          </a:solidFill>
          <a:ln/>
          <a:effectLst>
            <a:outerShdw sx="100000" sy="100000" kx="0" ky="0" algn="bl" rotWithShape="0" blurRad="114300" dist="38100" dir="5400000">
              <a:srgbClr val="4A2315">
                <a:alpha val="4000"/>
              </a:srgbClr>
            </a:outerShdw>
          </a:effectLst>
        </p:spPr>
      </p:sp>
      <p:pic>
        <p:nvPicPr>
          <p:cNvPr id="111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9664005" y="4484043"/>
            <a:ext cx="504081" cy="200025"/>
          </a:xfrm>
          <a:prstGeom prst="rect">
            <a:avLst/>
          </a:prstGeom>
        </p:spPr>
      </p:pic>
      <p:sp>
        <p:nvSpPr>
          <p:cNvPr id="112" name="Text 63"/>
          <p:cNvSpPr txBox="1"/>
          <p:nvPr/>
        </p:nvSpPr>
        <p:spPr>
          <a:xfrm>
            <a:off x="9730680" y="4522143"/>
            <a:ext cx="37073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15</a:t>
            </a:r>
            <a:endParaRPr lang="en-US" sz="750" dirty="0"/>
          </a:p>
        </p:txBody>
      </p:sp>
      <p:sp>
        <p:nvSpPr>
          <p:cNvPr id="113" name="Text 64"/>
          <p:cNvSpPr txBox="1"/>
          <p:nvPr/>
        </p:nvSpPr>
        <p:spPr>
          <a:xfrm>
            <a:off x="9809262" y="4976366"/>
            <a:ext cx="1839664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RECAP</a:t>
            </a:r>
            <a:endParaRPr lang="en-US" sz="750" dirty="0"/>
          </a:p>
        </p:txBody>
      </p:sp>
      <p:pic>
        <p:nvPicPr>
          <p:cNvPr id="114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9664005" y="4990654"/>
            <a:ext cx="107156" cy="95250"/>
          </a:xfrm>
          <a:prstGeom prst="rect">
            <a:avLst/>
          </a:prstGeom>
        </p:spPr>
      </p:pic>
      <p:sp>
        <p:nvSpPr>
          <p:cNvPr id="115" name="Text 65"/>
          <p:cNvSpPr txBox="1"/>
          <p:nvPr/>
        </p:nvSpPr>
        <p:spPr>
          <a:xfrm>
            <a:off x="9664005" y="5373588"/>
            <a:ext cx="1984921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recap + CTA</a:t>
            </a:r>
            <a:endParaRPr lang="en-US" sz="863" dirty="0"/>
          </a:p>
        </p:txBody>
      </p:sp>
      <p:sp>
        <p:nvSpPr>
          <p:cNvPr id="116" name="Text 66"/>
          <p:cNvSpPr txBox="1"/>
          <p:nvPr/>
        </p:nvSpPr>
        <p:spPr>
          <a:xfrm>
            <a:off x="9664005" y="5785098"/>
            <a:ext cx="1984921" cy="12992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spcBef>
                <a:spcPts val="300"/>
              </a:spcBef>
              <a:buNone/>
            </a:pPr>
            <a:r>
              <a:rPr lang="en-US" sz="788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moments Shop</a:t>
            </a:r>
            <a:endParaRPr lang="en-US" sz="788" dirty="0"/>
          </a:p>
        </p:txBody>
      </p:sp>
      <p:pic>
        <p:nvPicPr>
          <p:cNvPr id="117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438150" y="6124575"/>
            <a:ext cx="11315700" cy="466725"/>
          </a:xfrm>
          <a:prstGeom prst="rect">
            <a:avLst/>
          </a:prstGeom>
        </p:spPr>
      </p:pic>
      <p:sp>
        <p:nvSpPr>
          <p:cNvPr id="118" name="Text 67"/>
          <p:cNvSpPr txBox="1"/>
          <p:nvPr/>
        </p:nvSpPr>
        <p:spPr>
          <a:xfrm>
            <a:off x="581025" y="6288881"/>
            <a:ext cx="586174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Rhythm:</a:t>
            </a:r>
            <a:pPr indent="0" marL="0">
              <a:buNone/>
            </a:pPr>
            <a:r>
              <a:rPr lang="en-US" sz="825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30% Edu • 25% Community • 20% Entertainment • 15% Product • 10% BTS • Goal: UGC loop + brand equity</a:t>
            </a:r>
            <a:endParaRPr lang="en-US" sz="825" dirty="0"/>
          </a:p>
        </p:txBody>
      </p:sp>
      <p:pic>
        <p:nvPicPr>
          <p:cNvPr id="119" name="Image 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8924925" y="6229350"/>
            <a:ext cx="541586" cy="257175"/>
          </a:xfrm>
          <a:prstGeom prst="rect">
            <a:avLst/>
          </a:prstGeom>
        </p:spPr>
      </p:pic>
      <p:sp>
        <p:nvSpPr>
          <p:cNvPr id="120" name="Text 68"/>
          <p:cNvSpPr txBox="1"/>
          <p:nvPr/>
        </p:nvSpPr>
        <p:spPr>
          <a:xfrm>
            <a:off x="9029700" y="6296025"/>
            <a:ext cx="332036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Reels 7</a:t>
            </a:r>
            <a:endParaRPr lang="en-US" sz="750" dirty="0"/>
          </a:p>
        </p:txBody>
      </p:sp>
      <p:pic>
        <p:nvPicPr>
          <p:cNvPr id="121" name="Image 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9523661" y="6229350"/>
            <a:ext cx="709464" cy="257175"/>
          </a:xfrm>
          <a:prstGeom prst="rect">
            <a:avLst/>
          </a:prstGeom>
        </p:spPr>
      </p:pic>
      <p:sp>
        <p:nvSpPr>
          <p:cNvPr id="122" name="Text 69"/>
          <p:cNvSpPr txBox="1"/>
          <p:nvPr/>
        </p:nvSpPr>
        <p:spPr>
          <a:xfrm>
            <a:off x="9628436" y="6296025"/>
            <a:ext cx="499914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Carousel 3</a:t>
            </a:r>
            <a:endParaRPr lang="en-US" sz="750" dirty="0"/>
          </a:p>
        </p:txBody>
      </p:sp>
      <p:pic>
        <p:nvPicPr>
          <p:cNvPr id="123" name="Image 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0290274" y="6229350"/>
            <a:ext cx="1320701" cy="257175"/>
          </a:xfrm>
          <a:prstGeom prst="rect">
            <a:avLst/>
          </a:prstGeom>
        </p:spPr>
      </p:pic>
      <p:sp>
        <p:nvSpPr>
          <p:cNvPr id="124" name="Text 70"/>
          <p:cNvSpPr txBox="1"/>
          <p:nvPr/>
        </p:nvSpPr>
        <p:spPr>
          <a:xfrm>
            <a:off x="10395049" y="6296025"/>
            <a:ext cx="111115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 2 + YT 2 + Reddit1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390525"/>
            <a:ext cx="1112520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600"/>
              </a:spcAft>
              <a:buNone/>
            </a:pPr>
            <a:r>
              <a:rPr lang="en-US" sz="825" b="1" spc="165" kern="0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CREATIVES &amp; AD COPY</a:t>
            </a:r>
            <a:endParaRPr lang="en-US" sz="825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614363"/>
            <a:ext cx="4184600" cy="75991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92"/>
              </a:lnSpc>
              <a:buNone/>
            </a:pPr>
            <a:r>
              <a:rPr lang="en-US" sz="285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Visuals that Convert —</a:t>
            </a:r>
            <a:endParaRPr lang="en-US" sz="2850" dirty="0"/>
          </a:p>
          <a:p>
            <a:pPr algn="l" indent="0" marL="0">
              <a:lnSpc>
                <a:spcPts val="2992"/>
              </a:lnSpc>
              <a:buNone/>
            </a:pPr>
            <a:r>
              <a:rPr lang="en-US" sz="285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Skin, Real Reviews</a:t>
            </a:r>
            <a:endParaRPr lang="en-US" sz="2850" dirty="0"/>
          </a:p>
        </p:txBody>
      </p:sp>
      <p:sp>
        <p:nvSpPr>
          <p:cNvPr id="4" name="Text 2"/>
          <p:cNvSpPr txBox="1"/>
          <p:nvPr/>
        </p:nvSpPr>
        <p:spPr>
          <a:xfrm>
            <a:off x="9746307" y="1081088"/>
            <a:ext cx="1912293" cy="29319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B1E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Platform: IG Reels / Stories / Carousels</a:t>
            </a:r>
            <a:endParaRPr lang="en-US" sz="825" dirty="0"/>
          </a:p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B1E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Style: Clean girl, skincare-first</a:t>
            </a:r>
            <a:endParaRPr lang="en-US" sz="82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950" y="1336179"/>
            <a:ext cx="5254823" cy="276284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76325" y="1805285"/>
            <a:ext cx="4149923" cy="2071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1050"/>
              </a:spcAft>
              <a:buNone/>
            </a:pPr>
            <a:r>
              <a:rPr lang="en-US" sz="975" b="1" spc="20" kern="0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VISUAL MOCKUP IDEAS</a:t>
            </a:r>
            <a:endParaRPr lang="en-US" sz="975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1764804"/>
            <a:ext cx="247650" cy="24765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52475" y="1762125"/>
            <a:ext cx="247650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811" y="1831479"/>
            <a:ext cx="116830" cy="1143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752475" y="2143125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FDF0E9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963" y="2236291"/>
            <a:ext cx="123825" cy="123825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171575" y="2145804"/>
            <a:ext cx="2315468" cy="1428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150"/>
              </a:spcAft>
              <a:buNone/>
            </a:pPr>
            <a:r>
              <a:rPr lang="en-US" sz="938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flat-lays w/ ingredient callouts</a:t>
            </a:r>
            <a:endParaRPr lang="en-US" sz="938" dirty="0"/>
          </a:p>
        </p:txBody>
      </p:sp>
      <p:sp>
        <p:nvSpPr>
          <p:cNvPr id="13" name="Text 7"/>
          <p:cNvSpPr txBox="1"/>
          <p:nvPr/>
        </p:nvSpPr>
        <p:spPr>
          <a:xfrm>
            <a:off x="1171575" y="2307729"/>
            <a:ext cx="2315468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Pastel backdrops, Peptides / Hyaluronic tags</a:t>
            </a:r>
            <a:endParaRPr lang="en-US" sz="863" dirty="0"/>
          </a:p>
        </p:txBody>
      </p:sp>
      <p:sp>
        <p:nvSpPr>
          <p:cNvPr id="14" name="Shape 8"/>
          <p:cNvSpPr/>
          <p:nvPr/>
        </p:nvSpPr>
        <p:spPr>
          <a:xfrm>
            <a:off x="752475" y="2552700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FDF0E9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484" y="2641253"/>
            <a:ext cx="154781" cy="123825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171575" y="2550765"/>
            <a:ext cx="2580233" cy="1428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150"/>
              </a:spcAft>
              <a:buNone/>
            </a:pPr>
            <a:r>
              <a:rPr lang="en-US" sz="938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people, real skin — diverse Indian tones</a:t>
            </a:r>
            <a:endParaRPr lang="en-US" sz="938" dirty="0"/>
          </a:p>
        </p:txBody>
      </p:sp>
      <p:sp>
        <p:nvSpPr>
          <p:cNvPr id="17" name="Text 10"/>
          <p:cNvSpPr txBox="1"/>
          <p:nvPr/>
        </p:nvSpPr>
        <p:spPr>
          <a:xfrm>
            <a:off x="1171575" y="2712690"/>
            <a:ext cx="2580233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Natural light, no over-retouch, brown skin shades</a:t>
            </a:r>
            <a:endParaRPr lang="en-US" sz="863" dirty="0"/>
          </a:p>
        </p:txBody>
      </p:sp>
      <p:sp>
        <p:nvSpPr>
          <p:cNvPr id="18" name="Shape 11"/>
          <p:cNvSpPr/>
          <p:nvPr/>
        </p:nvSpPr>
        <p:spPr>
          <a:xfrm>
            <a:off x="752475" y="2952750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FDF0E9"/>
          </a:solidFill>
          <a:ln/>
        </p:spPr>
      </p:sp>
      <p:sp>
        <p:nvSpPr>
          <p:cNvPr id="19" name="Text 12"/>
          <p:cNvSpPr txBox="1"/>
          <p:nvPr/>
        </p:nvSpPr>
        <p:spPr>
          <a:xfrm>
            <a:off x="904875" y="3105150"/>
            <a:ext cx="0" cy="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3"/>
          <p:cNvSpPr txBox="1"/>
          <p:nvPr/>
        </p:nvSpPr>
        <p:spPr>
          <a:xfrm>
            <a:off x="1171575" y="2955727"/>
            <a:ext cx="2259509" cy="1428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150"/>
              </a:spcAft>
              <a:buNone/>
            </a:pPr>
            <a:r>
              <a:rPr lang="en-US" sz="938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UGC phone-shot reviews</a:t>
            </a:r>
            <a:endParaRPr lang="en-US" sz="938" dirty="0"/>
          </a:p>
        </p:txBody>
      </p:sp>
      <p:sp>
        <p:nvSpPr>
          <p:cNvPr id="21" name="Text 14"/>
          <p:cNvSpPr txBox="1"/>
          <p:nvPr/>
        </p:nvSpPr>
        <p:spPr>
          <a:xfrm>
            <a:off x="1171575" y="3117652"/>
            <a:ext cx="2259509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Authentic, not overproduced — iPhone light</a:t>
            </a:r>
            <a:endParaRPr lang="en-US" sz="863" dirty="0"/>
          </a:p>
        </p:txBody>
      </p:sp>
      <p:sp>
        <p:nvSpPr>
          <p:cNvPr id="22" name="Shape 15"/>
          <p:cNvSpPr/>
          <p:nvPr/>
        </p:nvSpPr>
        <p:spPr>
          <a:xfrm>
            <a:off x="752475" y="3362325"/>
            <a:ext cx="304800" cy="304800"/>
          </a:xfrm>
          <a:prstGeom prst="roundRect">
            <a:avLst>
              <a:gd name="adj" fmla="val 28125"/>
            </a:avLst>
          </a:prstGeom>
          <a:solidFill>
            <a:srgbClr val="FDF0E9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223" y="3451175"/>
            <a:ext cx="139303" cy="123825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171575" y="3360688"/>
            <a:ext cx="2561332" cy="1428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150"/>
              </a:spcAft>
              <a:buNone/>
            </a:pPr>
            <a:r>
              <a:rPr lang="en-US" sz="938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/ After + Founder direct-cam</a:t>
            </a:r>
            <a:endParaRPr lang="en-US" sz="938" dirty="0"/>
          </a:p>
        </p:txBody>
      </p:sp>
      <p:sp>
        <p:nvSpPr>
          <p:cNvPr id="25" name="Text 17"/>
          <p:cNvSpPr txBox="1"/>
          <p:nvPr/>
        </p:nvSpPr>
        <p:spPr>
          <a:xfrm>
            <a:off x="1171575" y="3522613"/>
            <a:ext cx="2561332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Lip transformation split + Mrunal product-in-hand</a:t>
            </a:r>
            <a:endParaRPr lang="en-US" sz="863" dirty="0"/>
          </a:p>
        </p:txBody>
      </p:sp>
      <p:sp>
        <p:nvSpPr>
          <p:cNvPr id="26" name="Shape 18"/>
          <p:cNvSpPr/>
          <p:nvPr/>
        </p:nvSpPr>
        <p:spPr>
          <a:xfrm>
            <a:off x="5657850" y="1562100"/>
            <a:ext cx="6000750" cy="3409950"/>
          </a:xfrm>
          <a:prstGeom prst="roundRect">
            <a:avLst>
              <a:gd name="adj" fmla="val 5028"/>
            </a:avLst>
          </a:prstGeom>
          <a:solidFill>
            <a:srgbClr val="4A2315"/>
          </a:solidFill>
          <a:ln/>
          <a:effectLst>
            <a:outerShdw sx="100000" sy="100000" kx="0" ky="0" algn="bl" rotWithShape="0" blurRad="171450" dist="57150" dir="5400000">
              <a:srgbClr val="4A2315">
                <a:alpha val="5000"/>
              </a:srgbClr>
            </a:outerShdw>
          </a:effectLst>
        </p:spPr>
      </p:sp>
      <p:sp>
        <p:nvSpPr>
          <p:cNvPr id="27" name="Text 19"/>
          <p:cNvSpPr txBox="1"/>
          <p:nvPr/>
        </p:nvSpPr>
        <p:spPr>
          <a:xfrm>
            <a:off x="6188273" y="1795760"/>
            <a:ext cx="5260777" cy="2071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1050"/>
              </a:spcAft>
              <a:buNone/>
            </a:pPr>
            <a:r>
              <a:rPr lang="en-US" sz="975" b="1" spc="20" kern="0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SAMPLE CAPTIONS</a:t>
            </a:r>
            <a:endParaRPr lang="en-US" sz="975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4423" y="1755279"/>
            <a:ext cx="247650" cy="24765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5867400" y="1752600"/>
            <a:ext cx="247650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24996" y="1817191"/>
            <a:ext cx="126355" cy="123825"/>
          </a:xfrm>
          <a:prstGeom prst="rect">
            <a:avLst/>
          </a:prstGeom>
        </p:spPr>
      </p:pic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64423" y="2136279"/>
            <a:ext cx="5584627" cy="817066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6176367" y="2288679"/>
            <a:ext cx="5110758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spc="75" kern="0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EDUCATIONAL — LIP MELTS</a:t>
            </a:r>
            <a:endParaRPr lang="en-US" sz="75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26348" y="2302966"/>
            <a:ext cx="92869" cy="95250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6026348" y="2488704"/>
            <a:ext cx="5260777" cy="32176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“Your gloss shouldn't just look good. </a:t>
            </a:r>
            <a:pPr indent="0" marL="0">
              <a:buNone/>
            </a:pPr>
            <a:r>
              <a:rPr lang="en-US" sz="900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Peptides heal. Hyaluronic plumps. Shea nourishes.</a:t>
            </a:r>
            <a:pPr indent="0" marL="0">
              <a:buNone/>
            </a:pPr>
            <a:r>
              <a:rPr lang="en-US" sz="900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That's Mrucha. 💋”</a:t>
            </a:r>
            <a:endParaRPr lang="en-US" sz="900" dirty="0"/>
          </a:p>
        </p:txBody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64423" y="3048595"/>
            <a:ext cx="5584627" cy="817066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6212086" y="3200995"/>
            <a:ext cx="5075039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spc="75" kern="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COMMUNITY — CIRCLE</a:t>
            </a:r>
            <a:endParaRPr lang="en-US" sz="750" dirty="0"/>
          </a:p>
        </p:txBody>
      </p:sp>
      <p:pic>
        <p:nvPicPr>
          <p:cNvPr id="3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26348" y="3215283"/>
            <a:ext cx="128588" cy="95250"/>
          </a:xfrm>
          <a:prstGeom prst="rect">
            <a:avLst/>
          </a:prstGeom>
        </p:spPr>
      </p:pic>
      <p:sp>
        <p:nvSpPr>
          <p:cNvPr id="38" name="Text 24"/>
          <p:cNvSpPr txBox="1"/>
          <p:nvPr/>
        </p:nvSpPr>
        <p:spPr>
          <a:xfrm>
            <a:off x="6026348" y="3401020"/>
            <a:ext cx="5260777" cy="32176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“When Mrucha Circle speaks, we listen. 🗣 Your feedback shaped our shades. Tag us → #MruchaCircle”</a:t>
            </a:r>
            <a:endParaRPr lang="en-US" sz="900" dirty="0"/>
          </a:p>
        </p:txBody>
      </p:sp>
      <p:sp>
        <p:nvSpPr>
          <p:cNvPr id="39" name="Text 25"/>
          <p:cNvSpPr txBox="1"/>
          <p:nvPr/>
        </p:nvSpPr>
        <p:spPr>
          <a:xfrm>
            <a:off x="5864423" y="3970437"/>
            <a:ext cx="5584627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600"/>
              </a:spcAft>
              <a:buNone/>
            </a:pPr>
            <a:r>
              <a:rPr lang="en-US" sz="750" b="1" spc="75" kern="0" dirty="0">
                <a:solidFill>
                  <a:srgbClr val="FFFBF7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HASHTAGS</a:t>
            </a:r>
            <a:endParaRPr lang="en-US" sz="750" dirty="0"/>
          </a:p>
        </p:txBody>
      </p:sp>
      <p:pic>
        <p:nvPicPr>
          <p:cNvPr id="4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64423" y="4199037"/>
            <a:ext cx="985093" cy="264319"/>
          </a:xfrm>
          <a:prstGeom prst="rect">
            <a:avLst/>
          </a:prstGeom>
        </p:spPr>
      </p:pic>
      <p:sp>
        <p:nvSpPr>
          <p:cNvPr id="41" name="Text 26"/>
          <p:cNvSpPr txBox="1"/>
          <p:nvPr/>
        </p:nvSpPr>
        <p:spPr>
          <a:xfrm>
            <a:off x="5969198" y="4265712"/>
            <a:ext cx="775543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FFFFFF"/>
                </a:solidFill>
                <a:highlight>
                  <a:srgbClr val="D1886B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#MruchaBeauty</a:t>
            </a:r>
            <a:endParaRPr lang="en-US" sz="788" dirty="0"/>
          </a:p>
        </p:txBody>
      </p:sp>
      <p:pic>
        <p:nvPicPr>
          <p:cNvPr id="4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06667" y="4199037"/>
            <a:ext cx="925116" cy="264319"/>
          </a:xfrm>
          <a:prstGeom prst="rect">
            <a:avLst/>
          </a:prstGeom>
        </p:spPr>
      </p:pic>
      <p:sp>
        <p:nvSpPr>
          <p:cNvPr id="43" name="Text 27"/>
          <p:cNvSpPr txBox="1"/>
          <p:nvPr/>
        </p:nvSpPr>
        <p:spPr>
          <a:xfrm>
            <a:off x="7011442" y="4265712"/>
            <a:ext cx="715566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FFFFFF"/>
                </a:solidFill>
                <a:highlight>
                  <a:srgbClr val="D1886B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#MruchaCircle</a:t>
            </a:r>
            <a:endParaRPr lang="en-US" sz="788" dirty="0"/>
          </a:p>
        </p:txBody>
      </p:sp>
      <p:pic>
        <p:nvPicPr>
          <p:cNvPr id="4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88932" y="4199037"/>
            <a:ext cx="1062186" cy="264319"/>
          </a:xfrm>
          <a:prstGeom prst="rect">
            <a:avLst/>
          </a:prstGeom>
        </p:spPr>
      </p:pic>
      <p:sp>
        <p:nvSpPr>
          <p:cNvPr id="45" name="Text 28"/>
          <p:cNvSpPr txBox="1"/>
          <p:nvPr/>
        </p:nvSpPr>
        <p:spPr>
          <a:xfrm>
            <a:off x="7993707" y="4265712"/>
            <a:ext cx="852636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4A2315"/>
                </a:solidFill>
                <a:highlight>
                  <a:srgbClr val="FFFBF7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#SkincareInfused</a:t>
            </a:r>
            <a:endParaRPr lang="en-US" sz="788" dirty="0"/>
          </a:p>
        </p:txBody>
      </p:sp>
      <p:pic>
        <p:nvPicPr>
          <p:cNvPr id="4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08269" y="4199037"/>
            <a:ext cx="1128713" cy="264319"/>
          </a:xfrm>
          <a:prstGeom prst="rect">
            <a:avLst/>
          </a:prstGeom>
        </p:spPr>
      </p:pic>
      <p:sp>
        <p:nvSpPr>
          <p:cNvPr id="47" name="Text 29"/>
          <p:cNvSpPr txBox="1"/>
          <p:nvPr/>
        </p:nvSpPr>
        <p:spPr>
          <a:xfrm>
            <a:off x="9113044" y="4265712"/>
            <a:ext cx="919162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4A2315"/>
                </a:solidFill>
                <a:highlight>
                  <a:srgbClr val="FFFBF7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#CleanBeautyIndia</a:t>
            </a:r>
            <a:endParaRPr lang="en-US" sz="788" dirty="0"/>
          </a:p>
        </p:txBody>
      </p:sp>
      <p:pic>
        <p:nvPicPr>
          <p:cNvPr id="4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194131" y="4199037"/>
            <a:ext cx="875407" cy="264319"/>
          </a:xfrm>
          <a:prstGeom prst="rect">
            <a:avLst/>
          </a:prstGeom>
        </p:spPr>
      </p:pic>
      <p:sp>
        <p:nvSpPr>
          <p:cNvPr id="49" name="Text 30"/>
          <p:cNvSpPr txBox="1"/>
          <p:nvPr/>
        </p:nvSpPr>
        <p:spPr>
          <a:xfrm>
            <a:off x="10298906" y="4265712"/>
            <a:ext cx="665857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4A2315"/>
                </a:solidFill>
                <a:highlight>
                  <a:srgbClr val="FFFBF7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#GenZBeauty</a:t>
            </a:r>
            <a:endParaRPr lang="en-US" sz="788" dirty="0"/>
          </a:p>
        </p:txBody>
      </p:sp>
      <p:pic>
        <p:nvPicPr>
          <p:cNvPr id="50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864423" y="4520505"/>
            <a:ext cx="1208336" cy="264319"/>
          </a:xfrm>
          <a:prstGeom prst="rect">
            <a:avLst/>
          </a:prstGeom>
        </p:spPr>
      </p:pic>
      <p:sp>
        <p:nvSpPr>
          <p:cNvPr id="51" name="Text 31"/>
          <p:cNvSpPr txBox="1"/>
          <p:nvPr/>
        </p:nvSpPr>
        <p:spPr>
          <a:xfrm>
            <a:off x="5969198" y="4587180"/>
            <a:ext cx="998786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4A2315"/>
                </a:solidFill>
                <a:highlight>
                  <a:srgbClr val="FFFBF7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#MadeForIndianSkin</a:t>
            </a:r>
            <a:endParaRPr lang="en-US" sz="788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1079748"/>
            <a:ext cx="1112520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600"/>
              </a:spcAft>
              <a:buNone/>
            </a:pPr>
            <a:r>
              <a:rPr lang="en-US" sz="825" b="1" spc="165" kern="0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STRATEGY — LEAN &amp; ORGANIC-FIRST</a:t>
            </a:r>
            <a:endParaRPr lang="en-US" sz="825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1303586"/>
            <a:ext cx="4003923" cy="8399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8"/>
              </a:lnSpc>
              <a:buNone/>
            </a:pPr>
            <a:r>
              <a:rPr lang="en-US" sz="315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Ads Strategy —</a:t>
            </a:r>
            <a:endParaRPr lang="en-US" sz="3150" dirty="0"/>
          </a:p>
          <a:p>
            <a:pPr algn="l" indent="0" marL="0">
              <a:lnSpc>
                <a:spcPts val="3308"/>
              </a:lnSpc>
              <a:buNone/>
            </a:pPr>
            <a:r>
              <a:rPr lang="en-US" sz="315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Lean Approach</a:t>
            </a:r>
            <a:endParaRPr lang="en-US" sz="3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9714" y="1853059"/>
            <a:ext cx="1798886" cy="29051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088314" y="1929259"/>
            <a:ext cx="1446461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Unfunded = Organic priority</a:t>
            </a:r>
            <a:endParaRPr lang="en-US" sz="825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3539" y="1938784"/>
            <a:ext cx="104775" cy="104775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029271"/>
            <a:ext cx="6722715" cy="3862387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42925" y="2343150"/>
            <a:ext cx="6248400" cy="561975"/>
          </a:xfrm>
          <a:prstGeom prst="rect">
            <a:avLst/>
          </a:prstGeom>
          <a:solidFill>
            <a:srgbClr val="4A2315"/>
          </a:solidFill>
          <a:ln/>
        </p:spPr>
      </p:sp>
      <p:sp>
        <p:nvSpPr>
          <p:cNvPr id="9" name="Text 4"/>
          <p:cNvSpPr txBox="1"/>
          <p:nvPr/>
        </p:nvSpPr>
        <p:spPr>
          <a:xfrm>
            <a:off x="752475" y="2531715"/>
            <a:ext cx="1095970" cy="190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BF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Lean Media Plan</a:t>
            </a:r>
            <a:endParaRPr lang="en-US" sz="10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4439" y="2495996"/>
            <a:ext cx="825401" cy="252413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5849689" y="2553146"/>
            <a:ext cx="634901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₹15k-25k/mo</a:t>
            </a:r>
            <a:endParaRPr lang="en-US" sz="825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2900809"/>
            <a:ext cx="6246465" cy="447675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038225" y="3050828"/>
            <a:ext cx="1047750" cy="1738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50" kern="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BUDGET</a:t>
            </a:r>
            <a:endParaRPr lang="en-US" sz="825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3015109"/>
            <a:ext cx="209550" cy="209550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2200275" y="3024634"/>
            <a:ext cx="4379565" cy="2000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₹15,000–₹25,000 / month — organic-first</a:t>
            </a:r>
            <a:endParaRPr lang="en-US" sz="975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925" y="3348484"/>
            <a:ext cx="6246465" cy="447675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1038225" y="3498503"/>
            <a:ext cx="1047750" cy="1738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50" kern="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AUDIENCE</a:t>
            </a:r>
            <a:endParaRPr lang="en-US" sz="825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475" y="3462784"/>
            <a:ext cx="209550" cy="209550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2200275" y="3472309"/>
            <a:ext cx="4379565" cy="2000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Women 18–28, Tier 1 &amp; 2, interests: makeup, creators</a:t>
            </a:r>
            <a:endParaRPr lang="en-US" sz="975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2925" y="3796159"/>
            <a:ext cx="6246465" cy="447675"/>
          </a:xfrm>
          <a:prstGeom prst="rect">
            <a:avLst/>
          </a:prstGeom>
        </p:spPr>
      </p:pic>
      <p:sp>
        <p:nvSpPr>
          <p:cNvPr id="21" name="Text 10"/>
          <p:cNvSpPr txBox="1"/>
          <p:nvPr/>
        </p:nvSpPr>
        <p:spPr>
          <a:xfrm>
            <a:off x="1038225" y="3946178"/>
            <a:ext cx="1047750" cy="1738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50" kern="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LOOKALIKE</a:t>
            </a:r>
            <a:endParaRPr lang="en-US" sz="825" dirty="0"/>
          </a:p>
        </p:txBody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2475" y="3910459"/>
            <a:ext cx="209550" cy="209550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752475" y="3914775"/>
            <a:ext cx="209550" cy="2095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2"/>
          <p:cNvSpPr txBox="1"/>
          <p:nvPr/>
        </p:nvSpPr>
        <p:spPr>
          <a:xfrm>
            <a:off x="2200275" y="3919984"/>
            <a:ext cx="4379565" cy="2000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Website visitors + IG engagers → 1% LAL</a:t>
            </a:r>
            <a:endParaRPr lang="en-US" sz="975" dirty="0"/>
          </a:p>
        </p:txBody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2925" y="4243834"/>
            <a:ext cx="6246465" cy="447675"/>
          </a:xfrm>
          <a:prstGeom prst="rect">
            <a:avLst/>
          </a:prstGeom>
        </p:spPr>
      </p:pic>
      <p:sp>
        <p:nvSpPr>
          <p:cNvPr id="26" name="Text 13"/>
          <p:cNvSpPr txBox="1"/>
          <p:nvPr/>
        </p:nvSpPr>
        <p:spPr>
          <a:xfrm>
            <a:off x="1038225" y="4393853"/>
            <a:ext cx="1047750" cy="1738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50" kern="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BIDDING</a:t>
            </a:r>
            <a:endParaRPr lang="en-US" sz="825" dirty="0"/>
          </a:p>
        </p:txBody>
      </p:sp>
      <p:pic>
        <p:nvPicPr>
          <p:cNvPr id="2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2475" y="4358134"/>
            <a:ext cx="209550" cy="209550"/>
          </a:xfrm>
          <a:prstGeom prst="rect">
            <a:avLst/>
          </a:prstGeom>
        </p:spPr>
      </p:pic>
      <p:sp>
        <p:nvSpPr>
          <p:cNvPr id="28" name="Text 14"/>
          <p:cNvSpPr txBox="1"/>
          <p:nvPr/>
        </p:nvSpPr>
        <p:spPr>
          <a:xfrm>
            <a:off x="752475" y="4362450"/>
            <a:ext cx="209550" cy="2095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15"/>
          <p:cNvSpPr txBox="1"/>
          <p:nvPr/>
        </p:nvSpPr>
        <p:spPr>
          <a:xfrm>
            <a:off x="2200275" y="4367659"/>
            <a:ext cx="4379565" cy="2000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Cap conversions, Traffic to build pixel</a:t>
            </a:r>
            <a:endParaRPr lang="en-US" sz="975" dirty="0"/>
          </a:p>
        </p:txBody>
      </p:sp>
      <p:pic>
        <p:nvPicPr>
          <p:cNvPr id="3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2925" y="4691509"/>
            <a:ext cx="6246465" cy="447675"/>
          </a:xfrm>
          <a:prstGeom prst="rect">
            <a:avLst/>
          </a:prstGeom>
        </p:spPr>
      </p:pic>
      <p:sp>
        <p:nvSpPr>
          <p:cNvPr id="31" name="Text 16"/>
          <p:cNvSpPr txBox="1"/>
          <p:nvPr/>
        </p:nvSpPr>
        <p:spPr>
          <a:xfrm>
            <a:off x="1038225" y="4841528"/>
            <a:ext cx="1047750" cy="1738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50" kern="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CREATIVE</a:t>
            </a:r>
            <a:endParaRPr lang="en-US" sz="825" dirty="0"/>
          </a:p>
        </p:txBody>
      </p:sp>
      <p:pic>
        <p:nvPicPr>
          <p:cNvPr id="3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2475" y="4805809"/>
            <a:ext cx="209550" cy="209550"/>
          </a:xfrm>
          <a:prstGeom prst="rect">
            <a:avLst/>
          </a:prstGeom>
        </p:spPr>
      </p:pic>
      <p:sp>
        <p:nvSpPr>
          <p:cNvPr id="33" name="Text 17"/>
          <p:cNvSpPr txBox="1"/>
          <p:nvPr/>
        </p:nvSpPr>
        <p:spPr>
          <a:xfrm>
            <a:off x="2200275" y="4815334"/>
            <a:ext cx="4379565" cy="2000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UGC reels, founder videos, before/after</a:t>
            </a:r>
            <a:endParaRPr lang="en-US" sz="975" dirty="0"/>
          </a:p>
        </p:txBody>
      </p:sp>
      <p:sp>
        <p:nvSpPr>
          <p:cNvPr id="34" name="Text 18"/>
          <p:cNvSpPr txBox="1"/>
          <p:nvPr/>
        </p:nvSpPr>
        <p:spPr>
          <a:xfrm>
            <a:off x="1038225" y="5289203"/>
            <a:ext cx="1047750" cy="17383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50" kern="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PLACEMENT</a:t>
            </a:r>
            <a:endParaRPr lang="en-US" sz="825" dirty="0"/>
          </a:p>
        </p:txBody>
      </p:sp>
      <p:pic>
        <p:nvPicPr>
          <p:cNvPr id="3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2475" y="5253484"/>
            <a:ext cx="209550" cy="209550"/>
          </a:xfrm>
          <a:prstGeom prst="rect">
            <a:avLst/>
          </a:prstGeom>
        </p:spPr>
      </p:pic>
      <p:sp>
        <p:nvSpPr>
          <p:cNvPr id="36" name="Text 19"/>
          <p:cNvSpPr txBox="1"/>
          <p:nvPr/>
        </p:nvSpPr>
        <p:spPr>
          <a:xfrm>
            <a:off x="2200275" y="5263009"/>
            <a:ext cx="4379565" cy="2000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IG Reels + Stories primary</a:t>
            </a:r>
            <a:pPr indent="0" marL="0">
              <a:buNone/>
            </a:pPr>
            <a:r>
              <a:rPr lang="en-US" sz="975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FB secondary</a:t>
            </a:r>
            <a:endParaRPr lang="en-US" sz="975" dirty="0"/>
          </a:p>
        </p:txBody>
      </p:sp>
      <p:sp>
        <p:nvSpPr>
          <p:cNvPr id="37" name="Shape 20"/>
          <p:cNvSpPr/>
          <p:nvPr/>
        </p:nvSpPr>
        <p:spPr>
          <a:xfrm>
            <a:off x="7029450" y="2333625"/>
            <a:ext cx="4629150" cy="1247775"/>
          </a:xfrm>
          <a:prstGeom prst="roundRect">
            <a:avLst>
              <a:gd name="adj" fmla="val 13740"/>
            </a:avLst>
          </a:prstGeom>
          <a:solidFill>
            <a:srgbClr val="D1886B"/>
          </a:solidFill>
          <a:ln/>
        </p:spPr>
      </p:sp>
      <p:sp>
        <p:nvSpPr>
          <p:cNvPr id="38" name="Text 21"/>
          <p:cNvSpPr txBox="1"/>
          <p:nvPr/>
        </p:nvSpPr>
        <p:spPr>
          <a:xfrm>
            <a:off x="7218015" y="2515046"/>
            <a:ext cx="1010692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83" kern="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ROAS</a:t>
            </a:r>
            <a:endParaRPr lang="en-US" sz="825" dirty="0"/>
          </a:p>
        </p:txBody>
      </p:sp>
      <p:sp>
        <p:nvSpPr>
          <p:cNvPr id="39" name="Text 22"/>
          <p:cNvSpPr txBox="1"/>
          <p:nvPr/>
        </p:nvSpPr>
        <p:spPr>
          <a:xfrm>
            <a:off x="7218015" y="2662684"/>
            <a:ext cx="1010692" cy="3048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2–3x</a:t>
            </a:r>
            <a:endParaRPr lang="en-US" sz="2400" dirty="0"/>
          </a:p>
        </p:txBody>
      </p:sp>
      <p:sp>
        <p:nvSpPr>
          <p:cNvPr id="40" name="Text 23"/>
          <p:cNvSpPr txBox="1"/>
          <p:nvPr/>
        </p:nvSpPr>
        <p:spPr>
          <a:xfrm>
            <a:off x="10654903" y="2555528"/>
            <a:ext cx="813197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38"/>
              </a:lnSpc>
              <a:buNone/>
            </a:pPr>
            <a:r>
              <a:rPr lang="en-US" sz="825" spc="83" kern="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 AFTER</a:t>
            </a:r>
            <a:endParaRPr lang="en-US" sz="825" dirty="0"/>
          </a:p>
        </p:txBody>
      </p:sp>
      <p:sp>
        <p:nvSpPr>
          <p:cNvPr id="41" name="Text 24"/>
          <p:cNvSpPr txBox="1"/>
          <p:nvPr/>
        </p:nvSpPr>
        <p:spPr>
          <a:xfrm>
            <a:off x="10654903" y="2750790"/>
            <a:ext cx="813197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63"/>
              </a:lnSpc>
              <a:spcBef>
                <a:spcPts val="300"/>
              </a:spcBef>
              <a:buNone/>
            </a:pPr>
            <a:r>
              <a:rPr lang="en-US" sz="9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4x at 6M</a:t>
            </a:r>
            <a:endParaRPr lang="en-US" sz="975" dirty="0"/>
          </a:p>
        </p:txBody>
      </p:sp>
      <p:sp>
        <p:nvSpPr>
          <p:cNvPr id="42" name="Shape 25"/>
          <p:cNvSpPr/>
          <p:nvPr/>
        </p:nvSpPr>
        <p:spPr>
          <a:xfrm>
            <a:off x="7219950" y="3086100"/>
            <a:ext cx="4248150" cy="57150"/>
          </a:xfrm>
          <a:prstGeom prst="roundRect">
            <a:avLst>
              <a:gd name="adj" fmla="val 1666667"/>
            </a:avLst>
          </a:prstGeom>
          <a:solidFill>
            <a:srgbClr val="FFFFFF">
              <a:alpha val="25000"/>
            </a:srgbClr>
          </a:solidFill>
          <a:ln/>
        </p:spPr>
      </p:sp>
      <p:sp>
        <p:nvSpPr>
          <p:cNvPr id="43" name="Shape 26"/>
          <p:cNvSpPr/>
          <p:nvPr/>
        </p:nvSpPr>
        <p:spPr>
          <a:xfrm>
            <a:off x="7219950" y="3086100"/>
            <a:ext cx="2886075" cy="57150"/>
          </a:xfrm>
          <a:prstGeom prst="roundRect">
            <a:avLst>
              <a:gd name="adj" fmla="val 1666667"/>
            </a:avLst>
          </a:prstGeom>
          <a:solidFill>
            <a:srgbClr val="FFFFFF"/>
          </a:solidFill>
          <a:ln/>
        </p:spPr>
      </p:sp>
      <p:sp>
        <p:nvSpPr>
          <p:cNvPr id="44" name="Text 27"/>
          <p:cNvSpPr txBox="1"/>
          <p:nvPr/>
        </p:nvSpPr>
        <p:spPr>
          <a:xfrm>
            <a:off x="7218015" y="3262759"/>
            <a:ext cx="4250085" cy="1437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lean, let organic drive 80% reach. Paid is amplifier, not engine.</a:t>
            </a:r>
            <a:endParaRPr lang="en-US" sz="863" dirty="0"/>
          </a:p>
        </p:txBody>
      </p:sp>
      <p:pic>
        <p:nvPicPr>
          <p:cNvPr id="4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27515" y="3711327"/>
            <a:ext cx="4631085" cy="1524000"/>
          </a:xfrm>
          <a:prstGeom prst="rect">
            <a:avLst/>
          </a:prstGeom>
        </p:spPr>
      </p:pic>
      <p:sp>
        <p:nvSpPr>
          <p:cNvPr id="46" name="Text 28"/>
          <p:cNvSpPr txBox="1"/>
          <p:nvPr/>
        </p:nvSpPr>
        <p:spPr>
          <a:xfrm>
            <a:off x="7227540" y="3901827"/>
            <a:ext cx="4231035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750"/>
              </a:spcAft>
              <a:buNone/>
            </a:pPr>
            <a:r>
              <a:rPr lang="en-US" sz="900" b="1" spc="72" kern="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CREATIVE FORMAT THAT WORKS</a:t>
            </a:r>
            <a:endParaRPr lang="en-US" sz="900" dirty="0"/>
          </a:p>
        </p:txBody>
      </p:sp>
      <p:sp>
        <p:nvSpPr>
          <p:cNvPr id="47" name="Text 29"/>
          <p:cNvSpPr txBox="1"/>
          <p:nvPr/>
        </p:nvSpPr>
        <p:spPr>
          <a:xfrm>
            <a:off x="7570440" y="4203055"/>
            <a:ext cx="3888135" cy="20359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UGC phone-shot reviews — authentic</a:t>
            </a:r>
            <a:endParaRPr lang="en-US" sz="938" dirty="0"/>
          </a:p>
        </p:txBody>
      </p:sp>
      <p:pic>
        <p:nvPicPr>
          <p:cNvPr id="4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27540" y="4159002"/>
            <a:ext cx="247650" cy="247650"/>
          </a:xfrm>
          <a:prstGeom prst="rect">
            <a:avLst/>
          </a:prstGeom>
        </p:spPr>
      </p:pic>
      <p:sp>
        <p:nvSpPr>
          <p:cNvPr id="49" name="Text 30"/>
          <p:cNvSpPr txBox="1"/>
          <p:nvPr/>
        </p:nvSpPr>
        <p:spPr>
          <a:xfrm>
            <a:off x="7229475" y="4162425"/>
            <a:ext cx="247650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31"/>
          <p:cNvSpPr txBox="1"/>
          <p:nvPr/>
        </p:nvSpPr>
        <p:spPr>
          <a:xfrm>
            <a:off x="7353300" y="4286250"/>
            <a:ext cx="0" cy="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32"/>
          <p:cNvSpPr txBox="1"/>
          <p:nvPr/>
        </p:nvSpPr>
        <p:spPr>
          <a:xfrm>
            <a:off x="7570440" y="4526905"/>
            <a:ext cx="3888135" cy="20359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Founder direct camera — product in hand</a:t>
            </a:r>
            <a:endParaRPr lang="en-US" sz="938" dirty="0"/>
          </a:p>
        </p:txBody>
      </p:sp>
      <p:pic>
        <p:nvPicPr>
          <p:cNvPr id="52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27540" y="4482852"/>
            <a:ext cx="247650" cy="247650"/>
          </a:xfrm>
          <a:prstGeom prst="rect">
            <a:avLst/>
          </a:prstGeom>
        </p:spPr>
      </p:pic>
      <p:sp>
        <p:nvSpPr>
          <p:cNvPr id="53" name="Text 33"/>
          <p:cNvSpPr txBox="1"/>
          <p:nvPr/>
        </p:nvSpPr>
        <p:spPr>
          <a:xfrm>
            <a:off x="7229475" y="4486275"/>
            <a:ext cx="247650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4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99275" y="4547146"/>
            <a:ext cx="104180" cy="119063"/>
          </a:xfrm>
          <a:prstGeom prst="rect">
            <a:avLst/>
          </a:prstGeom>
        </p:spPr>
      </p:pic>
      <p:sp>
        <p:nvSpPr>
          <p:cNvPr id="55" name="Text 34"/>
          <p:cNvSpPr txBox="1"/>
          <p:nvPr/>
        </p:nvSpPr>
        <p:spPr>
          <a:xfrm>
            <a:off x="7570440" y="4850755"/>
            <a:ext cx="3888135" cy="20359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Before/After lip transformation</a:t>
            </a:r>
            <a:endParaRPr lang="en-US" sz="938" dirty="0"/>
          </a:p>
        </p:txBody>
      </p:sp>
      <p:pic>
        <p:nvPicPr>
          <p:cNvPr id="56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27540" y="4806702"/>
            <a:ext cx="247650" cy="247650"/>
          </a:xfrm>
          <a:prstGeom prst="rect">
            <a:avLst/>
          </a:prstGeom>
        </p:spPr>
      </p:pic>
      <p:sp>
        <p:nvSpPr>
          <p:cNvPr id="57" name="Text 35"/>
          <p:cNvSpPr txBox="1"/>
          <p:nvPr/>
        </p:nvSpPr>
        <p:spPr>
          <a:xfrm>
            <a:off x="7229475" y="4810125"/>
            <a:ext cx="247650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8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284393" y="4870996"/>
            <a:ext cx="133945" cy="119063"/>
          </a:xfrm>
          <a:prstGeom prst="rect">
            <a:avLst/>
          </a:prstGeom>
        </p:spPr>
      </p:pic>
      <p:pic>
        <p:nvPicPr>
          <p:cNvPr id="59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027515" y="5368677"/>
            <a:ext cx="4631085" cy="419100"/>
          </a:xfrm>
          <a:prstGeom prst="rect">
            <a:avLst/>
          </a:prstGeom>
        </p:spPr>
      </p:pic>
      <p:pic>
        <p:nvPicPr>
          <p:cNvPr id="60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170390" y="5492502"/>
            <a:ext cx="171450" cy="171450"/>
          </a:xfrm>
          <a:prstGeom prst="rect">
            <a:avLst/>
          </a:prstGeom>
        </p:spPr>
      </p:pic>
      <p:sp>
        <p:nvSpPr>
          <p:cNvPr id="61" name="Text 36"/>
          <p:cNvSpPr txBox="1"/>
          <p:nvPr/>
        </p:nvSpPr>
        <p:spPr>
          <a:xfrm>
            <a:off x="7437090" y="5502027"/>
            <a:ext cx="2672358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1"/>
              </a:lnSpc>
              <a:buNone/>
            </a:pPr>
            <a:r>
              <a:rPr lang="en-US" sz="863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Note:</a:t>
            </a:r>
            <a:pPr indent="0" marL="0">
              <a:buNone/>
            </a:pPr>
            <a:r>
              <a:rPr lang="en-US" sz="863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Unfunded → priority organic via 5.5M + UGC.</a:t>
            </a:r>
            <a:endParaRPr lang="en-US" sz="863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5300" y="352425"/>
            <a:ext cx="1120140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450"/>
              </a:spcAft>
              <a:buNone/>
            </a:pPr>
            <a:r>
              <a:rPr lang="en-US" sz="825" b="1" spc="165" kern="0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 DASHBOARD + FORECAST</a:t>
            </a:r>
            <a:endParaRPr lang="en-US" sz="825" dirty="0"/>
          </a:p>
        </p:txBody>
      </p:sp>
      <p:sp>
        <p:nvSpPr>
          <p:cNvPr id="3" name="Text 1"/>
          <p:cNvSpPr txBox="1"/>
          <p:nvPr/>
        </p:nvSpPr>
        <p:spPr>
          <a:xfrm>
            <a:off x="495300" y="557213"/>
            <a:ext cx="5401717" cy="4000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KPIs — Kya Measure Karein?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975080" y="664071"/>
            <a:ext cx="2721620" cy="29319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B1E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₹2Cr in 5 months = strong PMF proof.</a:t>
            </a:r>
            <a:endParaRPr lang="en-US" sz="825" dirty="0"/>
          </a:p>
          <a:p>
            <a:pPr algn="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2B1E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Leverage 5.5M audience for organic scale → lean paid.</a:t>
            </a:r>
            <a:endParaRPr lang="en-US" sz="825" dirty="0"/>
          </a:p>
        </p:txBody>
      </p:sp>
      <p:sp>
        <p:nvSpPr>
          <p:cNvPr id="5" name="Shape 3"/>
          <p:cNvSpPr/>
          <p:nvPr/>
        </p:nvSpPr>
        <p:spPr>
          <a:xfrm>
            <a:off x="495300" y="1133475"/>
            <a:ext cx="2133600" cy="1495425"/>
          </a:xfrm>
          <a:prstGeom prst="roundRect">
            <a:avLst>
              <a:gd name="adj" fmla="val 11465"/>
            </a:avLst>
          </a:prstGeom>
          <a:solidFill>
            <a:srgbClr val="4A2315"/>
          </a:solidFill>
          <a:ln/>
          <a:effectLst>
            <a:outerShdw sx="100000" sy="100000" kx="0" ky="0" algn="bl" rotWithShape="0" blurRad="171450" dist="57150" dir="5400000">
              <a:srgbClr val="4A2315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7700" y="1285875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00" y="1357313"/>
            <a:ext cx="114300" cy="11430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781" y="1304925"/>
            <a:ext cx="416719" cy="21907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135981" y="1352550"/>
            <a:ext cx="264319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</a:t>
            </a:r>
            <a:endParaRPr lang="en-US" sz="750" dirty="0"/>
          </a:p>
        </p:txBody>
      </p:sp>
      <p:sp>
        <p:nvSpPr>
          <p:cNvPr id="10" name="Text 6"/>
          <p:cNvSpPr txBox="1"/>
          <p:nvPr/>
        </p:nvSpPr>
        <p:spPr>
          <a:xfrm>
            <a:off x="647700" y="1652588"/>
            <a:ext cx="182880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150"/>
              </a:spcAft>
              <a:buNone/>
            </a:pPr>
            <a:r>
              <a:rPr lang="en-US" sz="750" b="1" spc="60" kern="0" dirty="0">
                <a:solidFill>
                  <a:srgbClr val="FFFBF7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RATE</a:t>
            </a:r>
            <a:endParaRPr lang="en-US" sz="750" dirty="0"/>
          </a:p>
        </p:txBody>
      </p:sp>
      <p:sp>
        <p:nvSpPr>
          <p:cNvPr id="11" name="Text 7"/>
          <p:cNvSpPr txBox="1"/>
          <p:nvPr/>
        </p:nvSpPr>
        <p:spPr>
          <a:xfrm>
            <a:off x="647700" y="1804988"/>
            <a:ext cx="1828800" cy="2303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5"/>
              </a:lnSpc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1.5-2% </a:t>
            </a:r>
            <a:pPr indent="0" marL="0">
              <a:buNone/>
            </a:pPr>
            <a:r>
              <a:rPr lang="en-US" sz="900" b="1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now</a:t>
            </a:r>
            <a:endParaRPr lang="en-US" sz="1650" dirty="0"/>
          </a:p>
        </p:txBody>
      </p:sp>
      <p:sp>
        <p:nvSpPr>
          <p:cNvPr id="12" name="Text 8"/>
          <p:cNvSpPr txBox="1"/>
          <p:nvPr/>
        </p:nvSpPr>
        <p:spPr>
          <a:xfrm>
            <a:off x="647700" y="2121098"/>
            <a:ext cx="361950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spc="32" kern="0" dirty="0">
                <a:solidFill>
                  <a:srgbClr val="FFFBF7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3M</a:t>
            </a:r>
            <a:endParaRPr lang="en-US" sz="788" dirty="0"/>
          </a:p>
        </p:txBody>
      </p:sp>
      <p:sp>
        <p:nvSpPr>
          <p:cNvPr id="13" name="Shape 9"/>
          <p:cNvSpPr/>
          <p:nvPr/>
        </p:nvSpPr>
        <p:spPr>
          <a:xfrm>
            <a:off x="1066800" y="2162175"/>
            <a:ext cx="1095375" cy="47625"/>
          </a:xfrm>
          <a:prstGeom prst="roundRect">
            <a:avLst>
              <a:gd name="adj" fmla="val 2000000"/>
            </a:avLst>
          </a:prstGeom>
          <a:solidFill>
            <a:srgbClr val="F5E0D6"/>
          </a:solidFill>
          <a:ln/>
        </p:spPr>
      </p:sp>
      <p:sp>
        <p:nvSpPr>
          <p:cNvPr id="14" name="Shape 10"/>
          <p:cNvSpPr/>
          <p:nvPr/>
        </p:nvSpPr>
        <p:spPr>
          <a:xfrm>
            <a:off x="1066800" y="2162175"/>
            <a:ext cx="762000" cy="47625"/>
          </a:xfrm>
          <a:prstGeom prst="roundRect">
            <a:avLst>
              <a:gd name="adj" fmla="val 2000000"/>
            </a:avLst>
          </a:prstGeom>
          <a:solidFill>
            <a:srgbClr val="FFFFFF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2217390" y="2121098"/>
            <a:ext cx="259110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3.5%</a:t>
            </a:r>
            <a:endParaRPr lang="en-US" sz="788" dirty="0"/>
          </a:p>
        </p:txBody>
      </p:sp>
      <p:sp>
        <p:nvSpPr>
          <p:cNvPr id="16" name="Text 12"/>
          <p:cNvSpPr txBox="1"/>
          <p:nvPr/>
        </p:nvSpPr>
        <p:spPr>
          <a:xfrm>
            <a:off x="647700" y="2328267"/>
            <a:ext cx="361950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spc="32" kern="0" dirty="0">
                <a:solidFill>
                  <a:srgbClr val="FFFBF7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6M</a:t>
            </a:r>
            <a:endParaRPr lang="en-US" sz="788" dirty="0"/>
          </a:p>
        </p:txBody>
      </p:sp>
      <p:sp>
        <p:nvSpPr>
          <p:cNvPr id="17" name="Shape 13"/>
          <p:cNvSpPr/>
          <p:nvPr/>
        </p:nvSpPr>
        <p:spPr>
          <a:xfrm>
            <a:off x="1066800" y="2371725"/>
            <a:ext cx="1190625" cy="47625"/>
          </a:xfrm>
          <a:prstGeom prst="roundRect">
            <a:avLst>
              <a:gd name="adj" fmla="val 2000000"/>
            </a:avLst>
          </a:prstGeom>
          <a:solidFill>
            <a:srgbClr val="F5E0D6"/>
          </a:solidFill>
          <a:ln/>
        </p:spPr>
      </p:sp>
      <p:sp>
        <p:nvSpPr>
          <p:cNvPr id="18" name="Shape 14"/>
          <p:cNvSpPr/>
          <p:nvPr/>
        </p:nvSpPr>
        <p:spPr>
          <a:xfrm>
            <a:off x="1066800" y="2371725"/>
            <a:ext cx="1190625" cy="47625"/>
          </a:xfrm>
          <a:prstGeom prst="roundRect">
            <a:avLst>
              <a:gd name="adj" fmla="val 2000000"/>
            </a:avLst>
          </a:prstGeom>
          <a:solidFill>
            <a:srgbClr val="D1886B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2312640" y="2328267"/>
            <a:ext cx="163860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5%</a:t>
            </a:r>
            <a:endParaRPr lang="en-US" sz="788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900113"/>
            <a:ext cx="2476500" cy="1949648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2924175" y="1295400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DF0E9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6088" y="1366838"/>
            <a:ext cx="142875" cy="114300"/>
          </a:xfrm>
          <a:prstGeom prst="rect">
            <a:avLst/>
          </a:prstGeom>
        </p:spPr>
      </p:pic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2780" y="1314450"/>
            <a:ext cx="591145" cy="21907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218980" y="1362075"/>
            <a:ext cx="438745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</a:t>
            </a:r>
            <a:endParaRPr lang="en-US" sz="750" dirty="0"/>
          </a:p>
        </p:txBody>
      </p:sp>
      <p:sp>
        <p:nvSpPr>
          <p:cNvPr id="25" name="Text 18"/>
          <p:cNvSpPr txBox="1"/>
          <p:nvPr/>
        </p:nvSpPr>
        <p:spPr>
          <a:xfrm>
            <a:off x="2924175" y="1662113"/>
            <a:ext cx="180975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150"/>
              </a:spcAft>
              <a:buNone/>
            </a:pPr>
            <a:r>
              <a:rPr lang="en-US" sz="750" b="1" spc="60" kern="0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FOLLOWERS</a:t>
            </a:r>
            <a:endParaRPr lang="en-US" sz="750" dirty="0"/>
          </a:p>
        </p:txBody>
      </p:sp>
      <p:sp>
        <p:nvSpPr>
          <p:cNvPr id="26" name="Text 19"/>
          <p:cNvSpPr txBox="1"/>
          <p:nvPr/>
        </p:nvSpPr>
        <p:spPr>
          <a:xfrm>
            <a:off x="2924175" y="1814513"/>
            <a:ext cx="1809750" cy="2303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5"/>
              </a:lnSpc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~50K</a:t>
            </a:r>
            <a:endParaRPr lang="en-US" sz="1650" dirty="0"/>
          </a:p>
        </p:txBody>
      </p:sp>
      <p:sp>
        <p:nvSpPr>
          <p:cNvPr id="27" name="Text 20"/>
          <p:cNvSpPr txBox="1"/>
          <p:nvPr/>
        </p:nvSpPr>
        <p:spPr>
          <a:xfrm>
            <a:off x="2924175" y="2130623"/>
            <a:ext cx="361950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spc="32" kern="0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3M</a:t>
            </a:r>
            <a:endParaRPr lang="en-US" sz="788" dirty="0"/>
          </a:p>
        </p:txBody>
      </p:sp>
      <p:sp>
        <p:nvSpPr>
          <p:cNvPr id="28" name="Shape 21"/>
          <p:cNvSpPr/>
          <p:nvPr/>
        </p:nvSpPr>
        <p:spPr>
          <a:xfrm>
            <a:off x="3343275" y="2171700"/>
            <a:ext cx="1085850" cy="47625"/>
          </a:xfrm>
          <a:prstGeom prst="roundRect">
            <a:avLst>
              <a:gd name="adj" fmla="val 2000000"/>
            </a:avLst>
          </a:prstGeom>
          <a:solidFill>
            <a:srgbClr val="F5E0D6"/>
          </a:solidFill>
          <a:ln/>
        </p:spPr>
      </p:sp>
      <p:sp>
        <p:nvSpPr>
          <p:cNvPr id="29" name="Shape 22"/>
          <p:cNvSpPr/>
          <p:nvPr/>
        </p:nvSpPr>
        <p:spPr>
          <a:xfrm>
            <a:off x="3343275" y="2171700"/>
            <a:ext cx="542925" cy="47625"/>
          </a:xfrm>
          <a:prstGeom prst="roundRect">
            <a:avLst>
              <a:gd name="adj" fmla="val 2000000"/>
            </a:avLst>
          </a:prstGeom>
          <a:solidFill>
            <a:srgbClr val="4A2315"/>
          </a:solidFill>
          <a:ln/>
        </p:spPr>
      </p:sp>
      <p:sp>
        <p:nvSpPr>
          <p:cNvPr id="30" name="Text 23"/>
          <p:cNvSpPr txBox="1"/>
          <p:nvPr/>
        </p:nvSpPr>
        <p:spPr>
          <a:xfrm>
            <a:off x="4483894" y="2130623"/>
            <a:ext cx="250031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100K</a:t>
            </a:r>
            <a:endParaRPr lang="en-US" sz="788" dirty="0"/>
          </a:p>
        </p:txBody>
      </p:sp>
      <p:sp>
        <p:nvSpPr>
          <p:cNvPr id="31" name="Text 24"/>
          <p:cNvSpPr txBox="1"/>
          <p:nvPr/>
        </p:nvSpPr>
        <p:spPr>
          <a:xfrm>
            <a:off x="2924175" y="2337792"/>
            <a:ext cx="361950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spc="32" kern="0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6M</a:t>
            </a:r>
            <a:endParaRPr lang="en-US" sz="788" dirty="0"/>
          </a:p>
        </p:txBody>
      </p:sp>
      <p:sp>
        <p:nvSpPr>
          <p:cNvPr id="32" name="Shape 25"/>
          <p:cNvSpPr/>
          <p:nvPr/>
        </p:nvSpPr>
        <p:spPr>
          <a:xfrm>
            <a:off x="3343275" y="2381250"/>
            <a:ext cx="1066800" cy="47625"/>
          </a:xfrm>
          <a:prstGeom prst="roundRect">
            <a:avLst>
              <a:gd name="adj" fmla="val 2000000"/>
            </a:avLst>
          </a:prstGeom>
          <a:solidFill>
            <a:srgbClr val="F5E0D6"/>
          </a:solidFill>
          <a:ln/>
        </p:spPr>
      </p:sp>
      <p:sp>
        <p:nvSpPr>
          <p:cNvPr id="33" name="Shape 26"/>
          <p:cNvSpPr/>
          <p:nvPr/>
        </p:nvSpPr>
        <p:spPr>
          <a:xfrm>
            <a:off x="3343275" y="2381250"/>
            <a:ext cx="1066800" cy="47625"/>
          </a:xfrm>
          <a:prstGeom prst="roundRect">
            <a:avLst>
              <a:gd name="adj" fmla="val 2000000"/>
            </a:avLst>
          </a:prstGeom>
          <a:solidFill>
            <a:srgbClr val="D1886B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4464100" y="2337792"/>
            <a:ext cx="269825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200K</a:t>
            </a:r>
            <a:endParaRPr lang="en-US" sz="788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0" y="900113"/>
            <a:ext cx="2476500" cy="1949648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5191125" y="1295400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DF0E9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7325" y="1366838"/>
            <a:ext cx="114300" cy="114300"/>
          </a:xfrm>
          <a:prstGeom prst="rect">
            <a:avLst/>
          </a:prstGeom>
        </p:spPr>
      </p:pic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2174" y="1314450"/>
            <a:ext cx="558701" cy="219075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6518374" y="1362075"/>
            <a:ext cx="40630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</a:t>
            </a:r>
            <a:endParaRPr lang="en-US" sz="750" dirty="0"/>
          </a:p>
        </p:txBody>
      </p:sp>
      <p:sp>
        <p:nvSpPr>
          <p:cNvPr id="40" name="Text 30"/>
          <p:cNvSpPr txBox="1"/>
          <p:nvPr/>
        </p:nvSpPr>
        <p:spPr>
          <a:xfrm>
            <a:off x="5191125" y="1662113"/>
            <a:ext cx="180975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150"/>
              </a:spcAft>
              <a:buNone/>
            </a:pPr>
            <a:r>
              <a:rPr lang="en-US" sz="750" b="1" spc="60" kern="0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WEBSITE VISITS</a:t>
            </a:r>
            <a:endParaRPr lang="en-US" sz="750" dirty="0"/>
          </a:p>
        </p:txBody>
      </p:sp>
      <p:sp>
        <p:nvSpPr>
          <p:cNvPr id="41" name="Text 31"/>
          <p:cNvSpPr txBox="1"/>
          <p:nvPr/>
        </p:nvSpPr>
        <p:spPr>
          <a:xfrm>
            <a:off x="5191125" y="1814513"/>
            <a:ext cx="1809750" cy="2303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5"/>
              </a:lnSpc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2K</a:t>
            </a:r>
            <a:pPr indent="0" marL="0">
              <a:buNone/>
            </a:pPr>
            <a:r>
              <a:rPr lang="en-US" sz="900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/mo</a:t>
            </a:r>
            <a:endParaRPr lang="en-US" sz="1650" dirty="0"/>
          </a:p>
        </p:txBody>
      </p:sp>
      <p:sp>
        <p:nvSpPr>
          <p:cNvPr id="42" name="Text 32"/>
          <p:cNvSpPr txBox="1"/>
          <p:nvPr/>
        </p:nvSpPr>
        <p:spPr>
          <a:xfrm>
            <a:off x="5191125" y="2130623"/>
            <a:ext cx="361950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spc="32" kern="0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3M</a:t>
            </a:r>
            <a:endParaRPr lang="en-US" sz="788" dirty="0"/>
          </a:p>
        </p:txBody>
      </p:sp>
      <p:sp>
        <p:nvSpPr>
          <p:cNvPr id="43" name="Shape 33"/>
          <p:cNvSpPr/>
          <p:nvPr/>
        </p:nvSpPr>
        <p:spPr>
          <a:xfrm>
            <a:off x="5610225" y="2171700"/>
            <a:ext cx="1200150" cy="47625"/>
          </a:xfrm>
          <a:prstGeom prst="roundRect">
            <a:avLst>
              <a:gd name="adj" fmla="val 2000000"/>
            </a:avLst>
          </a:prstGeom>
          <a:solidFill>
            <a:srgbClr val="F5E0D6"/>
          </a:solidFill>
          <a:ln/>
        </p:spPr>
      </p:sp>
      <p:sp>
        <p:nvSpPr>
          <p:cNvPr id="44" name="Shape 34"/>
          <p:cNvSpPr/>
          <p:nvPr/>
        </p:nvSpPr>
        <p:spPr>
          <a:xfrm>
            <a:off x="5610225" y="2171700"/>
            <a:ext cx="638175" cy="47625"/>
          </a:xfrm>
          <a:prstGeom prst="roundRect">
            <a:avLst>
              <a:gd name="adj" fmla="val 2000000"/>
            </a:avLst>
          </a:prstGeom>
          <a:solidFill>
            <a:srgbClr val="4A2315"/>
          </a:solidFill>
          <a:ln/>
        </p:spPr>
      </p:sp>
      <p:sp>
        <p:nvSpPr>
          <p:cNvPr id="45" name="Text 35"/>
          <p:cNvSpPr txBox="1"/>
          <p:nvPr/>
        </p:nvSpPr>
        <p:spPr>
          <a:xfrm>
            <a:off x="6863804" y="2130623"/>
            <a:ext cx="137071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8K</a:t>
            </a:r>
            <a:endParaRPr lang="en-US" sz="788" dirty="0"/>
          </a:p>
        </p:txBody>
      </p:sp>
      <p:sp>
        <p:nvSpPr>
          <p:cNvPr id="46" name="Text 36"/>
          <p:cNvSpPr txBox="1"/>
          <p:nvPr/>
        </p:nvSpPr>
        <p:spPr>
          <a:xfrm>
            <a:off x="5191125" y="2337792"/>
            <a:ext cx="361950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spc="32" kern="0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6M</a:t>
            </a:r>
            <a:endParaRPr lang="en-US" sz="788" dirty="0"/>
          </a:p>
        </p:txBody>
      </p:sp>
      <p:sp>
        <p:nvSpPr>
          <p:cNvPr id="47" name="Shape 37"/>
          <p:cNvSpPr/>
          <p:nvPr/>
        </p:nvSpPr>
        <p:spPr>
          <a:xfrm>
            <a:off x="5610225" y="2381250"/>
            <a:ext cx="1152525" cy="47625"/>
          </a:xfrm>
          <a:prstGeom prst="roundRect">
            <a:avLst>
              <a:gd name="adj" fmla="val 2000000"/>
            </a:avLst>
          </a:prstGeom>
          <a:solidFill>
            <a:srgbClr val="F5E0D6"/>
          </a:solidFill>
          <a:ln/>
        </p:spPr>
      </p:sp>
      <p:sp>
        <p:nvSpPr>
          <p:cNvPr id="48" name="Shape 38"/>
          <p:cNvSpPr/>
          <p:nvPr/>
        </p:nvSpPr>
        <p:spPr>
          <a:xfrm>
            <a:off x="5610225" y="2381250"/>
            <a:ext cx="1152525" cy="47625"/>
          </a:xfrm>
          <a:prstGeom prst="roundRect">
            <a:avLst>
              <a:gd name="adj" fmla="val 2000000"/>
            </a:avLst>
          </a:prstGeom>
          <a:solidFill>
            <a:srgbClr val="D1886B"/>
          </a:solidFill>
          <a:ln/>
        </p:spPr>
      </p:sp>
      <p:sp>
        <p:nvSpPr>
          <p:cNvPr id="49" name="Text 39"/>
          <p:cNvSpPr txBox="1"/>
          <p:nvPr/>
        </p:nvSpPr>
        <p:spPr>
          <a:xfrm>
            <a:off x="6823472" y="2337792"/>
            <a:ext cx="177403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15K</a:t>
            </a:r>
            <a:endParaRPr lang="en-US" sz="788" dirty="0"/>
          </a:p>
        </p:txBody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24700" y="900113"/>
            <a:ext cx="2476500" cy="1949648"/>
          </a:xfrm>
          <a:prstGeom prst="rect">
            <a:avLst/>
          </a:prstGeom>
        </p:spPr>
      </p:pic>
      <p:sp>
        <p:nvSpPr>
          <p:cNvPr id="51" name="Shape 40"/>
          <p:cNvSpPr/>
          <p:nvPr/>
        </p:nvSpPr>
        <p:spPr>
          <a:xfrm>
            <a:off x="7458075" y="1295400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9E8DF"/>
          </a:solidFill>
          <a:ln/>
        </p:spPr>
      </p:sp>
      <p:pic>
        <p:nvPicPr>
          <p:cNvPr id="5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41419" y="1366838"/>
            <a:ext cx="100013" cy="114300"/>
          </a:xfrm>
          <a:prstGeom prst="rect">
            <a:avLst/>
          </a:prstGeom>
        </p:spPr>
      </p:pic>
      <p:pic>
        <p:nvPicPr>
          <p:cNvPr id="5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11233" y="1314450"/>
            <a:ext cx="356592" cy="219075"/>
          </a:xfrm>
          <a:prstGeom prst="rect">
            <a:avLst/>
          </a:prstGeom>
        </p:spPr>
      </p:pic>
      <p:sp>
        <p:nvSpPr>
          <p:cNvPr id="54" name="Text 41"/>
          <p:cNvSpPr txBox="1"/>
          <p:nvPr/>
        </p:nvSpPr>
        <p:spPr>
          <a:xfrm>
            <a:off x="8987433" y="1362075"/>
            <a:ext cx="204192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CVR</a:t>
            </a:r>
            <a:endParaRPr lang="en-US" sz="750" dirty="0"/>
          </a:p>
        </p:txBody>
      </p:sp>
      <p:sp>
        <p:nvSpPr>
          <p:cNvPr id="55" name="Text 42"/>
          <p:cNvSpPr txBox="1"/>
          <p:nvPr/>
        </p:nvSpPr>
        <p:spPr>
          <a:xfrm>
            <a:off x="7458075" y="1662113"/>
            <a:ext cx="180975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150"/>
              </a:spcAft>
              <a:buNone/>
            </a:pPr>
            <a:r>
              <a:rPr lang="en-US" sz="750" b="1" spc="60" kern="0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 RATE</a:t>
            </a:r>
            <a:endParaRPr lang="en-US" sz="750" dirty="0"/>
          </a:p>
        </p:txBody>
      </p:sp>
      <p:sp>
        <p:nvSpPr>
          <p:cNvPr id="56" name="Text 43"/>
          <p:cNvSpPr txBox="1"/>
          <p:nvPr/>
        </p:nvSpPr>
        <p:spPr>
          <a:xfrm>
            <a:off x="7458075" y="1814513"/>
            <a:ext cx="1809750" cy="2303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5"/>
              </a:lnSpc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1-1.5%</a:t>
            </a:r>
            <a:endParaRPr lang="en-US" sz="1650" dirty="0"/>
          </a:p>
        </p:txBody>
      </p:sp>
      <p:sp>
        <p:nvSpPr>
          <p:cNvPr id="57" name="Text 44"/>
          <p:cNvSpPr txBox="1"/>
          <p:nvPr/>
        </p:nvSpPr>
        <p:spPr>
          <a:xfrm>
            <a:off x="7458075" y="2130623"/>
            <a:ext cx="361950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spc="32" kern="0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3M</a:t>
            </a:r>
            <a:endParaRPr lang="en-US" sz="788" dirty="0"/>
          </a:p>
        </p:txBody>
      </p:sp>
      <p:sp>
        <p:nvSpPr>
          <p:cNvPr id="58" name="Shape 45"/>
          <p:cNvSpPr/>
          <p:nvPr/>
        </p:nvSpPr>
        <p:spPr>
          <a:xfrm>
            <a:off x="7877175" y="2171700"/>
            <a:ext cx="1076325" cy="47625"/>
          </a:xfrm>
          <a:prstGeom prst="roundRect">
            <a:avLst>
              <a:gd name="adj" fmla="val 2000000"/>
            </a:avLst>
          </a:prstGeom>
          <a:solidFill>
            <a:srgbClr val="F5E0D6"/>
          </a:solidFill>
          <a:ln/>
        </p:spPr>
      </p:sp>
      <p:sp>
        <p:nvSpPr>
          <p:cNvPr id="59" name="Shape 46"/>
          <p:cNvSpPr/>
          <p:nvPr/>
        </p:nvSpPr>
        <p:spPr>
          <a:xfrm>
            <a:off x="7877175" y="2171700"/>
            <a:ext cx="762000" cy="47625"/>
          </a:xfrm>
          <a:prstGeom prst="roundRect">
            <a:avLst>
              <a:gd name="adj" fmla="val 2000000"/>
            </a:avLst>
          </a:prstGeom>
          <a:solidFill>
            <a:srgbClr val="4A2315"/>
          </a:solidFill>
          <a:ln/>
        </p:spPr>
      </p:sp>
      <p:sp>
        <p:nvSpPr>
          <p:cNvPr id="60" name="Text 47"/>
          <p:cNvSpPr txBox="1"/>
          <p:nvPr/>
        </p:nvSpPr>
        <p:spPr>
          <a:xfrm>
            <a:off x="9008269" y="2130623"/>
            <a:ext cx="259556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2.5%</a:t>
            </a:r>
            <a:endParaRPr lang="en-US" sz="788" dirty="0"/>
          </a:p>
        </p:txBody>
      </p:sp>
      <p:sp>
        <p:nvSpPr>
          <p:cNvPr id="61" name="Text 48"/>
          <p:cNvSpPr txBox="1"/>
          <p:nvPr/>
        </p:nvSpPr>
        <p:spPr>
          <a:xfrm>
            <a:off x="7458075" y="2337792"/>
            <a:ext cx="361950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spc="32" kern="0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6M</a:t>
            </a:r>
            <a:endParaRPr lang="en-US" sz="788" dirty="0"/>
          </a:p>
        </p:txBody>
      </p:sp>
      <p:sp>
        <p:nvSpPr>
          <p:cNvPr id="62" name="Shape 49"/>
          <p:cNvSpPr/>
          <p:nvPr/>
        </p:nvSpPr>
        <p:spPr>
          <a:xfrm>
            <a:off x="7877175" y="2381250"/>
            <a:ext cx="1076325" cy="47625"/>
          </a:xfrm>
          <a:prstGeom prst="roundRect">
            <a:avLst>
              <a:gd name="adj" fmla="val 2000000"/>
            </a:avLst>
          </a:prstGeom>
          <a:solidFill>
            <a:srgbClr val="F5E0D6"/>
          </a:solidFill>
          <a:ln/>
        </p:spPr>
      </p:sp>
      <p:sp>
        <p:nvSpPr>
          <p:cNvPr id="63" name="Shape 50"/>
          <p:cNvSpPr/>
          <p:nvPr/>
        </p:nvSpPr>
        <p:spPr>
          <a:xfrm>
            <a:off x="7877175" y="2381250"/>
            <a:ext cx="1076325" cy="47625"/>
          </a:xfrm>
          <a:prstGeom prst="roundRect">
            <a:avLst>
              <a:gd name="adj" fmla="val 2000000"/>
            </a:avLst>
          </a:prstGeom>
          <a:solidFill>
            <a:srgbClr val="D1886B"/>
          </a:solidFill>
          <a:ln/>
        </p:spPr>
      </p:sp>
      <p:sp>
        <p:nvSpPr>
          <p:cNvPr id="64" name="Text 51"/>
          <p:cNvSpPr txBox="1"/>
          <p:nvPr/>
        </p:nvSpPr>
        <p:spPr>
          <a:xfrm>
            <a:off x="9008715" y="2337792"/>
            <a:ext cx="259110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3.5%</a:t>
            </a:r>
            <a:endParaRPr lang="en-US" sz="788" dirty="0"/>
          </a:p>
        </p:txBody>
      </p:sp>
      <p:pic>
        <p:nvPicPr>
          <p:cNvPr id="6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91650" y="900113"/>
            <a:ext cx="2476500" cy="1949648"/>
          </a:xfrm>
          <a:prstGeom prst="rect">
            <a:avLst/>
          </a:prstGeom>
        </p:spPr>
      </p:pic>
      <p:sp>
        <p:nvSpPr>
          <p:cNvPr id="66" name="Shape 52"/>
          <p:cNvSpPr/>
          <p:nvPr/>
        </p:nvSpPr>
        <p:spPr>
          <a:xfrm>
            <a:off x="9725025" y="1295400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/>
        </p:spPr>
      </p:sp>
      <p:pic>
        <p:nvPicPr>
          <p:cNvPr id="6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01225" y="1366838"/>
            <a:ext cx="114300" cy="114300"/>
          </a:xfrm>
          <a:prstGeom prst="rect">
            <a:avLst/>
          </a:prstGeom>
        </p:spPr>
      </p:pic>
      <p:pic>
        <p:nvPicPr>
          <p:cNvPr id="6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161812" y="1314450"/>
            <a:ext cx="372963" cy="219075"/>
          </a:xfrm>
          <a:prstGeom prst="rect">
            <a:avLst/>
          </a:prstGeom>
        </p:spPr>
      </p:pic>
      <p:sp>
        <p:nvSpPr>
          <p:cNvPr id="69" name="Text 53"/>
          <p:cNvSpPr txBox="1"/>
          <p:nvPr/>
        </p:nvSpPr>
        <p:spPr>
          <a:xfrm>
            <a:off x="11238012" y="1362075"/>
            <a:ext cx="220563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</a:t>
            </a:r>
            <a:endParaRPr lang="en-US" sz="750" dirty="0"/>
          </a:p>
        </p:txBody>
      </p:sp>
      <p:sp>
        <p:nvSpPr>
          <p:cNvPr id="70" name="Text 54"/>
          <p:cNvSpPr txBox="1"/>
          <p:nvPr/>
        </p:nvSpPr>
        <p:spPr>
          <a:xfrm>
            <a:off x="9725025" y="1662113"/>
            <a:ext cx="180975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150"/>
              </a:spcAft>
              <a:buNone/>
            </a:pPr>
            <a:r>
              <a:rPr lang="en-US" sz="750" b="1" spc="60" kern="0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ROAS</a:t>
            </a:r>
            <a:endParaRPr lang="en-US" sz="750" dirty="0"/>
          </a:p>
        </p:txBody>
      </p:sp>
      <p:sp>
        <p:nvSpPr>
          <p:cNvPr id="71" name="Text 55"/>
          <p:cNvSpPr txBox="1"/>
          <p:nvPr/>
        </p:nvSpPr>
        <p:spPr>
          <a:xfrm>
            <a:off x="9725025" y="1814513"/>
            <a:ext cx="1809750" cy="2303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5"/>
              </a:lnSpc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</a:t>
            </a:r>
            <a:pPr indent="0" marL="0">
              <a:buNone/>
            </a:pPr>
            <a:r>
              <a:rPr lang="en-US" sz="825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pixel</a:t>
            </a:r>
            <a:endParaRPr lang="en-US" sz="1650" dirty="0"/>
          </a:p>
        </p:txBody>
      </p:sp>
      <p:sp>
        <p:nvSpPr>
          <p:cNvPr id="72" name="Text 56"/>
          <p:cNvSpPr txBox="1"/>
          <p:nvPr/>
        </p:nvSpPr>
        <p:spPr>
          <a:xfrm>
            <a:off x="9725025" y="2130623"/>
            <a:ext cx="361950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spc="32" kern="0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3M</a:t>
            </a:r>
            <a:endParaRPr lang="en-US" sz="788" dirty="0"/>
          </a:p>
        </p:txBody>
      </p:sp>
      <p:sp>
        <p:nvSpPr>
          <p:cNvPr id="73" name="Shape 57"/>
          <p:cNvSpPr/>
          <p:nvPr/>
        </p:nvSpPr>
        <p:spPr>
          <a:xfrm>
            <a:off x="10144125" y="2171700"/>
            <a:ext cx="1114425" cy="47625"/>
          </a:xfrm>
          <a:prstGeom prst="roundRect">
            <a:avLst>
              <a:gd name="adj" fmla="val 2000000"/>
            </a:avLst>
          </a:prstGeom>
          <a:solidFill>
            <a:srgbClr val="F5E0D6"/>
          </a:solidFill>
          <a:ln/>
        </p:spPr>
      </p:sp>
      <p:sp>
        <p:nvSpPr>
          <p:cNvPr id="74" name="Shape 58"/>
          <p:cNvSpPr/>
          <p:nvPr/>
        </p:nvSpPr>
        <p:spPr>
          <a:xfrm>
            <a:off x="10144125" y="2171700"/>
            <a:ext cx="695325" cy="47625"/>
          </a:xfrm>
          <a:prstGeom prst="roundRect">
            <a:avLst>
              <a:gd name="adj" fmla="val 2000000"/>
            </a:avLst>
          </a:prstGeom>
          <a:solidFill>
            <a:srgbClr val="4A2315"/>
          </a:solidFill>
          <a:ln/>
        </p:spPr>
      </p:sp>
      <p:sp>
        <p:nvSpPr>
          <p:cNvPr id="75" name="Text 59"/>
          <p:cNvSpPr txBox="1"/>
          <p:nvPr/>
        </p:nvSpPr>
        <p:spPr>
          <a:xfrm>
            <a:off x="11318677" y="2130623"/>
            <a:ext cx="216098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2.5x</a:t>
            </a:r>
            <a:endParaRPr lang="en-US" sz="788" dirty="0"/>
          </a:p>
        </p:txBody>
      </p:sp>
      <p:sp>
        <p:nvSpPr>
          <p:cNvPr id="76" name="Text 60"/>
          <p:cNvSpPr txBox="1"/>
          <p:nvPr/>
        </p:nvSpPr>
        <p:spPr>
          <a:xfrm>
            <a:off x="9725025" y="2337792"/>
            <a:ext cx="361950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spc="32" kern="0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6M</a:t>
            </a:r>
            <a:endParaRPr lang="en-US" sz="788" dirty="0"/>
          </a:p>
        </p:txBody>
      </p:sp>
      <p:sp>
        <p:nvSpPr>
          <p:cNvPr id="77" name="Shape 61"/>
          <p:cNvSpPr/>
          <p:nvPr/>
        </p:nvSpPr>
        <p:spPr>
          <a:xfrm>
            <a:off x="10144125" y="2381250"/>
            <a:ext cx="1209675" cy="47625"/>
          </a:xfrm>
          <a:prstGeom prst="roundRect">
            <a:avLst>
              <a:gd name="adj" fmla="val 2000000"/>
            </a:avLst>
          </a:prstGeom>
          <a:solidFill>
            <a:srgbClr val="F5E0D6"/>
          </a:solidFill>
          <a:ln/>
        </p:spPr>
      </p:sp>
      <p:sp>
        <p:nvSpPr>
          <p:cNvPr id="78" name="Shape 62"/>
          <p:cNvSpPr/>
          <p:nvPr/>
        </p:nvSpPr>
        <p:spPr>
          <a:xfrm>
            <a:off x="10144125" y="2381250"/>
            <a:ext cx="1209675" cy="47625"/>
          </a:xfrm>
          <a:prstGeom prst="roundRect">
            <a:avLst>
              <a:gd name="adj" fmla="val 2000000"/>
            </a:avLst>
          </a:prstGeom>
          <a:solidFill>
            <a:srgbClr val="D1886B"/>
          </a:solidFill>
          <a:ln/>
        </p:spPr>
      </p:sp>
      <p:sp>
        <p:nvSpPr>
          <p:cNvPr id="79" name="Text 63"/>
          <p:cNvSpPr txBox="1"/>
          <p:nvPr/>
        </p:nvSpPr>
        <p:spPr>
          <a:xfrm>
            <a:off x="11409015" y="2337792"/>
            <a:ext cx="125760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4x</a:t>
            </a:r>
            <a:endParaRPr lang="en-US" sz="788" dirty="0"/>
          </a:p>
        </p:txBody>
      </p:sp>
      <p:pic>
        <p:nvPicPr>
          <p:cNvPr id="8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5300" y="2773561"/>
            <a:ext cx="6364039" cy="3741539"/>
          </a:xfrm>
          <a:prstGeom prst="rect">
            <a:avLst/>
          </a:prstGeom>
        </p:spPr>
      </p:pic>
      <p:sp>
        <p:nvSpPr>
          <p:cNvPr id="81" name="Text 64"/>
          <p:cNvSpPr txBox="1"/>
          <p:nvPr/>
        </p:nvSpPr>
        <p:spPr>
          <a:xfrm>
            <a:off x="888057" y="4282380"/>
            <a:ext cx="5790307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750"/>
              </a:spcAft>
              <a:buNone/>
            </a:pPr>
            <a:r>
              <a:rPr lang="en-US" sz="900" b="1" spc="54" kern="0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FORECAST LOGIC — WHY TARGETS ACHIEVABLE</a:t>
            </a:r>
            <a:endParaRPr lang="en-US" sz="900" dirty="0"/>
          </a:p>
        </p:txBody>
      </p:sp>
      <p:pic>
        <p:nvPicPr>
          <p:cNvPr id="8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6275" y="4301430"/>
            <a:ext cx="135582" cy="114300"/>
          </a:xfrm>
          <a:prstGeom prst="rect">
            <a:avLst/>
          </a:prstGeom>
        </p:spPr>
      </p:pic>
      <p:pic>
        <p:nvPicPr>
          <p:cNvPr id="83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6275" y="4549080"/>
            <a:ext cx="190500" cy="190500"/>
          </a:xfrm>
          <a:prstGeom prst="rect">
            <a:avLst/>
          </a:prstGeom>
        </p:spPr>
      </p:pic>
      <p:sp>
        <p:nvSpPr>
          <p:cNvPr id="84" name="Text 65"/>
          <p:cNvSpPr txBox="1"/>
          <p:nvPr/>
        </p:nvSpPr>
        <p:spPr>
          <a:xfrm>
            <a:off x="942975" y="4549080"/>
            <a:ext cx="2333774" cy="1437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5.5M audience</a:t>
            </a:r>
            <a:pPr indent="0" marL="0">
              <a:buNone/>
            </a:pPr>
            <a:r>
              <a:rPr lang="en-US" sz="863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free reach &amp; pixel warm-up</a:t>
            </a:r>
            <a:endParaRPr lang="en-US" sz="863" dirty="0"/>
          </a:p>
        </p:txBody>
      </p:sp>
      <p:pic>
        <p:nvPicPr>
          <p:cNvPr id="85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753445" y="4549080"/>
            <a:ext cx="190500" cy="190500"/>
          </a:xfrm>
          <a:prstGeom prst="rect">
            <a:avLst/>
          </a:prstGeom>
        </p:spPr>
      </p:pic>
      <p:sp>
        <p:nvSpPr>
          <p:cNvPr id="86" name="Text 66"/>
          <p:cNvSpPr txBox="1"/>
          <p:nvPr/>
        </p:nvSpPr>
        <p:spPr>
          <a:xfrm>
            <a:off x="4020145" y="4549080"/>
            <a:ext cx="1605558" cy="1437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UGC + Circle</a:t>
            </a:r>
            <a:pPr indent="0" marL="0">
              <a:buNone/>
            </a:pPr>
            <a:r>
              <a:rPr lang="en-US" sz="863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drives organic 2x</a:t>
            </a:r>
            <a:endParaRPr lang="en-US" sz="863" dirty="0"/>
          </a:p>
        </p:txBody>
      </p:sp>
      <p:pic>
        <p:nvPicPr>
          <p:cNvPr id="87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76275" y="4825305"/>
            <a:ext cx="190500" cy="190500"/>
          </a:xfrm>
          <a:prstGeom prst="rect">
            <a:avLst/>
          </a:prstGeom>
        </p:spPr>
      </p:pic>
      <p:sp>
        <p:nvSpPr>
          <p:cNvPr id="88" name="Text 67"/>
          <p:cNvSpPr txBox="1"/>
          <p:nvPr/>
        </p:nvSpPr>
        <p:spPr>
          <a:xfrm>
            <a:off x="942975" y="4825305"/>
            <a:ext cx="1636216" cy="1437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Skincare-infused</a:t>
            </a:r>
            <a:pPr indent="0" marL="0">
              <a:buNone/>
            </a:pPr>
            <a:r>
              <a:rPr lang="en-US" sz="863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differentiates</a:t>
            </a:r>
            <a:endParaRPr lang="en-US" sz="863" dirty="0"/>
          </a:p>
        </p:txBody>
      </p:sp>
      <p:pic>
        <p:nvPicPr>
          <p:cNvPr id="89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753445" y="4825305"/>
            <a:ext cx="190500" cy="190500"/>
          </a:xfrm>
          <a:prstGeom prst="rect">
            <a:avLst/>
          </a:prstGeom>
        </p:spPr>
      </p:pic>
      <p:sp>
        <p:nvSpPr>
          <p:cNvPr id="90" name="Text 68"/>
          <p:cNvSpPr txBox="1"/>
          <p:nvPr/>
        </p:nvSpPr>
        <p:spPr>
          <a:xfrm>
            <a:off x="4020145" y="4825305"/>
            <a:ext cx="1632793" cy="1437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b="1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₹2Cr proof</a:t>
            </a:r>
            <a:pPr indent="0" marL="0">
              <a:buNone/>
            </a:pPr>
            <a:r>
              <a:rPr lang="en-US" sz="863" dirty="0">
                <a:solidFill>
                  <a:srgbClr val="2B1E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PMF, 294 reviews</a:t>
            </a:r>
            <a:endParaRPr lang="en-US" sz="863" dirty="0"/>
          </a:p>
        </p:txBody>
      </p:sp>
      <p:sp>
        <p:nvSpPr>
          <p:cNvPr id="91" name="Shape 69"/>
          <p:cNvSpPr/>
          <p:nvPr/>
        </p:nvSpPr>
        <p:spPr>
          <a:xfrm>
            <a:off x="6991350" y="2771775"/>
            <a:ext cx="4705350" cy="3743325"/>
          </a:xfrm>
          <a:prstGeom prst="roundRect">
            <a:avLst>
              <a:gd name="adj" fmla="val 4071"/>
            </a:avLst>
          </a:prstGeom>
          <a:solidFill>
            <a:srgbClr val="2B1E1E"/>
          </a:solidFill>
          <a:ln/>
        </p:spPr>
      </p:sp>
      <p:sp>
        <p:nvSpPr>
          <p:cNvPr id="92" name="Text 70"/>
          <p:cNvSpPr txBox="1"/>
          <p:nvPr/>
        </p:nvSpPr>
        <p:spPr>
          <a:xfrm>
            <a:off x="7164139" y="4213324"/>
            <a:ext cx="4360962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750"/>
              </a:spcAft>
              <a:buNone/>
            </a:pPr>
            <a:r>
              <a:rPr lang="en-US" sz="825" b="1" spc="83" kern="0" dirty="0">
                <a:solidFill>
                  <a:srgbClr val="FFFBF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FUNNEL IMPACT</a:t>
            </a:r>
            <a:endParaRPr lang="en-US" sz="825" dirty="0"/>
          </a:p>
        </p:txBody>
      </p:sp>
      <p:pic>
        <p:nvPicPr>
          <p:cNvPr id="93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164139" y="4513362"/>
            <a:ext cx="57150" cy="57150"/>
          </a:xfrm>
          <a:prstGeom prst="rect">
            <a:avLst/>
          </a:prstGeom>
        </p:spPr>
      </p:pic>
      <p:sp>
        <p:nvSpPr>
          <p:cNvPr id="94" name="Text 71"/>
          <p:cNvSpPr txBox="1"/>
          <p:nvPr/>
        </p:nvSpPr>
        <p:spPr>
          <a:xfrm>
            <a:off x="7162800" y="4514850"/>
            <a:ext cx="57150" cy="571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Text 72"/>
          <p:cNvSpPr txBox="1"/>
          <p:nvPr/>
        </p:nvSpPr>
        <p:spPr>
          <a:xfrm>
            <a:off x="7316539" y="4465737"/>
            <a:ext cx="3778895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Reel views 5-10K → 50K</a:t>
            </a:r>
            <a:endParaRPr lang="en-US" sz="900" dirty="0"/>
          </a:p>
        </p:txBody>
      </p:sp>
      <p:sp>
        <p:nvSpPr>
          <p:cNvPr id="96" name="Text 73"/>
          <p:cNvSpPr txBox="1"/>
          <p:nvPr/>
        </p:nvSpPr>
        <p:spPr>
          <a:xfrm>
            <a:off x="11190684" y="4465737"/>
            <a:ext cx="334417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5x</a:t>
            </a:r>
            <a:endParaRPr lang="en-US" sz="900" dirty="0"/>
          </a:p>
        </p:txBody>
      </p:sp>
      <p:pic>
        <p:nvPicPr>
          <p:cNvPr id="97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164139" y="4741962"/>
            <a:ext cx="57150" cy="57150"/>
          </a:xfrm>
          <a:prstGeom prst="rect">
            <a:avLst/>
          </a:prstGeom>
        </p:spPr>
      </p:pic>
      <p:sp>
        <p:nvSpPr>
          <p:cNvPr id="98" name="Text 74"/>
          <p:cNvSpPr txBox="1"/>
          <p:nvPr/>
        </p:nvSpPr>
        <p:spPr>
          <a:xfrm>
            <a:off x="7162800" y="4743450"/>
            <a:ext cx="57150" cy="571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9" name="Text 75"/>
          <p:cNvSpPr txBox="1"/>
          <p:nvPr/>
        </p:nvSpPr>
        <p:spPr>
          <a:xfrm>
            <a:off x="7316539" y="4694337"/>
            <a:ext cx="3778895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 15% → 25%</a:t>
            </a:r>
            <a:endParaRPr lang="en-US" sz="900" dirty="0"/>
          </a:p>
        </p:txBody>
      </p:sp>
      <p:sp>
        <p:nvSpPr>
          <p:cNvPr id="100" name="Text 76"/>
          <p:cNvSpPr txBox="1"/>
          <p:nvPr/>
        </p:nvSpPr>
        <p:spPr>
          <a:xfrm>
            <a:off x="11190684" y="4694337"/>
            <a:ext cx="334417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+67%</a:t>
            </a:r>
            <a:endParaRPr lang="en-US" sz="900" dirty="0"/>
          </a:p>
        </p:txBody>
      </p:sp>
      <p:pic>
        <p:nvPicPr>
          <p:cNvPr id="101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164139" y="4970562"/>
            <a:ext cx="57150" cy="57150"/>
          </a:xfrm>
          <a:prstGeom prst="rect">
            <a:avLst/>
          </a:prstGeom>
        </p:spPr>
      </p:pic>
      <p:sp>
        <p:nvSpPr>
          <p:cNvPr id="102" name="Text 77"/>
          <p:cNvSpPr txBox="1"/>
          <p:nvPr/>
        </p:nvSpPr>
        <p:spPr>
          <a:xfrm>
            <a:off x="7162800" y="4972050"/>
            <a:ext cx="57150" cy="571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3" name="Text 78"/>
          <p:cNvSpPr txBox="1"/>
          <p:nvPr/>
        </p:nvSpPr>
        <p:spPr>
          <a:xfrm>
            <a:off x="7316539" y="4922937"/>
            <a:ext cx="3778895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Organic drives 70% traffic</a:t>
            </a:r>
            <a:endParaRPr lang="en-US" sz="900" dirty="0"/>
          </a:p>
        </p:txBody>
      </p:sp>
      <p:sp>
        <p:nvSpPr>
          <p:cNvPr id="104" name="Text 79"/>
          <p:cNvSpPr txBox="1"/>
          <p:nvPr/>
        </p:nvSpPr>
        <p:spPr>
          <a:xfrm>
            <a:off x="11190684" y="4922937"/>
            <a:ext cx="334417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352425"/>
            <a:ext cx="1112520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38"/>
              </a:lnSpc>
              <a:spcAft>
                <a:spcPts val="600"/>
              </a:spcAft>
              <a:buNone/>
            </a:pPr>
            <a:r>
              <a:rPr lang="en-US" sz="825" b="1" spc="165" kern="0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&amp; CONCLUSION</a:t>
            </a:r>
            <a:endParaRPr lang="en-US" sz="825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576263"/>
            <a:ext cx="11125200" cy="4000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50"/>
              </a:lnSpc>
              <a:spcAft>
                <a:spcPts val="1500"/>
              </a:spcAft>
              <a:buNone/>
            </a:pPr>
            <a:r>
              <a:rPr lang="en-US" sz="300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Seekh + Conclusion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950" y="938213"/>
            <a:ext cx="3962400" cy="166002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19175" y="1400175"/>
            <a:ext cx="2952750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600"/>
              </a:spcAft>
              <a:buNone/>
            </a:pPr>
            <a:r>
              <a:rPr lang="en-US" sz="750" b="1" spc="90" kern="0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LEARNING 01</a:t>
            </a:r>
            <a:endParaRPr lang="en-US" sz="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347788"/>
            <a:ext cx="228600" cy="228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14375" y="1352550"/>
            <a:ext cx="228600" cy="228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 txBox="1"/>
          <p:nvPr/>
        </p:nvSpPr>
        <p:spPr>
          <a:xfrm>
            <a:off x="828675" y="1466850"/>
            <a:ext cx="0" cy="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 txBox="1"/>
          <p:nvPr/>
        </p:nvSpPr>
        <p:spPr>
          <a:xfrm>
            <a:off x="714375" y="1652588"/>
            <a:ext cx="3257550" cy="1666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Creator trust = power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714375" y="1885950"/>
            <a:ext cx="3257550" cy="32176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2B1E1E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5.5M followers sirf audience nahi — ready-made testing group. Brand sunta hai, bolta nahi. Yahi taakat.</a:t>
            </a:r>
            <a:endParaRPr lang="en-US" sz="9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938213"/>
            <a:ext cx="3962400" cy="1660029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772025" y="1400175"/>
            <a:ext cx="2952750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600"/>
              </a:spcAft>
              <a:buNone/>
            </a:pPr>
            <a:r>
              <a:rPr lang="en-US" sz="750" b="1" spc="90" kern="0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LEARNING 02</a:t>
            </a:r>
            <a:endParaRPr lang="en-US" sz="7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7225" y="1347788"/>
            <a:ext cx="228600" cy="2286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467225" y="1352550"/>
            <a:ext cx="228600" cy="228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4049" y="1414463"/>
            <a:ext cx="94804" cy="9525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4467225" y="1652588"/>
            <a:ext cx="3257550" cy="1666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hi marketing hai</a:t>
            </a:r>
            <a:endParaRPr lang="en-US" sz="1050" dirty="0"/>
          </a:p>
        </p:txBody>
      </p:sp>
      <p:sp>
        <p:nvSpPr>
          <p:cNvPr id="17" name="Text 10"/>
          <p:cNvSpPr txBox="1"/>
          <p:nvPr/>
        </p:nvSpPr>
        <p:spPr>
          <a:xfrm>
            <a:off x="4467225" y="1885950"/>
            <a:ext cx="3257550" cy="32176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2B1E1E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Skincare-infused formula har use pe promise yaad dilata hai. 294 reviews on Brew = deep engagement.</a:t>
            </a:r>
            <a:endParaRPr lang="en-US" sz="9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7650" y="938213"/>
            <a:ext cx="3962400" cy="1660029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8524875" y="1400175"/>
            <a:ext cx="2952750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600"/>
              </a:spcAft>
              <a:buNone/>
            </a:pPr>
            <a:r>
              <a:rPr lang="en-US" sz="750" b="1" spc="90" kern="0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LEARNING 03</a:t>
            </a:r>
            <a:endParaRPr lang="en-US" sz="7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0075" y="1347788"/>
            <a:ext cx="228600" cy="22860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8220075" y="1352550"/>
            <a:ext cx="228600" cy="228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0946" y="1414463"/>
            <a:ext cx="106710" cy="95250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8220075" y="1652588"/>
            <a:ext cx="3257550" cy="1666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Sasta + Aspirational possible</a:t>
            </a:r>
            <a:endParaRPr lang="en-US" sz="1050" dirty="0"/>
          </a:p>
        </p:txBody>
      </p:sp>
      <p:sp>
        <p:nvSpPr>
          <p:cNvPr id="24" name="Text 14"/>
          <p:cNvSpPr txBox="1"/>
          <p:nvPr/>
        </p:nvSpPr>
        <p:spPr>
          <a:xfrm>
            <a:off x="8220075" y="1885950"/>
            <a:ext cx="3257550" cy="32176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2B1E1E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 Z ko Western vibe @ ₹499 chahiye. Mrucha ne ₹389-₹1,649 me premium feel diya.</a:t>
            </a:r>
            <a:endParaRPr lang="en-US" sz="900" dirty="0"/>
          </a:p>
        </p:txBody>
      </p:sp>
      <p:sp>
        <p:nvSpPr>
          <p:cNvPr id="25" name="Shape 15"/>
          <p:cNvSpPr/>
          <p:nvPr/>
        </p:nvSpPr>
        <p:spPr>
          <a:xfrm>
            <a:off x="533400" y="2543175"/>
            <a:ext cx="6867525" cy="3457575"/>
          </a:xfrm>
          <a:prstGeom prst="roundRect">
            <a:avLst>
              <a:gd name="adj" fmla="val 4959"/>
            </a:avLst>
          </a:prstGeom>
          <a:solidFill>
            <a:srgbClr val="4A2315"/>
          </a:solidFill>
          <a:ln/>
        </p:spPr>
      </p:sp>
      <p:sp>
        <p:nvSpPr>
          <p:cNvPr id="26" name="Text 16"/>
          <p:cNvSpPr txBox="1"/>
          <p:nvPr/>
        </p:nvSpPr>
        <p:spPr>
          <a:xfrm>
            <a:off x="6260306" y="2160091"/>
            <a:ext cx="1524000" cy="15240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36656" y="2541091"/>
            <a:ext cx="4121944" cy="2015430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7746206" y="2712541"/>
            <a:ext cx="3731419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450"/>
              </a:spcAft>
              <a:buNone/>
            </a:pPr>
            <a:r>
              <a:rPr lang="en-US" sz="825" b="1" spc="83" kern="0" dirty="0">
                <a:solidFill>
                  <a:srgbClr val="D188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TAKEAWAY</a:t>
            </a:r>
            <a:endParaRPr lang="en-US" sz="825" dirty="0"/>
          </a:p>
        </p:txBody>
      </p:sp>
      <p:sp>
        <p:nvSpPr>
          <p:cNvPr id="29" name="Text 18"/>
          <p:cNvSpPr txBox="1"/>
          <p:nvPr/>
        </p:nvSpPr>
        <p:spPr>
          <a:xfrm>
            <a:off x="7746206" y="2917329"/>
            <a:ext cx="3731419" cy="35986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4A23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Mrucha sirf “Mrunal ka brand” nahi — Gen Z beauty powerhouse ban sakta hai.</a:t>
            </a:r>
            <a:endParaRPr lang="en-US" sz="1050" dirty="0"/>
          </a:p>
        </p:txBody>
      </p:sp>
      <p:sp>
        <p:nvSpPr>
          <p:cNvPr id="30" name="Text 19"/>
          <p:cNvSpPr txBox="1"/>
          <p:nvPr/>
        </p:nvSpPr>
        <p:spPr>
          <a:xfrm>
            <a:off x="7746206" y="3381970"/>
            <a:ext cx="3731419" cy="29706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spcBef>
                <a:spcPts val="750"/>
              </a:spcBef>
              <a:buNone/>
            </a:pPr>
            <a:r>
              <a:rPr lang="en-US" sz="863" dirty="0">
                <a:solidFill>
                  <a:srgbClr val="2B1E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 community ko sunna hai, product achha rakhna hai, consistently content banana hai.</a:t>
            </a:r>
            <a:endParaRPr lang="en-US" sz="863" dirty="0"/>
          </a:p>
        </p:txBody>
      </p:sp>
      <p:sp>
        <p:nvSpPr>
          <p:cNvPr id="31" name="Shape 20"/>
          <p:cNvSpPr/>
          <p:nvPr/>
        </p:nvSpPr>
        <p:spPr>
          <a:xfrm>
            <a:off x="7534275" y="4686300"/>
            <a:ext cx="1314450" cy="1304925"/>
          </a:xfrm>
          <a:prstGeom prst="roundRect">
            <a:avLst>
              <a:gd name="adj" fmla="val 7299"/>
            </a:avLst>
          </a:prstGeom>
          <a:solidFill>
            <a:srgbClr val="FDF0E9"/>
          </a:solidFill>
          <a:ln/>
        </p:spPr>
      </p:sp>
      <p:sp>
        <p:nvSpPr>
          <p:cNvPr id="32" name="Text 21"/>
          <p:cNvSpPr txBox="1"/>
          <p:nvPr/>
        </p:nvSpPr>
        <p:spPr>
          <a:xfrm>
            <a:off x="7650956" y="4804172"/>
            <a:ext cx="1088231" cy="2381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4A231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₹2Cr</a:t>
            </a:r>
            <a:endParaRPr lang="en-US" sz="1350" dirty="0"/>
          </a:p>
        </p:txBody>
      </p:sp>
      <p:sp>
        <p:nvSpPr>
          <p:cNvPr id="33" name="Text 22"/>
          <p:cNvSpPr txBox="1"/>
          <p:nvPr/>
        </p:nvSpPr>
        <p:spPr>
          <a:xfrm>
            <a:off x="7650956" y="5051822"/>
            <a:ext cx="1088082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2B1E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</a:t>
            </a:r>
            <a:endParaRPr lang="en-US" sz="750" dirty="0"/>
          </a:p>
        </p:txBody>
      </p:sp>
      <p:sp>
        <p:nvSpPr>
          <p:cNvPr id="34" name="Shape 23"/>
          <p:cNvSpPr/>
          <p:nvPr/>
        </p:nvSpPr>
        <p:spPr>
          <a:xfrm>
            <a:off x="8934450" y="4686300"/>
            <a:ext cx="1314450" cy="1304925"/>
          </a:xfrm>
          <a:prstGeom prst="roundRect">
            <a:avLst>
              <a:gd name="adj" fmla="val 7299"/>
            </a:avLst>
          </a:prstGeom>
          <a:solidFill>
            <a:srgbClr val="F9E8DF"/>
          </a:solidFill>
          <a:ln/>
        </p:spPr>
      </p:sp>
      <p:sp>
        <p:nvSpPr>
          <p:cNvPr id="35" name="Text 24"/>
          <p:cNvSpPr txBox="1"/>
          <p:nvPr/>
        </p:nvSpPr>
        <p:spPr>
          <a:xfrm>
            <a:off x="9043988" y="4804172"/>
            <a:ext cx="1088082" cy="2381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4A231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5.5M</a:t>
            </a:r>
            <a:endParaRPr lang="en-US" sz="1350" dirty="0"/>
          </a:p>
        </p:txBody>
      </p:sp>
      <p:sp>
        <p:nvSpPr>
          <p:cNvPr id="36" name="Text 25"/>
          <p:cNvSpPr txBox="1"/>
          <p:nvPr/>
        </p:nvSpPr>
        <p:spPr>
          <a:xfrm>
            <a:off x="9043988" y="5051822"/>
            <a:ext cx="1088231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2B1E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</a:t>
            </a:r>
            <a:endParaRPr lang="en-US" sz="750" dirty="0"/>
          </a:p>
        </p:txBody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22719" y="4689872"/>
            <a:ext cx="1335881" cy="1306116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10446544" y="4813697"/>
            <a:ext cx="1088082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A2315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#Circle</a:t>
            </a:r>
            <a:endParaRPr lang="en-US" sz="1200" dirty="0"/>
          </a:p>
        </p:txBody>
      </p:sp>
      <p:sp>
        <p:nvSpPr>
          <p:cNvPr id="39" name="Text 27"/>
          <p:cNvSpPr txBox="1"/>
          <p:nvPr/>
        </p:nvSpPr>
        <p:spPr>
          <a:xfrm>
            <a:off x="10446544" y="5032772"/>
            <a:ext cx="1088082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2B1E1E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MOAT</a:t>
            </a:r>
            <a:endParaRPr lang="en-US" sz="750" dirty="0"/>
          </a:p>
        </p:txBody>
      </p:sp>
      <p:sp>
        <p:nvSpPr>
          <p:cNvPr id="40" name="Shape 28"/>
          <p:cNvSpPr/>
          <p:nvPr/>
        </p:nvSpPr>
        <p:spPr>
          <a:xfrm>
            <a:off x="533400" y="6134100"/>
            <a:ext cx="11125200" cy="390525"/>
          </a:xfrm>
          <a:prstGeom prst="roundRect">
            <a:avLst>
              <a:gd name="adj" fmla="val 29268"/>
            </a:avLst>
          </a:prstGeom>
          <a:solidFill>
            <a:srgbClr val="4A2315"/>
          </a:solidFill>
          <a:ln/>
        </p:spPr>
      </p:sp>
      <p:sp>
        <p:nvSpPr>
          <p:cNvPr id="41" name="Text 29"/>
          <p:cNvSpPr txBox="1"/>
          <p:nvPr/>
        </p:nvSpPr>
        <p:spPr>
          <a:xfrm>
            <a:off x="685800" y="6253163"/>
            <a:ext cx="1411188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Raheen Pathan</a:t>
            </a:r>
            <a:pPr indent="0" marL="0">
              <a:buNone/>
            </a:pPr>
            <a:r>
              <a:rPr lang="en-US" sz="825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Sep 2026</a:t>
            </a:r>
            <a:endParaRPr lang="en-US" sz="825" dirty="0"/>
          </a:p>
        </p:txBody>
      </p:sp>
      <p:sp>
        <p:nvSpPr>
          <p:cNvPr id="42" name="Text 30"/>
          <p:cNvSpPr txBox="1"/>
          <p:nvPr/>
        </p:nvSpPr>
        <p:spPr>
          <a:xfrm>
            <a:off x="2249388" y="6253163"/>
            <a:ext cx="1863477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Submitted to </a:t>
            </a:r>
            <a:pPr indent="0" marL="0">
              <a:buNone/>
            </a:pPr>
            <a:r>
              <a:rPr lang="en-US" sz="825" b="1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Mr. Sanchit Khandelwal</a:t>
            </a:r>
            <a:endParaRPr lang="en-US" sz="825" dirty="0"/>
          </a:p>
        </p:txBody>
      </p:sp>
      <p:sp>
        <p:nvSpPr>
          <p:cNvPr id="43" name="Text 31"/>
          <p:cNvSpPr txBox="1"/>
          <p:nvPr/>
        </p:nvSpPr>
        <p:spPr>
          <a:xfrm>
            <a:off x="4265265" y="6253163"/>
            <a:ext cx="61853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mrucha.com</a:t>
            </a:r>
            <a:endParaRPr lang="en-US" sz="825" dirty="0"/>
          </a:p>
        </p:txBody>
      </p:sp>
      <p:sp>
        <p:nvSpPr>
          <p:cNvPr id="44" name="Text 32"/>
          <p:cNvSpPr txBox="1"/>
          <p:nvPr/>
        </p:nvSpPr>
        <p:spPr>
          <a:xfrm>
            <a:off x="8476059" y="6253163"/>
            <a:ext cx="3030141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FFFBF7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Study • Skincare-Infused Makeup for Indian Skin Tones</a:t>
            </a:r>
            <a:endParaRPr lang="en-US" sz="825" dirty="0"/>
          </a:p>
        </p:txBody>
      </p:sp>
      <p:sp>
        <p:nvSpPr>
          <p:cNvPr id="45" name="Text 33"/>
          <p:cNvSpPr txBox="1"/>
          <p:nvPr/>
        </p:nvSpPr>
        <p:spPr>
          <a:xfrm>
            <a:off x="742950" y="3828455"/>
            <a:ext cx="6450806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Mrucha Beauty — 1 saal me kamaal</a:t>
            </a:r>
            <a:endParaRPr lang="en-US" sz="1200" dirty="0"/>
          </a:p>
        </p:txBody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2950" y="4133255"/>
            <a:ext cx="114300" cy="159990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933450" y="4133255"/>
            <a:ext cx="4592241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₹2 Crore sales in 5 months + Hurun India Top Founder Ranking + Loyal Mrucha Circle</a:t>
            </a:r>
            <a:endParaRPr lang="en-US" sz="900" dirty="0"/>
          </a:p>
        </p:txBody>
      </p:sp>
      <p:pic>
        <p:nvPicPr>
          <p:cNvPr id="4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2950" y="4350395"/>
            <a:ext cx="100013" cy="159990"/>
          </a:xfrm>
          <a:prstGeom prst="rect">
            <a:avLst/>
          </a:prstGeom>
        </p:spPr>
      </p:pic>
      <p:sp>
        <p:nvSpPr>
          <p:cNvPr id="49" name="Text 35"/>
          <p:cNvSpPr txBox="1"/>
          <p:nvPr/>
        </p:nvSpPr>
        <p:spPr>
          <a:xfrm>
            <a:off x="919162" y="4350395"/>
            <a:ext cx="5165378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Aage: #MruchaCircle strong, feedback se new shades, brand ki apni pehchaan Mrunal ke alawa</a:t>
            </a:r>
            <a:endParaRPr lang="en-US" sz="900" dirty="0"/>
          </a:p>
        </p:txBody>
      </p:sp>
      <p:pic>
        <p:nvPicPr>
          <p:cNvPr id="5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2950" y="4567535"/>
            <a:ext cx="114300" cy="159990"/>
          </a:xfrm>
          <a:prstGeom prst="rect">
            <a:avLst/>
          </a:prstGeom>
        </p:spPr>
      </p:pic>
      <p:sp>
        <p:nvSpPr>
          <p:cNvPr id="51" name="Text 36"/>
          <p:cNvSpPr txBox="1"/>
          <p:nvPr/>
        </p:nvSpPr>
        <p:spPr>
          <a:xfrm>
            <a:off x="933450" y="4567535"/>
            <a:ext cx="3355181" cy="15999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B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Playbook: Consistent content + UGC + lean paid (₹15-25k/mo)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Mrucha-Beauty-Case-Study</dc:title>
  <dc:subject>PptxGenJS Presentation</dc:subject>
  <dc:creator>PptxGenJS</dc:creator>
  <cp:lastModifiedBy>PptxGenJS</cp:lastModifiedBy>
  <cp:revision>1</cp:revision>
  <dcterms:created xsi:type="dcterms:W3CDTF">2026-09-21T08:21:15Z</dcterms:created>
  <dcterms:modified xsi:type="dcterms:W3CDTF">2026-09-21T08:21:15Z</dcterms:modified>
</cp:coreProperties>
</file>